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81" d="100"/>
          <a:sy n="181" d="100"/>
        </p:scale>
        <p:origin x="216" y="75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wano Yoshitaka(粟野 佳孝)" userId="90a5a90e-c003-4d37-900e-1d868dac7d21" providerId="ADAL" clId="{8550A8FA-8F7D-4D1C-BDA3-EDA0B6E6FF51}"/>
    <pc:docChg chg="custSel modSld">
      <pc:chgData name="Awano Yoshitaka(粟野 佳孝)" userId="90a5a90e-c003-4d37-900e-1d868dac7d21" providerId="ADAL" clId="{8550A8FA-8F7D-4D1C-BDA3-EDA0B6E6FF51}" dt="2026-01-07T14:18:48.993" v="2" actId="478"/>
      <pc:docMkLst>
        <pc:docMk/>
      </pc:docMkLst>
      <pc:sldChg chg="delSp modSp mod">
        <pc:chgData name="Awano Yoshitaka(粟野 佳孝)" userId="90a5a90e-c003-4d37-900e-1d868dac7d21" providerId="ADAL" clId="{8550A8FA-8F7D-4D1C-BDA3-EDA0B6E6FF51}" dt="2026-01-07T14:18:48.993" v="2" actId="478"/>
        <pc:sldMkLst>
          <pc:docMk/>
          <pc:sldMk cId="0" sldId="269"/>
        </pc:sldMkLst>
        <pc:spChg chg="mod">
          <ac:chgData name="Awano Yoshitaka(粟野 佳孝)" userId="90a5a90e-c003-4d37-900e-1d868dac7d21" providerId="ADAL" clId="{8550A8FA-8F7D-4D1C-BDA3-EDA0B6E6FF51}" dt="2026-01-07T14:18:45.446" v="1" actId="1076"/>
          <ac:spMkLst>
            <pc:docMk/>
            <pc:sldMk cId="0" sldId="269"/>
            <ac:spMk id="5" creationId="{00000000-0000-0000-0000-000000000000}"/>
          </ac:spMkLst>
        </pc:spChg>
        <pc:spChg chg="del">
          <ac:chgData name="Awano Yoshitaka(粟野 佳孝)" userId="90a5a90e-c003-4d37-900e-1d868dac7d21" providerId="ADAL" clId="{8550A8FA-8F7D-4D1C-BDA3-EDA0B6E6FF51}" dt="2026-01-07T14:18:29.633" v="0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Awano Yoshitaka(粟野 佳孝)" userId="90a5a90e-c003-4d37-900e-1d868dac7d21" providerId="ADAL" clId="{8550A8FA-8F7D-4D1C-BDA3-EDA0B6E6FF51}" dt="2026-01-07T14:18:48.993" v="2" actId="478"/>
          <ac:spMkLst>
            <pc:docMk/>
            <pc:sldMk cId="0" sldId="269"/>
            <ac:spMk id="8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4375" y="222361"/>
            <a:ext cx="7685480" cy="2881311"/>
          </a:xfrm>
          <a:prstGeom prst="rect">
            <a:avLst/>
          </a:prstGeom>
        </p:spPr>
      </p:pic>
      <p:sp>
        <p:nvSpPr>
          <p:cNvPr id="4" name="Text 3"/>
          <p:cNvSpPr txBox="1"/>
          <p:nvPr/>
        </p:nvSpPr>
        <p:spPr>
          <a:xfrm>
            <a:off x="404812" y="3391208"/>
            <a:ext cx="3167063" cy="4619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2878">
                <a:solidFill>
                  <a:srgbClr val="2C3A51"/>
                </a:solidFill>
                <a:latin typeface="Inter"/>
                <a:ea typeface="Inter"/>
                <a:cs typeface="Inter"/>
              </a:rPr>
              <a:t>A開発、次の戦場へ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416718" y="3915082"/>
            <a:ext cx="4043363" cy="242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439">
                <a:solidFill>
                  <a:srgbClr val="2D3B50"/>
                </a:solidFill>
                <a:latin typeface="Inter"/>
                <a:ea typeface="Inter"/>
                <a:cs typeface="Inter"/>
              </a:rPr>
              <a:t>モデルから「エージェント・ハーネス」の時代ヘ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404812" y="4284176"/>
            <a:ext cx="90488" cy="104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549">
                <a:solidFill>
                  <a:srgbClr val="CA9172"/>
                </a:solidFill>
                <a:latin typeface="Inter"/>
                <a:ea typeface="Inter"/>
                <a:cs typeface="Inter"/>
              </a:rPr>
              <a:t>川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77453" y="4275246"/>
            <a:ext cx="6119813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2524F"/>
                </a:solidFill>
                <a:latin typeface="Inter"/>
                <a:ea typeface="Inter"/>
                <a:cs typeface="Inter"/>
              </a:rPr>
              <a:t>2025年、我々はÅiエージェントの夜明けを目撃した。モデルの知性がŠいＥ-Benchのようなベンチマークで競われた時代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416718" y="4524682"/>
            <a:ext cx="61913" cy="714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14">
                <a:solidFill>
                  <a:srgbClr val="E7B490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01265" y="4510394"/>
            <a:ext cx="44053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45452"/>
                </a:solidFill>
                <a:latin typeface="Inter"/>
                <a:ea typeface="Inter"/>
                <a:cs typeface="Inter"/>
              </a:rPr>
              <a:t>しかし、実世界の握雑な々スクは、モデル筆体の知性ゼけでは乗り越えられない璧を露皇させた。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583406" y="4736613"/>
            <a:ext cx="59007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1514F"/>
                </a:solidFill>
                <a:latin typeface="Inter"/>
                <a:ea typeface="Inter"/>
                <a:cs typeface="Inter"/>
              </a:rPr>
              <a:t>今、講争の罰はモデルそのものから、モデルを包み込み、その能カを最大眼に引き出すインフラストラクチャー「エージェント・ハ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13172" y="4933066"/>
            <a:ext cx="4986338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45452"/>
                </a:solidFill>
                <a:latin typeface="Inter"/>
                <a:ea typeface="Inter"/>
                <a:cs typeface="Inter"/>
              </a:rPr>
              <a:t>一ネス」へと移行している。これは、A開発における次の10年を定義する、最も重要な専門分野である。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72703" y="1109376"/>
            <a:ext cx="1440655" cy="14406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738685" y="1454657"/>
            <a:ext cx="762000" cy="77985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5762622" y="1454657"/>
            <a:ext cx="762000" cy="81557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48890" y="2865547"/>
            <a:ext cx="1583530" cy="1357312"/>
          </a:xfrm>
          <a:prstGeom prst="rect">
            <a:avLst/>
          </a:prstGeom>
        </p:spPr>
      </p:pic>
      <p:sp>
        <p:nvSpPr>
          <p:cNvPr id="7" name="Text 6"/>
          <p:cNvSpPr txBox="1"/>
          <p:nvPr/>
        </p:nvSpPr>
        <p:spPr>
          <a:xfrm>
            <a:off x="1637108" y="426553"/>
            <a:ext cx="4672013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831">
                <a:solidFill>
                  <a:srgbClr val="2C3A4C"/>
                </a:solidFill>
                <a:latin typeface="Inter"/>
                <a:ea typeface="Inter"/>
                <a:cs typeface="Inter"/>
              </a:rPr>
              <a:t>なぜ「賢い」エージェントは失敗するのか？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3030139" y="906970"/>
            <a:ext cx="2247900" cy="271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648">
                <a:solidFill>
                  <a:srgbClr val="28364A"/>
                </a:solidFill>
                <a:latin typeface="Inter"/>
                <a:ea typeface="Inter"/>
                <a:cs typeface="Inter"/>
              </a:rPr>
              <a:t>個人開発を触む4つの壁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6721074" y="1295709"/>
            <a:ext cx="1576388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517">
                <a:solidFill>
                  <a:srgbClr val="C48864"/>
                </a:solidFill>
                <a:latin typeface="Inter"/>
                <a:ea typeface="Inter"/>
                <a:cs typeface="Inter"/>
              </a:rPr>
              <a:t>雑になる (Getting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2440780" y="1471326"/>
            <a:ext cx="1590675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413">
                <a:solidFill>
                  <a:srgbClr val="C28764"/>
                </a:solidFill>
                <a:latin typeface="Inter"/>
                <a:ea typeface="Inter"/>
                <a:cs typeface="Inter"/>
              </a:rPr>
              <a:t>迷う (Getting Lost)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715121" y="1557646"/>
            <a:ext cx="752475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596">
                <a:solidFill>
                  <a:srgbClr val="C08662"/>
                </a:solidFill>
                <a:latin typeface="Inter"/>
                <a:ea typeface="Inter"/>
                <a:cs typeface="Inter"/>
              </a:rPr>
              <a:t>Sloppy)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2452686" y="1836848"/>
            <a:ext cx="13620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04F4D"/>
                </a:solidFill>
                <a:latin typeface="Inter"/>
                <a:ea typeface="Inter"/>
                <a:cs typeface="Inter"/>
              </a:rPr>
              <a:t>欠に何をすべきか分からなく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6744887" y="1902332"/>
            <a:ext cx="12573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D4C49"/>
                </a:solidFill>
                <a:latin typeface="Inter"/>
                <a:ea typeface="Inter"/>
                <a:cs typeface="Inter"/>
              </a:rPr>
              <a:t>スピードを優先するあまり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2452686" y="2045207"/>
            <a:ext cx="13239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3534F"/>
                </a:solidFill>
                <a:latin typeface="Inter"/>
                <a:ea typeface="Inter"/>
                <a:cs typeface="Inter"/>
              </a:rPr>
              <a:t>なり、方向性がブしる。Aは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6738933" y="2122002"/>
            <a:ext cx="1662113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D4D49"/>
                </a:solidFill>
                <a:latin typeface="Inter"/>
                <a:ea typeface="Inter"/>
                <a:cs typeface="Inter"/>
              </a:rPr>
              <a:t>テストやリファクタリングが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2452686" y="2258924"/>
            <a:ext cx="11906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55551"/>
                </a:solidFill>
                <a:latin typeface="Inter"/>
                <a:ea typeface="Inter"/>
                <a:cs typeface="Inter"/>
              </a:rPr>
              <a:t>薫いが方向音飼である。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6738933" y="2319050"/>
            <a:ext cx="13573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0504C"/>
                </a:solidFill>
                <a:latin typeface="Inter"/>
                <a:ea typeface="Inter"/>
                <a:cs typeface="Inter"/>
              </a:rPr>
              <a:t>後回しになり、品質が低下す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6721074" y="2468474"/>
            <a:ext cx="314325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494945"/>
                </a:solidFill>
                <a:latin typeface="Inter"/>
                <a:ea typeface="Inter"/>
                <a:cs typeface="Inter"/>
              </a:rPr>
              <a:t>る。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2440780" y="2983419"/>
            <a:ext cx="1443038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491">
                <a:solidFill>
                  <a:srgbClr val="C18460"/>
                </a:solidFill>
                <a:latin typeface="Inter"/>
                <a:ea typeface="Inter"/>
                <a:cs typeface="Inter"/>
              </a:rPr>
              <a:t>事故る (Causing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2434827" y="3233450"/>
            <a:ext cx="819150" cy="2143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256">
                <a:solidFill>
                  <a:srgbClr val="C28A67"/>
                </a:solidFill>
                <a:latin typeface="Inter"/>
                <a:ea typeface="Inter"/>
                <a:cs typeface="Inter"/>
              </a:rPr>
              <a:t>Accidents!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6738933" y="3188801"/>
            <a:ext cx="1366837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308">
                <a:solidFill>
                  <a:srgbClr val="C38965"/>
                </a:solidFill>
                <a:latin typeface="Inter"/>
                <a:ea typeface="Inter"/>
                <a:cs typeface="Inter"/>
              </a:rPr>
              <a:t>忘れる Forgetting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2494358" y="3534082"/>
            <a:ext cx="1352550" cy="1857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73">
                <a:solidFill>
                  <a:srgbClr val="555552"/>
                </a:solidFill>
                <a:latin typeface="Inter"/>
                <a:ea typeface="Inter"/>
                <a:cs typeface="Inter"/>
              </a:rPr>
              <a:t>gitpushの誤操作やrm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750840" y="3586470"/>
            <a:ext cx="1295400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A4A47"/>
                </a:solidFill>
                <a:latin typeface="Inter"/>
                <a:ea typeface="Inter"/>
                <a:cs typeface="Inter"/>
              </a:rPr>
              <a:t>ンテキストウィンドウの制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2446733" y="3739465"/>
            <a:ext cx="1319213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4B4B49"/>
                </a:solidFill>
                <a:latin typeface="Inter"/>
                <a:ea typeface="Inter"/>
                <a:cs typeface="Inter"/>
              </a:rPr>
              <a:t>ıíのような破壊的コマンド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6738933" y="3794829"/>
            <a:ext cx="140017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45450"/>
                </a:solidFill>
                <a:latin typeface="Inter"/>
                <a:ea typeface="Inter"/>
                <a:cs typeface="Inter"/>
              </a:rPr>
              <a:t>釣により、過去の意思決定や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2434827" y="3947824"/>
            <a:ext cx="1657350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C4B49"/>
                </a:solidFill>
                <a:latin typeface="Inter"/>
                <a:ea typeface="Inter"/>
                <a:cs typeface="Inter"/>
              </a:rPr>
              <a:t>を実行し`取り返しのつかない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6738933" y="4003188"/>
            <a:ext cx="1404938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F4F4C"/>
                </a:solidFill>
                <a:latin typeface="Inter"/>
                <a:ea typeface="Inter"/>
                <a:cs typeface="Inter"/>
              </a:rPr>
              <a:t>重要な前提条件が失われる。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2428874" y="4162137"/>
            <a:ext cx="757238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545451"/>
                </a:solidFill>
                <a:latin typeface="Inter"/>
                <a:ea typeface="Inter"/>
                <a:cs typeface="Inter"/>
              </a:rPr>
              <a:t>事態を招く。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1119187" y="4569926"/>
            <a:ext cx="4981575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30302E"/>
                </a:solidFill>
                <a:latin typeface="Inter"/>
                <a:ea typeface="Inter"/>
                <a:cs typeface="Inter"/>
              </a:rPr>
              <a:t>人間の「意志力」だけでこれらの壁を乗り越えようとすると、疲弊し`プ口ジェクトは頓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2768201" y="4902705"/>
            <a:ext cx="31623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323230"/>
                </a:solidFill>
                <a:latin typeface="Inter"/>
                <a:ea typeface="Inter"/>
                <a:cs typeface="Inter"/>
              </a:rPr>
              <a:t>揺する。根性ではなく「仕組み」が必要である。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08027" y="1740407"/>
            <a:ext cx="345281" cy="43457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660921" y="2246422"/>
            <a:ext cx="381000" cy="422672"/>
          </a:xfrm>
          <a:prstGeom prst="rect">
            <a:avLst/>
          </a:prstGeom>
        </p:spPr>
      </p:pic>
      <p:sp>
        <p:nvSpPr>
          <p:cNvPr id="5" name="Text 4"/>
          <p:cNvSpPr txBox="1"/>
          <p:nvPr/>
        </p:nvSpPr>
        <p:spPr>
          <a:xfrm>
            <a:off x="1720452" y="420600"/>
            <a:ext cx="4452938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517">
                <a:solidFill>
                  <a:srgbClr val="2E3C51"/>
                </a:solidFill>
                <a:latin typeface="Inter"/>
                <a:ea typeface="Inter"/>
                <a:cs typeface="Inter"/>
              </a:rPr>
              <a:t>長時間タスクにおけるエージェントの失敗パターン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2214561" y="697420"/>
            <a:ext cx="38814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B6A66"/>
                </a:solidFill>
                <a:latin typeface="Inter"/>
                <a:ea typeface="Inter"/>
                <a:cs typeface="Inter"/>
              </a:rPr>
              <a:t>出典：AnthropicoAグ「Effective harnesses for long-running agents]E基つ&lt;分新.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922734" y="1126045"/>
            <a:ext cx="47625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D6E69"/>
                </a:solidFill>
                <a:latin typeface="Inter"/>
                <a:ea typeface="Inter"/>
                <a:cs typeface="Inter"/>
              </a:rPr>
              <a:t>Session 1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2291952" y="1126045"/>
            <a:ext cx="4953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A6B66"/>
                </a:solidFill>
                <a:latin typeface="Inter"/>
                <a:ea typeface="Inter"/>
                <a:cs typeface="Inter"/>
              </a:rPr>
              <a:t>Session 2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3643310" y="1126045"/>
            <a:ext cx="4953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86865"/>
                </a:solidFill>
                <a:latin typeface="Inter"/>
                <a:ea typeface="Inter"/>
                <a:cs typeface="Inter"/>
              </a:rPr>
              <a:t>Session 3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5006575" y="1123068"/>
            <a:ext cx="561975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676762"/>
                </a:solidFill>
                <a:latin typeface="Inter"/>
                <a:ea typeface="Inter"/>
                <a:cs typeface="Inter"/>
              </a:rPr>
              <a:t>Session 4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369840" y="1126045"/>
            <a:ext cx="4953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F6F6B"/>
                </a:solidFill>
                <a:latin typeface="Inter"/>
                <a:ea typeface="Inter"/>
                <a:cs typeface="Inter"/>
              </a:rPr>
              <a:t>Session 5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7733105" y="1126045"/>
            <a:ext cx="4953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70726B"/>
                </a:solidFill>
                <a:latin typeface="Inter"/>
                <a:ea typeface="Inter"/>
                <a:cs typeface="Inter"/>
              </a:rPr>
              <a:t>Session 6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7590230" y="1879115"/>
            <a:ext cx="871538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E7BFA2"/>
                </a:solidFill>
                <a:latin typeface="Inter"/>
                <a:ea typeface="Inter"/>
                <a:cs typeface="Inter"/>
              </a:rPr>
              <a:t>駐翻闘早に完了を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7590230" y="2036872"/>
            <a:ext cx="4333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E9C0A5"/>
                </a:solidFill>
                <a:latin typeface="Inter"/>
                <a:ea typeface="Inter"/>
                <a:cs typeface="Inter"/>
              </a:rPr>
              <a:t>宣言する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2202655" y="2376200"/>
            <a:ext cx="766763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EABEA1"/>
                </a:solidFill>
                <a:latin typeface="Inter"/>
                <a:ea typeface="Inter"/>
                <a:cs typeface="Inter"/>
              </a:rPr>
              <a:t>度に多くを試みコ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2172889" y="2522052"/>
            <a:ext cx="100965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EAC0A3"/>
                </a:solidFill>
                <a:latin typeface="Inter"/>
                <a:ea typeface="Inter"/>
                <a:cs typeface="Inter"/>
              </a:rPr>
              <a:t>ンテキストを使し果たす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482203" y="3236426"/>
            <a:ext cx="82772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656561"/>
                </a:solidFill>
                <a:latin typeface="Inter"/>
                <a:ea typeface="Inter"/>
                <a:cs typeface="Inter"/>
              </a:rPr>
              <a:t>Anthr0pícは、0pus４.5のようなフロンティアモデルでさえ、ハーネスなしでは複雑なＷébアプリ開発に失敗するニとを特定した。その失敗は、主に2つのパターンに分鞭さ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476250" y="3388231"/>
            <a:ext cx="3286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E5E5B"/>
                </a:solidFill>
                <a:latin typeface="Inter"/>
                <a:ea typeface="Inter"/>
                <a:cs typeface="Inter"/>
              </a:rPr>
              <a:t>れる。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482203" y="3632309"/>
            <a:ext cx="4048125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4E5261"/>
                </a:solidFill>
                <a:latin typeface="Inter"/>
                <a:ea typeface="Inter"/>
                <a:cs typeface="Inter"/>
              </a:rPr>
              <a:t>1. 度に多くを証み、コンテキストを使い果たす（Attemptingtoone-shottheapp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4750591" y="3632309"/>
            <a:ext cx="3386138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4F5363"/>
                </a:solidFill>
                <a:latin typeface="Inter"/>
                <a:ea typeface="Inter"/>
                <a:cs typeface="Inter"/>
              </a:rPr>
              <a:t>2. 時期簡早E完了を宣言する（Prematurely declaringthejob done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553640" y="3804949"/>
            <a:ext cx="2262188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54">
                <a:solidFill>
                  <a:srgbClr val="656561"/>
                </a:solidFill>
                <a:latin typeface="Inter"/>
                <a:ea typeface="Inter"/>
                <a:cs typeface="Inter"/>
              </a:rPr>
              <a:t>・エ一ジェントはタスク全伝を一度に荒成はせようと計みる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4923231" y="3801973"/>
            <a:ext cx="306705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686764"/>
                </a:solidFill>
                <a:latin typeface="Inter"/>
                <a:ea typeface="Inter"/>
                <a:cs typeface="Inter"/>
              </a:rPr>
              <a:t>いくつかの議能が圭菱されると、エ一ジェントは盆にの進誰を誤って判断し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571500" y="3953778"/>
            <a:ext cx="3090862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54">
                <a:solidFill>
                  <a:srgbClr val="686864"/>
                </a:solidFill>
                <a:latin typeface="Inter"/>
                <a:ea typeface="Inter"/>
                <a:cs typeface="Inter"/>
              </a:rPr>
              <a:t>」実奘の議中でコンテキストカ風き、中蓋半半語でドキュメントもない状態で次の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5012528" y="3947824"/>
            <a:ext cx="1595437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6B6B67"/>
                </a:solidFill>
                <a:latin typeface="Inter"/>
                <a:ea typeface="Inter"/>
                <a:cs typeface="Inter"/>
              </a:rPr>
              <a:t>々スクが完了したと宣言してしまう。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660796" y="4102606"/>
            <a:ext cx="1100138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54">
                <a:solidFill>
                  <a:srgbClr val="6D6D68"/>
                </a:solidFill>
                <a:latin typeface="Inter"/>
                <a:ea typeface="Inter"/>
                <a:cs typeface="Inter"/>
              </a:rPr>
              <a:t>セッションに引さ護カ出る。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4923231" y="4099629"/>
            <a:ext cx="33004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B6A66"/>
                </a:solidFill>
                <a:latin typeface="Inter"/>
                <a:ea typeface="Inter"/>
                <a:cs typeface="Inter"/>
              </a:rPr>
              <a:t>エンドツーエンドでのテストカ不足しているため、隠れたバグを見継す。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559593" y="4251434"/>
            <a:ext cx="3700463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666461"/>
                </a:solidFill>
                <a:latin typeface="Inter"/>
                <a:ea typeface="Inter"/>
                <a:cs typeface="Inter"/>
              </a:rPr>
              <a:t>・compaction（圧縮）機能だけでは、この間題を完全には解決できない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488156" y="4674105"/>
            <a:ext cx="81010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F6559"/>
                </a:solidFill>
                <a:latin typeface="Inter"/>
                <a:ea typeface="Inter"/>
                <a:cs typeface="Inter"/>
              </a:rPr>
              <a:t>キーインサイト・問題の椹心は「セッション間の記偉の断絶」。各セッションは、前のシフトの記懐がないエンジニアのように、ゼロから状況を抵帽し直さなければならない。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82452" y="722423"/>
            <a:ext cx="4030263" cy="3345654"/>
          </a:xfrm>
          <a:prstGeom prst="rect">
            <a:avLst/>
          </a:prstGeom>
        </p:spPr>
      </p:pic>
      <p:sp>
        <p:nvSpPr>
          <p:cNvPr id="4" name="Text 3"/>
          <p:cNvSpPr txBox="1"/>
          <p:nvPr/>
        </p:nvSpPr>
        <p:spPr>
          <a:xfrm>
            <a:off x="327422" y="432506"/>
            <a:ext cx="790575" cy="2524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517">
                <a:solidFill>
                  <a:srgbClr val="2B3952"/>
                </a:solidFill>
                <a:latin typeface="Inter"/>
                <a:ea typeface="Inter"/>
                <a:cs typeface="Inter"/>
              </a:rPr>
              <a:t>解決策は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1393030" y="432506"/>
            <a:ext cx="5010150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674">
                <a:solidFill>
                  <a:srgbClr val="303E53"/>
                </a:solidFill>
                <a:latin typeface="Inter"/>
                <a:ea typeface="Inter"/>
                <a:cs typeface="Inter"/>
              </a:rPr>
              <a:t>「ハーネス」：AIのためのオペレーテイングシステム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4649388" y="877800"/>
            <a:ext cx="47625" cy="523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209">
                <a:solidFill>
                  <a:srgbClr val="B28E80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4708919" y="911137"/>
            <a:ext cx="61913" cy="714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14">
                <a:solidFill>
                  <a:srgbClr val="AE8A7A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887637" y="1120092"/>
            <a:ext cx="17002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A3A37"/>
                </a:solidFill>
                <a:latin typeface="Inter"/>
                <a:ea typeface="Inter"/>
                <a:cs typeface="Inter"/>
              </a:rPr>
              <a:t>エージェントロジックョApplication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494233" y="1417748"/>
            <a:ext cx="7096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C3C39"/>
                </a:solidFill>
                <a:latin typeface="Inter"/>
                <a:ea typeface="Inter"/>
                <a:cs typeface="Inter"/>
              </a:rPr>
              <a:t>モデルミＣPU: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1482327" y="1596341"/>
            <a:ext cx="12573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B5A57"/>
                </a:solidFill>
                <a:latin typeface="Inter"/>
                <a:ea typeface="Inter"/>
                <a:cs typeface="Inter"/>
              </a:rPr>
              <a:t>生の計算能力、推論能力を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1482327" y="1757076"/>
            <a:ext cx="661988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5A5A57"/>
                </a:solidFill>
                <a:latin typeface="Inter"/>
                <a:ea typeface="Inter"/>
                <a:cs typeface="Inter"/>
              </a:rPr>
              <a:t>提供するコア。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6542480" y="1879115"/>
            <a:ext cx="14954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3B3A38"/>
                </a:solidFill>
                <a:latin typeface="Inter"/>
                <a:ea typeface="Inter"/>
                <a:cs typeface="Inter"/>
              </a:rPr>
              <a:t>コンテキストウィンドウョRAMI: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6548434" y="2057708"/>
            <a:ext cx="154305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585855"/>
                </a:solidFill>
                <a:latin typeface="Inter"/>
                <a:ea typeface="Inter"/>
                <a:cs typeface="Inter"/>
              </a:rPr>
              <a:t>帳定的で揮発性（uOaile）のワ一キン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6548434" y="2271425"/>
            <a:ext cx="17668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B5B58"/>
                </a:solidFill>
                <a:latin typeface="Inter"/>
                <a:ea typeface="Inter"/>
                <a:cs typeface="Inter"/>
              </a:rPr>
              <a:t>グメモリ。セッションが終われは消去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6536527" y="2364294"/>
            <a:ext cx="471488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85754"/>
                </a:solidFill>
                <a:latin typeface="Inter"/>
                <a:ea typeface="Inter"/>
                <a:cs typeface="Inter"/>
              </a:rPr>
              <a:t>される。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2922983" y="2712552"/>
            <a:ext cx="100013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28">
                <a:solidFill>
                  <a:srgbClr val="AD8A83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6453184" y="3051880"/>
            <a:ext cx="13716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393935"/>
                </a:solidFill>
                <a:latin typeface="Inter"/>
                <a:ea typeface="Inter"/>
                <a:cs typeface="Inter"/>
              </a:rPr>
              <a:t>エージェント・ハーネスョ0$: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6471043" y="3227497"/>
            <a:ext cx="20097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F4D4B"/>
                </a:solidFill>
                <a:latin typeface="Inter"/>
                <a:ea typeface="Inter"/>
                <a:cs typeface="Inter"/>
              </a:rPr>
              <a:t>コンテキストを誉理レ`「ブート」シーケン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6459137" y="3449548"/>
            <a:ext cx="21431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55551"/>
                </a:solidFill>
                <a:latin typeface="Inter"/>
                <a:ea typeface="Inter"/>
                <a:cs typeface="Inter"/>
              </a:rPr>
              <a:t>ス（ブロンプト、フック）を処理レ・標準ド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3887388" y="3536464"/>
            <a:ext cx="61913" cy="714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14">
                <a:solidFill>
                  <a:srgbClr val="878D9D"/>
                </a:solidFill>
                <a:latin typeface="Inter"/>
                <a:ea typeface="Inter"/>
                <a:cs typeface="Inter"/>
              </a:rPr>
              <a:t>三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6476996" y="3540036"/>
            <a:ext cx="1724025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545350"/>
                </a:solidFill>
                <a:latin typeface="Inter"/>
                <a:ea typeface="Inter"/>
                <a:cs typeface="Inter"/>
              </a:rPr>
              <a:t>ライバてツールハンドリングリを提供する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6453184" y="3697793"/>
            <a:ext cx="18764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85754"/>
                </a:solidFill>
                <a:latin typeface="Inter"/>
                <a:ea typeface="Inter"/>
                <a:cs typeface="Inter"/>
              </a:rPr>
              <a:t>。状龍を外評ストレージにオフロードし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459137" y="3855551"/>
            <a:ext cx="828675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575755"/>
                </a:solidFill>
                <a:latin typeface="Inter"/>
                <a:ea typeface="Inter"/>
                <a:cs typeface="Inter"/>
              </a:rPr>
              <a:t>永流性を躍保する。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642937" y="4272270"/>
            <a:ext cx="4205288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64541"/>
                </a:solidFill>
                <a:latin typeface="Inter"/>
                <a:ea typeface="Inter"/>
                <a:cs typeface="Inter"/>
              </a:rPr>
              <a:t>エージェントフレームワーク（LangChaín,ＣrewAIなど）よりも高レベルな概念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660796" y="4456816"/>
            <a:ext cx="621506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4433F"/>
                </a:solidFill>
                <a:latin typeface="Inter"/>
                <a:ea typeface="Inter"/>
                <a:cs typeface="Inter"/>
              </a:rPr>
              <a:t>フレームワークがツールやループの「ビルディングブロック」を握供するのに対し`ハーネスは「バッテリー込み」で、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660796" y="4644340"/>
            <a:ext cx="434816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2423F"/>
                </a:solidFill>
                <a:latin typeface="Inter"/>
                <a:ea typeface="Inter"/>
                <a:cs typeface="Inter"/>
              </a:rPr>
              <a:t>すぐに使える能カ（計画、ファイルシステムアクセス・サブエージェント管理）を揚供する。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648890" y="4834839"/>
            <a:ext cx="47720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84845"/>
                </a:solidFill>
                <a:latin typeface="Inter"/>
                <a:ea typeface="Inter"/>
                <a:cs typeface="Inter"/>
              </a:rPr>
              <a:t>開発者は0sを自作する代わりに、アプリケーション（エージェント固有のロジックの開発に集中できる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059904" y="1091517"/>
            <a:ext cx="631031" cy="64293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453059" y="1091517"/>
            <a:ext cx="631031" cy="64889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250529" y="1746360"/>
            <a:ext cx="642937" cy="6965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482825" y="2794109"/>
            <a:ext cx="589359" cy="6607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065858" y="2829828"/>
            <a:ext cx="625078" cy="62507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250529" y="3431093"/>
            <a:ext cx="642937" cy="571500"/>
          </a:xfrm>
          <a:prstGeom prst="rect">
            <a:avLst/>
          </a:prstGeom>
        </p:spPr>
      </p:pic>
      <p:sp>
        <p:nvSpPr>
          <p:cNvPr id="9" name="Text 8"/>
          <p:cNvSpPr txBox="1"/>
          <p:nvPr/>
        </p:nvSpPr>
        <p:spPr>
          <a:xfrm>
            <a:off x="1404937" y="417623"/>
            <a:ext cx="4557713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701">
                <a:solidFill>
                  <a:srgbClr val="344256"/>
                </a:solidFill>
                <a:latin typeface="Inter"/>
                <a:ea typeface="Inter"/>
                <a:cs typeface="Inter"/>
              </a:rPr>
              <a:t>エージェント・ハーネスの主要コンポーネント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482203" y="995076"/>
            <a:ext cx="1771650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333230"/>
                </a:solidFill>
                <a:latin typeface="Inter"/>
                <a:ea typeface="Inter"/>
                <a:cs typeface="Inter"/>
              </a:rPr>
              <a:t>状能管理 State Management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512715" y="989123"/>
            <a:ext cx="14620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83827E"/>
                </a:solidFill>
                <a:latin typeface="Inter"/>
                <a:ea typeface="Inter"/>
                <a:cs typeface="Inter"/>
              </a:rPr>
              <a:t>コンテキストエンジニアリンク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488156" y="1212365"/>
            <a:ext cx="2043113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62615E"/>
                </a:solidFill>
                <a:latin typeface="Inter"/>
                <a:ea typeface="Inter"/>
                <a:cs typeface="Inter"/>
              </a:rPr>
              <a:t>セッションをまたいで進歩と状鍵を永続化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6506762" y="1176646"/>
            <a:ext cx="1271588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373733"/>
                </a:solidFill>
                <a:latin typeface="Inter"/>
                <a:ea typeface="Inter"/>
                <a:cs typeface="Inter"/>
              </a:rPr>
              <a:t>Context Engineering!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88156" y="1373099"/>
            <a:ext cx="1509712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656460"/>
                </a:solidFill>
                <a:latin typeface="Inter"/>
                <a:ea typeface="Inter"/>
                <a:cs typeface="Inter"/>
              </a:rPr>
              <a:t>する。Ｇit層歴、ファイルシステム（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6500809" y="1385006"/>
            <a:ext cx="20145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1615D"/>
                </a:solidFill>
                <a:latin typeface="Inter"/>
                <a:ea typeface="Inter"/>
                <a:cs typeface="Inter"/>
              </a:rPr>
              <a:t>唄られたコンテキストウィンドウを幼率的に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523875" y="1530857"/>
            <a:ext cx="2095500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666561"/>
                </a:solidFill>
                <a:latin typeface="Inter"/>
                <a:ea typeface="Inter"/>
                <a:cs typeface="Inter"/>
              </a:rPr>
              <a:t>Progress.txtなど)、データベースを利用.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6500809" y="1548716"/>
            <a:ext cx="581025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605F5C"/>
                </a:solidFill>
                <a:latin typeface="Inter"/>
                <a:ea typeface="Inter"/>
                <a:cs typeface="Inter"/>
              </a:rPr>
              <a:t>昔望する撃距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619125" y="1780888"/>
            <a:ext cx="1338263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767675"/>
                </a:solidFill>
                <a:latin typeface="Inter"/>
                <a:ea typeface="Inter"/>
                <a:cs typeface="Inter"/>
              </a:rPr>
              <a:t>Persistence, External Memory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6554387" y="1736240"/>
            <a:ext cx="1890712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95855"/>
                </a:solidFill>
                <a:latin typeface="Inter"/>
                <a:ea typeface="Inter"/>
                <a:cs typeface="Inter"/>
              </a:rPr>
              <a:t>・削就 (Reduction)：不要な情粮を約・圧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6649637" y="1893997"/>
            <a:ext cx="638175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51514D"/>
                </a:solidFill>
                <a:latin typeface="Inter"/>
                <a:ea typeface="Inter"/>
                <a:cs typeface="Inter"/>
              </a:rPr>
              <a:t> Compaction].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6560340" y="2048779"/>
            <a:ext cx="2243138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95955"/>
                </a:solidFill>
                <a:latin typeface="Inter"/>
                <a:ea typeface="Inter"/>
                <a:cs typeface="Inter"/>
              </a:rPr>
              <a:t>・オフロード(Offloading)：状韮やツール出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6649637" y="2206536"/>
            <a:ext cx="1185863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61605C"/>
                </a:solidFill>
                <a:latin typeface="Inter"/>
                <a:ea typeface="Inter"/>
                <a:cs typeface="Inter"/>
              </a:rPr>
              <a:t>カをファイルシステムに講護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572246" y="2367271"/>
            <a:ext cx="169545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53524E"/>
                </a:solidFill>
                <a:latin typeface="Inter"/>
                <a:ea typeface="Inter"/>
                <a:cs typeface="Inter"/>
              </a:rPr>
              <a:t>分詳 (Isoałíon)：ト一クンを大量消費する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4274341" y="2569677"/>
            <a:ext cx="485775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308">
                <a:solidFill>
                  <a:srgbClr val="2F2F2C"/>
                </a:solidFill>
                <a:latin typeface="Inter"/>
                <a:ea typeface="Inter"/>
                <a:cs typeface="Inter"/>
              </a:rPr>
              <a:t>Agent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6655590" y="2519075"/>
            <a:ext cx="1414463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5F5D5A"/>
                </a:solidFill>
                <a:latin typeface="Inter"/>
                <a:ea typeface="Inter"/>
                <a:cs typeface="Inter"/>
              </a:rPr>
              <a:t>タスクをサブエージェントに妻翻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4173138" y="2783989"/>
            <a:ext cx="595313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3C3C39"/>
                </a:solidFill>
                <a:latin typeface="Inter"/>
                <a:ea typeface="Inter"/>
                <a:cs typeface="Inter"/>
              </a:rPr>
              <a:t>Harness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732234" y="2891145"/>
            <a:ext cx="1533525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373734"/>
                </a:solidFill>
                <a:latin typeface="Inter"/>
                <a:ea typeface="Inter"/>
                <a:cs typeface="Inter"/>
              </a:rPr>
              <a:t>計画とサブエージェント管理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6506762" y="2891145"/>
            <a:ext cx="1285875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31302D"/>
                </a:solidFill>
                <a:latin typeface="Inter"/>
                <a:ea typeface="Inter"/>
                <a:cs typeface="Inter"/>
              </a:rPr>
              <a:t>ライフサイクルフック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1059656" y="3084622"/>
            <a:ext cx="1433513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3E3E3B"/>
                </a:solidFill>
                <a:latin typeface="Inter"/>
                <a:ea typeface="Inter"/>
                <a:cs typeface="Inter"/>
              </a:rPr>
              <a:t>Planning ＆ Sub-agent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6506762" y="3084622"/>
            <a:ext cx="1057275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3C3C39"/>
                </a:solidFill>
                <a:latin typeface="Inter"/>
                <a:ea typeface="Inter"/>
                <a:cs typeface="Inter"/>
              </a:rPr>
              <a:t>Lifecycle Hooks!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1649015" y="3263215"/>
            <a:ext cx="881063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393937"/>
                </a:solidFill>
                <a:latin typeface="Inter"/>
                <a:ea typeface="Inter"/>
                <a:cs typeface="Inter"/>
              </a:rPr>
              <a:t>Management!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6500809" y="3301911"/>
            <a:ext cx="1814513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5E5D5A"/>
                </a:solidFill>
                <a:latin typeface="Inter"/>
                <a:ea typeface="Inter"/>
                <a:cs typeface="Inter"/>
              </a:rPr>
              <a:t>エージェントの実行サイクルの特定ボイント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506015" y="3462645"/>
            <a:ext cx="167640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62615D"/>
                </a:solidFill>
                <a:latin typeface="Inter"/>
                <a:ea typeface="Inter"/>
                <a:cs typeface="Inter"/>
              </a:rPr>
              <a:t>選催なタスクを分解レ_専門のサブエージ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6566293" y="3456692"/>
            <a:ext cx="19050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2615E"/>
                </a:solidFill>
                <a:latin typeface="Inter"/>
                <a:ea typeface="Inter"/>
                <a:cs typeface="Inter"/>
              </a:rPr>
              <a:t>刪ツール使用命後）で、桂証、ロギング、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506015" y="3623379"/>
            <a:ext cx="2043113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E5E5A"/>
                </a:solidFill>
                <a:latin typeface="Inter"/>
                <a:ea typeface="Inter"/>
                <a:cs typeface="Inter"/>
              </a:rPr>
              <a:t>エントに処理を委任する。並列実行で効宰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6500809" y="3617426"/>
            <a:ext cx="206216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0605B"/>
                </a:solidFill>
                <a:latin typeface="Inter"/>
                <a:ea typeface="Inter"/>
                <a:cs typeface="Inter"/>
              </a:rPr>
              <a:t>一聞による介入（Human-in-the-Loop）を司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2190749" y="3775184"/>
            <a:ext cx="471488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666762"/>
                </a:solidFill>
                <a:latin typeface="Inter"/>
                <a:ea typeface="Inter"/>
                <a:cs typeface="Inter"/>
              </a:rPr>
              <a:t>を向上。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6488902" y="3772207"/>
            <a:ext cx="552450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666461"/>
                </a:solidFill>
                <a:latin typeface="Inter"/>
                <a:ea typeface="Inter"/>
                <a:cs typeface="Inter"/>
              </a:rPr>
              <a:t>能にする。</a:t>
            </a:r>
          </a:p>
        </p:txBody>
      </p:sp>
      <p:sp>
        <p:nvSpPr>
          <p:cNvPr id="39" name="Text 38"/>
          <p:cNvSpPr txBox="1"/>
          <p:nvPr/>
        </p:nvSpPr>
        <p:spPr>
          <a:xfrm>
            <a:off x="1148952" y="3986520"/>
            <a:ext cx="139065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747373"/>
                </a:solidFill>
                <a:latin typeface="Inter"/>
                <a:ea typeface="Inter"/>
                <a:cs typeface="Inter"/>
              </a:rPr>
              <a:t>Task Decomposition, Parallelism</a:t>
            </a:r>
          </a:p>
        </p:txBody>
      </p:sp>
      <p:sp>
        <p:nvSpPr>
          <p:cNvPr id="40" name="Text 39"/>
          <p:cNvSpPr txBox="1"/>
          <p:nvPr/>
        </p:nvSpPr>
        <p:spPr>
          <a:xfrm>
            <a:off x="6631777" y="3986520"/>
            <a:ext cx="985838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727272"/>
                </a:solidFill>
                <a:latin typeface="Inter"/>
                <a:ea typeface="Inter"/>
                <a:cs typeface="Inter"/>
              </a:rPr>
              <a:t>Verification, Guardrails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3321842" y="4310965"/>
            <a:ext cx="210502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3A3A37"/>
                </a:solidFill>
                <a:latin typeface="Inter"/>
                <a:ea typeface="Inter"/>
                <a:cs typeface="Inter"/>
              </a:rPr>
              <a:t>ソ--ルと環境 (Tools ＆ Environment)</a:t>
            </a:r>
          </a:p>
        </p:txBody>
      </p:sp>
      <p:sp>
        <p:nvSpPr>
          <p:cNvPr id="42" name="Text 41"/>
          <p:cNvSpPr txBox="1"/>
          <p:nvPr/>
        </p:nvSpPr>
        <p:spPr>
          <a:xfrm>
            <a:off x="2928936" y="4522301"/>
            <a:ext cx="29241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46360"/>
                </a:solidFill>
                <a:latin typeface="Inter"/>
                <a:ea typeface="Inter"/>
                <a:cs typeface="Inter"/>
              </a:rPr>
              <a:t>baS`やファイルシステムをど、沢用性の高いツールヘのアクセス</a:t>
            </a:r>
          </a:p>
        </p:txBody>
      </p:sp>
      <p:sp>
        <p:nvSpPr>
          <p:cNvPr id="43" name="Text 42"/>
          <p:cNvSpPr txBox="1"/>
          <p:nvPr/>
        </p:nvSpPr>
        <p:spPr>
          <a:xfrm>
            <a:off x="3024186" y="4683035"/>
            <a:ext cx="27146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3625E"/>
                </a:solidFill>
                <a:latin typeface="Inter"/>
                <a:ea typeface="Inter"/>
                <a:cs typeface="Inter"/>
              </a:rPr>
              <a:t>を提供。モデルか環焼を「発見」し、適応できるようにする</a:t>
            </a:r>
          </a:p>
        </p:txBody>
      </p:sp>
      <p:sp>
        <p:nvSpPr>
          <p:cNvPr id="44" name="Text 43"/>
          <p:cNvSpPr txBox="1"/>
          <p:nvPr/>
        </p:nvSpPr>
        <p:spPr>
          <a:xfrm>
            <a:off x="3929060" y="4897347"/>
            <a:ext cx="1300163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777676"/>
                </a:solidFill>
                <a:latin typeface="Inter"/>
                <a:ea typeface="Inter"/>
                <a:cs typeface="Inter"/>
              </a:rPr>
              <a:t>Discoverability, Composability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827857" y="1776126"/>
            <a:ext cx="1577577" cy="125015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024310" y="2300000"/>
            <a:ext cx="446484" cy="4226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4679153" y="2300000"/>
            <a:ext cx="386953" cy="428625"/>
          </a:xfrm>
          <a:prstGeom prst="rect">
            <a:avLst/>
          </a:prstGeom>
        </p:spPr>
      </p:pic>
      <p:sp>
        <p:nvSpPr>
          <p:cNvPr id="6" name="Text 5"/>
          <p:cNvSpPr txBox="1"/>
          <p:nvPr/>
        </p:nvSpPr>
        <p:spPr>
          <a:xfrm>
            <a:off x="327422" y="435483"/>
            <a:ext cx="1571625" cy="271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648">
                <a:solidFill>
                  <a:srgbClr val="334153"/>
                </a:solidFill>
                <a:latin typeface="Inter"/>
                <a:ea typeface="Inter"/>
                <a:cs typeface="Inter"/>
              </a:rPr>
              <a:t>ケーススタディ1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4214810" y="462272"/>
            <a:ext cx="885825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454441"/>
                </a:solidFill>
                <a:latin typeface="Inter"/>
                <a:ea typeface="Inter"/>
                <a:cs typeface="Inter"/>
              </a:rPr>
              <a:t>User Prompt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6340074" y="420600"/>
            <a:ext cx="2500313" cy="1857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73">
                <a:solidFill>
                  <a:srgbClr val="3A3935"/>
                </a:solidFill>
                <a:latin typeface="Inter"/>
                <a:ea typeface="Inter"/>
                <a:cs typeface="Inter"/>
              </a:rPr>
              <a:t>Anthropicの2エージェント・アプローチ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315515" y="795647"/>
            <a:ext cx="1104900" cy="2905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753">
                <a:solidFill>
                  <a:srgbClr val="354557"/>
                </a:solidFill>
                <a:latin typeface="Inter"/>
                <a:ea typeface="Inter"/>
                <a:cs typeface="Inter"/>
              </a:rPr>
              <a:t>Anthropic: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346027" y="819459"/>
            <a:ext cx="1905000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2413C"/>
                </a:solidFill>
                <a:latin typeface="Inter"/>
                <a:ea typeface="Inter"/>
                <a:cs typeface="Inter"/>
              </a:rPr>
              <a:t>Initializer AgentC初期化I--ジェント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4566044" y="864107"/>
            <a:ext cx="114300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4E5B65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464343" y="1273682"/>
            <a:ext cx="2505075" cy="2905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779">
                <a:solidFill>
                  <a:srgbClr val="314155"/>
                </a:solidFill>
                <a:latin typeface="Inter"/>
                <a:ea typeface="Inter"/>
                <a:cs typeface="Inter"/>
              </a:rPr>
              <a:t>「規律あるエンジニア」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6346027" y="1104018"/>
            <a:ext cx="2357438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85752"/>
                </a:solidFill>
                <a:latin typeface="Inter"/>
                <a:ea typeface="Inter"/>
                <a:cs typeface="Inter"/>
              </a:rPr>
              <a:t>役制：最初のセッションで、開売景境全体をセツ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113607" y="1120092"/>
            <a:ext cx="990600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42433D"/>
                </a:solidFill>
                <a:latin typeface="Inter"/>
                <a:ea typeface="Inter"/>
                <a:cs typeface="Inter"/>
              </a:rPr>
              <a:t>Initializer Agent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6363887" y="1203435"/>
            <a:ext cx="12858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A5954"/>
                </a:solidFill>
                <a:latin typeface="Inter"/>
                <a:ea typeface="Inter"/>
                <a:cs typeface="Inter"/>
              </a:rPr>
              <a:t>トアッブするタスク設計者: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4030263" y="1289756"/>
            <a:ext cx="110966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3C3B37"/>
                </a:solidFill>
                <a:latin typeface="Inter"/>
                <a:ea typeface="Inter"/>
                <a:cs typeface="Inter"/>
              </a:rPr>
              <a:t>初期化エージェント)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357187" y="1483232"/>
            <a:ext cx="1914525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491">
                <a:solidFill>
                  <a:srgbClr val="28384C"/>
                </a:solidFill>
                <a:latin typeface="Inter"/>
                <a:ea typeface="Inter"/>
                <a:cs typeface="Inter"/>
              </a:rPr>
              <a:t>としてのエージェント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6328168" y="1426677"/>
            <a:ext cx="438150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74744"/>
                </a:solidFill>
                <a:latin typeface="Inter"/>
                <a:ea typeface="Inter"/>
                <a:cs typeface="Inter"/>
              </a:rPr>
              <a:t>生成物: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5453059" y="1501091"/>
            <a:ext cx="671513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6F6E68"/>
                </a:solidFill>
                <a:latin typeface="Inter"/>
                <a:ea typeface="Inter"/>
                <a:cs typeface="Inter"/>
              </a:rPr>
              <a:t>feature list.jsor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6387699" y="1623130"/>
            <a:ext cx="19145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6655F"/>
                </a:solidFill>
                <a:latin typeface="Inter"/>
                <a:ea typeface="Inter"/>
                <a:cs typeface="Inter"/>
              </a:rPr>
              <a:t>のnit.s呼：開発サーバーの起動スクリプト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6393652" y="1798748"/>
            <a:ext cx="2238375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62625D"/>
                </a:solidFill>
                <a:latin typeface="Inter"/>
                <a:ea typeface="Inter"/>
                <a:cs typeface="Inter"/>
              </a:rPr>
              <a:t>Ofeature listison：ユ-ザ-の要求を具体的な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321469" y="2027943"/>
            <a:ext cx="852488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308">
                <a:solidFill>
                  <a:srgbClr val="2E2E2B"/>
                </a:solidFill>
                <a:latin typeface="Inter"/>
                <a:ea typeface="Inter"/>
                <a:cs typeface="Inter"/>
              </a:rPr>
              <a:t>コンセプト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3321842" y="1965435"/>
            <a:ext cx="309562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656360"/>
                </a:solidFill>
                <a:latin typeface="Inter"/>
                <a:ea typeface="Inter"/>
                <a:cs typeface="Inter"/>
              </a:rPr>
              <a:t>init. sh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4310060" y="1995201"/>
            <a:ext cx="63817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3C3C38"/>
                </a:solidFill>
                <a:latin typeface="Inter"/>
                <a:ea typeface="Inter"/>
                <a:cs typeface="Inter"/>
              </a:rPr>
              <a:t>外部メモリ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6554387" y="1959482"/>
            <a:ext cx="2033587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A5A54"/>
                </a:solidFill>
                <a:latin typeface="Inter"/>
                <a:ea typeface="Inter"/>
                <a:cs typeface="Inter"/>
              </a:rPr>
              <a:t>様能リストに分解。各構能に"passes"false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4048123" y="2170818"/>
            <a:ext cx="1076325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3423E"/>
                </a:solidFill>
                <a:latin typeface="Inter"/>
                <a:ea typeface="Inter"/>
                <a:cs typeface="Inter"/>
              </a:rPr>
              <a:t>External Memory!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6560340" y="2120216"/>
            <a:ext cx="74295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E5D57"/>
                </a:solidFill>
                <a:latin typeface="Inter"/>
                <a:ea typeface="Inter"/>
                <a:cs typeface="Inter"/>
              </a:rPr>
              <a:t>フラグを設定。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315515" y="2340482"/>
            <a:ext cx="2071688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2413F"/>
                </a:solidFill>
                <a:latin typeface="Inter"/>
                <a:ea typeface="Inter"/>
                <a:cs typeface="Inter"/>
              </a:rPr>
              <a:t>Åをブラックボックスとして扱うので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5554262" y="2274997"/>
            <a:ext cx="509588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72716C"/>
                </a:solidFill>
                <a:latin typeface="Inter"/>
                <a:ea typeface="Inter"/>
                <a:cs typeface="Inter"/>
              </a:rPr>
              <a:t>Git Commit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6548434" y="2289880"/>
            <a:ext cx="193357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F5D57"/>
                </a:solidFill>
                <a:latin typeface="Inter"/>
                <a:ea typeface="Inter"/>
                <a:cs typeface="Inter"/>
              </a:rPr>
              <a:t>claude-progress.txt：f作業グファイル.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6542480" y="2459544"/>
            <a:ext cx="9096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A5954"/>
                </a:solidFill>
                <a:latin typeface="Inter"/>
                <a:ea typeface="Inter"/>
                <a:cs typeface="Inter"/>
              </a:rPr>
              <a:t>最初のGitコミット.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321469" y="2548841"/>
            <a:ext cx="202882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34340"/>
                </a:solidFill>
                <a:latin typeface="Inter"/>
                <a:ea typeface="Inter"/>
                <a:cs typeface="Inter"/>
              </a:rPr>
              <a:t>はなく、口グを通じて監香可能な「`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327422" y="2842330"/>
            <a:ext cx="2043113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44441"/>
                </a:solidFill>
                <a:latin typeface="Inter"/>
                <a:ea typeface="Inter"/>
                <a:cs typeface="Inter"/>
              </a:rPr>
              <a:t>ステム」として制御する。プロンブ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4179091" y="2801849"/>
            <a:ext cx="138113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7B7A73"/>
                </a:solidFill>
                <a:latin typeface="Inter"/>
                <a:ea typeface="Inter"/>
                <a:cs typeface="Inter"/>
              </a:rPr>
              <a:t>Git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4464841" y="2807802"/>
            <a:ext cx="871538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716F6A"/>
                </a:solidFill>
                <a:latin typeface="Inter"/>
                <a:ea typeface="Inter"/>
                <a:cs typeface="Inter"/>
              </a:rPr>
              <a:t>Claude-progress.txt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6351981" y="2798872"/>
            <a:ext cx="2619375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3A3A35"/>
                </a:solidFill>
                <a:latin typeface="Inter"/>
                <a:ea typeface="Inter"/>
                <a:cs typeface="Inter"/>
              </a:rPr>
              <a:t>CodingAgent（コーディングエージェント)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345281" y="3062000"/>
            <a:ext cx="1881187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4A4B49"/>
                </a:solidFill>
                <a:latin typeface="Inter"/>
                <a:ea typeface="Inter"/>
                <a:cs typeface="Inter"/>
              </a:rPr>
              <a:t>卜調整より「環境構築」に注力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4530325" y="3120341"/>
            <a:ext cx="228600" cy="2714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648">
                <a:solidFill>
                  <a:srgbClr val="AFB8AC"/>
                </a:solidFill>
                <a:latin typeface="Inter"/>
                <a:ea typeface="Inter"/>
                <a:cs typeface="Inter"/>
              </a:rPr>
              <a:t>`</a:t>
            </a:r>
          </a:p>
        </p:txBody>
      </p:sp>
      <p:sp>
        <p:nvSpPr>
          <p:cNvPr id="39" name="Text 38"/>
          <p:cNvSpPr txBox="1"/>
          <p:nvPr/>
        </p:nvSpPr>
        <p:spPr>
          <a:xfrm>
            <a:off x="6340074" y="3086408"/>
            <a:ext cx="2357438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95853"/>
                </a:solidFill>
                <a:latin typeface="Inter"/>
                <a:ea typeface="Inter"/>
                <a:cs typeface="Inter"/>
              </a:rPr>
              <a:t>役割：以降の全セッションで、ー度にーつの雄能</a:t>
            </a:r>
          </a:p>
        </p:txBody>
      </p:sp>
      <p:sp>
        <p:nvSpPr>
          <p:cNvPr id="40" name="Text 39"/>
          <p:cNvSpPr txBox="1"/>
          <p:nvPr/>
        </p:nvSpPr>
        <p:spPr>
          <a:xfrm>
            <a:off x="6351981" y="3248333"/>
            <a:ext cx="12192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85752"/>
                </a:solidFill>
                <a:latin typeface="Inter"/>
                <a:ea typeface="Inter"/>
                <a:cs typeface="Inter"/>
              </a:rPr>
              <a:t>だけを実美する実作業者。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4179091" y="3441809"/>
            <a:ext cx="947738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71706D"/>
                </a:solidFill>
                <a:latin typeface="Inter"/>
                <a:ea typeface="Inter"/>
                <a:cs typeface="Inter"/>
              </a:rPr>
              <a:t>Coding Agent</a:t>
            </a:r>
          </a:p>
        </p:txBody>
      </p:sp>
      <p:sp>
        <p:nvSpPr>
          <p:cNvPr id="42" name="Text 41"/>
          <p:cNvSpPr txBox="1"/>
          <p:nvPr/>
        </p:nvSpPr>
        <p:spPr>
          <a:xfrm>
            <a:off x="6346027" y="3400137"/>
            <a:ext cx="795338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3F3F3B"/>
                </a:solidFill>
                <a:latin typeface="Inter"/>
                <a:ea typeface="Inter"/>
                <a:cs typeface="Inter"/>
              </a:rPr>
              <a:t>ワークフロー:</a:t>
            </a:r>
          </a:p>
        </p:txBody>
      </p:sp>
      <p:sp>
        <p:nvSpPr>
          <p:cNvPr id="43" name="Text 42"/>
          <p:cNvSpPr txBox="1"/>
          <p:nvPr/>
        </p:nvSpPr>
        <p:spPr>
          <a:xfrm>
            <a:off x="3827857" y="3602543"/>
            <a:ext cx="1714500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3E3E3A"/>
                </a:solidFill>
                <a:latin typeface="Inter"/>
                <a:ea typeface="Inter"/>
                <a:cs typeface="Inter"/>
              </a:rPr>
              <a:t>(コーディングエージェント)</a:t>
            </a:r>
          </a:p>
        </p:txBody>
      </p:sp>
      <p:sp>
        <p:nvSpPr>
          <p:cNvPr id="44" name="Text 43"/>
          <p:cNvSpPr txBox="1"/>
          <p:nvPr/>
        </p:nvSpPr>
        <p:spPr>
          <a:xfrm>
            <a:off x="6405559" y="3566825"/>
            <a:ext cx="19812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05F5A"/>
                </a:solidFill>
                <a:latin typeface="Inter"/>
                <a:ea typeface="Inter"/>
                <a:cs typeface="Inter"/>
              </a:rPr>
              <a:t>1. Gitグと'claude-progress.txt を読a込み.</a:t>
            </a:r>
          </a:p>
        </p:txBody>
      </p:sp>
      <p:sp>
        <p:nvSpPr>
          <p:cNvPr id="45" name="Text 44"/>
          <p:cNvSpPr txBox="1"/>
          <p:nvPr/>
        </p:nvSpPr>
        <p:spPr>
          <a:xfrm>
            <a:off x="464343" y="3766254"/>
            <a:ext cx="952500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2F3235"/>
                </a:solidFill>
                <a:latin typeface="Inter"/>
                <a:ea typeface="Inter"/>
                <a:cs typeface="Inter"/>
              </a:rPr>
              <a:t>キーインサイト：</a:t>
            </a:r>
          </a:p>
        </p:txBody>
      </p:sp>
      <p:sp>
        <p:nvSpPr>
          <p:cNvPr id="46" name="Text 45"/>
          <p:cNvSpPr txBox="1"/>
          <p:nvPr/>
        </p:nvSpPr>
        <p:spPr>
          <a:xfrm>
            <a:off x="6536527" y="3724582"/>
            <a:ext cx="552450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65550"/>
                </a:solidFill>
                <a:latin typeface="Inter"/>
                <a:ea typeface="Inter"/>
                <a:cs typeface="Inter"/>
              </a:rPr>
              <a:t>現状を把提</a:t>
            </a:r>
          </a:p>
        </p:txBody>
      </p:sp>
      <p:sp>
        <p:nvSpPr>
          <p:cNvPr id="47" name="Text 46"/>
          <p:cNvSpPr txBox="1"/>
          <p:nvPr/>
        </p:nvSpPr>
        <p:spPr>
          <a:xfrm>
            <a:off x="6417465" y="3885317"/>
            <a:ext cx="216217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62615C"/>
                </a:solidFill>
                <a:latin typeface="Inter"/>
                <a:ea typeface="Inter"/>
                <a:cs typeface="Inter"/>
              </a:rPr>
              <a:t>2.featurelist jsonから未売了のタスクを選択.</a:t>
            </a:r>
          </a:p>
        </p:txBody>
      </p:sp>
      <p:sp>
        <p:nvSpPr>
          <p:cNvPr id="48" name="Text 47"/>
          <p:cNvSpPr txBox="1"/>
          <p:nvPr/>
        </p:nvSpPr>
        <p:spPr>
          <a:xfrm>
            <a:off x="476250" y="4032954"/>
            <a:ext cx="17240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24348"/>
                </a:solidFill>
                <a:latin typeface="Inter"/>
                <a:ea typeface="Inter"/>
                <a:cs typeface="Inter"/>
              </a:rPr>
              <a:t>人間のソフトウェアエンジニアが行</a:t>
            </a:r>
          </a:p>
        </p:txBody>
      </p:sp>
      <p:sp>
        <p:nvSpPr>
          <p:cNvPr id="49" name="Text 48"/>
          <p:cNvSpPr txBox="1"/>
          <p:nvPr/>
        </p:nvSpPr>
        <p:spPr>
          <a:xfrm>
            <a:off x="4560091" y="3938895"/>
            <a:ext cx="128588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7666E"/>
                </a:solidFill>
                <a:latin typeface="Inter"/>
                <a:ea typeface="Inter"/>
                <a:cs typeface="Inter"/>
              </a:rPr>
              <a:t>」</a:t>
            </a:r>
          </a:p>
        </p:txBody>
      </p:sp>
      <p:sp>
        <p:nvSpPr>
          <p:cNvPr id="50" name="Text 49"/>
          <p:cNvSpPr txBox="1"/>
          <p:nvPr/>
        </p:nvSpPr>
        <p:spPr>
          <a:xfrm>
            <a:off x="6417465" y="4046051"/>
            <a:ext cx="21717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A5A54"/>
                </a:solidFill>
                <a:latin typeface="Inter"/>
                <a:ea typeface="Inter"/>
                <a:cs typeface="Inter"/>
              </a:rPr>
              <a:t>3,実装とテスト（PuppeteerなとE2Eテストを重</a:t>
            </a:r>
          </a:p>
        </p:txBody>
      </p:sp>
      <p:sp>
        <p:nvSpPr>
          <p:cNvPr id="51" name="Text 50"/>
          <p:cNvSpPr txBox="1"/>
          <p:nvPr/>
        </p:nvSpPr>
        <p:spPr>
          <a:xfrm>
            <a:off x="476250" y="4147254"/>
            <a:ext cx="15716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414247"/>
                </a:solidFill>
                <a:latin typeface="Inter"/>
                <a:ea typeface="Inter"/>
                <a:cs typeface="Inter"/>
              </a:rPr>
              <a:t>うベストプラクティス（Ｇít、進ヰ</a:t>
            </a:r>
          </a:p>
        </p:txBody>
      </p:sp>
      <p:sp>
        <p:nvSpPr>
          <p:cNvPr id="52" name="Text 51"/>
          <p:cNvSpPr txBox="1"/>
          <p:nvPr/>
        </p:nvSpPr>
        <p:spPr>
          <a:xfrm>
            <a:off x="4399357" y="4174043"/>
            <a:ext cx="666750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3423E"/>
                </a:solidFill>
                <a:latin typeface="Inter"/>
                <a:ea typeface="Inter"/>
                <a:cs typeface="Inter"/>
              </a:rPr>
              <a:t>Git Commit</a:t>
            </a:r>
          </a:p>
        </p:txBody>
      </p:sp>
      <p:sp>
        <p:nvSpPr>
          <p:cNvPr id="53" name="Text 52"/>
          <p:cNvSpPr txBox="1"/>
          <p:nvPr/>
        </p:nvSpPr>
        <p:spPr>
          <a:xfrm>
            <a:off x="6524621" y="4203809"/>
            <a:ext cx="14287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605D59"/>
                </a:solidFill>
                <a:latin typeface="Inter"/>
                <a:ea typeface="Inter"/>
                <a:cs typeface="Inter"/>
              </a:rPr>
              <a:t>祝</a:t>
            </a:r>
          </a:p>
        </p:txBody>
      </p:sp>
      <p:sp>
        <p:nvSpPr>
          <p:cNvPr id="54" name="Text 53"/>
          <p:cNvSpPr txBox="1"/>
          <p:nvPr/>
        </p:nvSpPr>
        <p:spPr>
          <a:xfrm>
            <a:off x="464343" y="4390141"/>
            <a:ext cx="1509712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24447"/>
                </a:solidFill>
                <a:latin typeface="Inter"/>
                <a:ea typeface="Inter"/>
                <a:cs typeface="Inter"/>
              </a:rPr>
              <a:t>報告、テスト駆動を撲倣させる</a:t>
            </a:r>
          </a:p>
        </p:txBody>
      </p:sp>
      <p:sp>
        <p:nvSpPr>
          <p:cNvPr id="55" name="Text 54"/>
          <p:cNvSpPr txBox="1"/>
          <p:nvPr/>
        </p:nvSpPr>
        <p:spPr>
          <a:xfrm>
            <a:off x="4542232" y="4447887"/>
            <a:ext cx="200025" cy="238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413">
                <a:solidFill>
                  <a:srgbClr val="425062"/>
                </a:solidFill>
                <a:latin typeface="Inter"/>
                <a:ea typeface="Inter"/>
                <a:cs typeface="Inter"/>
              </a:rPr>
              <a:t>`</a:t>
            </a:r>
          </a:p>
        </p:txBody>
      </p:sp>
      <p:sp>
        <p:nvSpPr>
          <p:cNvPr id="56" name="Text 55"/>
          <p:cNvSpPr txBox="1"/>
          <p:nvPr/>
        </p:nvSpPr>
        <p:spPr>
          <a:xfrm>
            <a:off x="6423418" y="4364543"/>
            <a:ext cx="20478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05F5A"/>
                </a:solidFill>
                <a:latin typeface="Inter"/>
                <a:ea typeface="Inter"/>
                <a:cs typeface="Inter"/>
              </a:rPr>
              <a:t>4. feature list.ison'o"passes"フラAをtruek</a:t>
            </a:r>
          </a:p>
        </p:txBody>
      </p:sp>
      <p:sp>
        <p:nvSpPr>
          <p:cNvPr id="57" name="Text 56"/>
          <p:cNvSpPr txBox="1"/>
          <p:nvPr/>
        </p:nvSpPr>
        <p:spPr>
          <a:xfrm>
            <a:off x="476250" y="4563377"/>
            <a:ext cx="16668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6474B"/>
                </a:solidFill>
                <a:latin typeface="Inter"/>
                <a:ea typeface="Inter"/>
                <a:cs typeface="Inter"/>
              </a:rPr>
              <a:t>二とで、長期的な一貫性と信頓性を</a:t>
            </a:r>
          </a:p>
        </p:txBody>
      </p:sp>
      <p:sp>
        <p:nvSpPr>
          <p:cNvPr id="58" name="Text 57"/>
          <p:cNvSpPr txBox="1"/>
          <p:nvPr/>
        </p:nvSpPr>
        <p:spPr>
          <a:xfrm>
            <a:off x="6530574" y="4522301"/>
            <a:ext cx="371475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5B5B56"/>
                </a:solidFill>
                <a:latin typeface="Inter"/>
                <a:ea typeface="Inter"/>
                <a:cs typeface="Inter"/>
              </a:rPr>
              <a:t>更新。</a:t>
            </a:r>
          </a:p>
        </p:txBody>
      </p:sp>
      <p:sp>
        <p:nvSpPr>
          <p:cNvPr id="59" name="Text 58"/>
          <p:cNvSpPr txBox="1"/>
          <p:nvPr/>
        </p:nvSpPr>
        <p:spPr>
          <a:xfrm>
            <a:off x="446484" y="4674105"/>
            <a:ext cx="7334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404045"/>
                </a:solidFill>
                <a:latin typeface="Inter"/>
                <a:ea typeface="Inter"/>
                <a:cs typeface="Inter"/>
              </a:rPr>
              <a:t>確保する。</a:t>
            </a:r>
          </a:p>
        </p:txBody>
      </p:sp>
      <p:sp>
        <p:nvSpPr>
          <p:cNvPr id="60" name="Text 59"/>
          <p:cNvSpPr txBox="1"/>
          <p:nvPr/>
        </p:nvSpPr>
        <p:spPr>
          <a:xfrm>
            <a:off x="4220763" y="4736613"/>
            <a:ext cx="857250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3D3C39"/>
                </a:solidFill>
                <a:latin typeface="Inter"/>
                <a:ea typeface="Inter"/>
                <a:cs typeface="Inter"/>
              </a:rPr>
              <a:t>Final Output</a:t>
            </a:r>
          </a:p>
        </p:txBody>
      </p:sp>
      <p:sp>
        <p:nvSpPr>
          <p:cNvPr id="61" name="Text 60"/>
          <p:cNvSpPr txBox="1"/>
          <p:nvPr/>
        </p:nvSpPr>
        <p:spPr>
          <a:xfrm>
            <a:off x="6405559" y="4674105"/>
            <a:ext cx="1995487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615F5B"/>
                </a:solidFill>
                <a:latin typeface="Inter"/>
                <a:ea typeface="Inter"/>
                <a:cs typeface="Inter"/>
              </a:rPr>
              <a:t>5. Gitkミッ トL.claude-progress.ttE進</a:t>
            </a:r>
          </a:p>
        </p:txBody>
      </p:sp>
      <p:sp>
        <p:nvSpPr>
          <p:cNvPr id="62" name="Text 61"/>
          <p:cNvSpPr txBox="1"/>
          <p:nvPr/>
        </p:nvSpPr>
        <p:spPr>
          <a:xfrm>
            <a:off x="6548434" y="4897347"/>
            <a:ext cx="14192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05F5A"/>
                </a:solidFill>
                <a:latin typeface="Inter"/>
                <a:ea typeface="Inter"/>
                <a:cs typeface="Inter"/>
              </a:rPr>
              <a:t>を記器してセッションを警了。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64406" y="1418938"/>
            <a:ext cx="702468" cy="5774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20514" y="1686829"/>
            <a:ext cx="565547" cy="6131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73014" y="1728501"/>
            <a:ext cx="517922" cy="523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589732" y="1728501"/>
            <a:ext cx="660796" cy="5238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59593" y="2246422"/>
            <a:ext cx="887015" cy="10120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41921" y="3085812"/>
            <a:ext cx="756046" cy="100607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035843" y="3377515"/>
            <a:ext cx="386953" cy="500062"/>
          </a:xfrm>
          <a:prstGeom prst="rect">
            <a:avLst/>
          </a:prstGeom>
        </p:spPr>
      </p:pic>
      <p:sp>
        <p:nvSpPr>
          <p:cNvPr id="10" name="Text 9"/>
          <p:cNvSpPr txBox="1"/>
          <p:nvPr/>
        </p:nvSpPr>
        <p:spPr>
          <a:xfrm>
            <a:off x="357187" y="497991"/>
            <a:ext cx="5581650" cy="2905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753">
                <a:solidFill>
                  <a:srgbClr val="344255"/>
                </a:solidFill>
                <a:latin typeface="Inter"/>
                <a:ea typeface="Inter"/>
                <a:cs typeface="Inter"/>
              </a:rPr>
              <a:t>ケーススタディ20penAI：垂直統合されたパワーハウス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363140" y="920662"/>
            <a:ext cx="629126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363533"/>
                </a:solidFill>
                <a:latin typeface="Inter"/>
                <a:ea typeface="Inter"/>
                <a:cs typeface="Inter"/>
              </a:rPr>
              <a:t>モデル、ÅＰ、ＣIを密に連携させ、強カなファーストパーティ機能を組み込むことで、最高のパフォーマンスを引き出す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4738685" y="1295709"/>
            <a:ext cx="3209925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394556"/>
                </a:solidFill>
                <a:latin typeface="Inter"/>
                <a:ea typeface="Inter"/>
                <a:cs typeface="Inter"/>
              </a:rPr>
              <a:t>OpenAIo主要なハーネス機能（codex-clF＆AP!)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2137171" y="1402865"/>
            <a:ext cx="61436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C4B48"/>
                </a:solidFill>
                <a:latin typeface="Inter"/>
                <a:ea typeface="Inter"/>
                <a:cs typeface="Inter"/>
              </a:rPr>
              <a:t>First-Class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3238498" y="1408818"/>
            <a:ext cx="1042988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484744"/>
                </a:solidFill>
                <a:latin typeface="Inter"/>
                <a:ea typeface="Inter"/>
                <a:cs typeface="Inter"/>
              </a:rPr>
              <a:t>apply--patch a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2083592" y="1569552"/>
            <a:ext cx="666750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74742"/>
                </a:solidFill>
                <a:latin typeface="Inter"/>
                <a:ea typeface="Inter"/>
                <a:cs typeface="Inter"/>
              </a:rPr>
              <a:t>compaction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3303982" y="1569552"/>
            <a:ext cx="581025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42423F"/>
                </a:solidFill>
                <a:latin typeface="Inter"/>
                <a:ea typeface="Inter"/>
                <a:cs typeface="Inter"/>
              </a:rPr>
              <a:t>Parallel Tools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4744638" y="1593365"/>
            <a:ext cx="1585913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33332F"/>
                </a:solidFill>
                <a:latin typeface="Inter"/>
                <a:ea typeface="Inter"/>
                <a:cs typeface="Inter"/>
              </a:rPr>
              <a:t>ファーストクラスのCompaction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4851794" y="1843396"/>
            <a:ext cx="340995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B5B58"/>
                </a:solidFill>
                <a:latin typeface="Inter"/>
                <a:ea typeface="Inter"/>
                <a:cs typeface="Inter"/>
              </a:rPr>
              <a:t>単なる会電雲的ではなく・モデルと統合された高世能なコンテキスト圧縮機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4935138" y="1941622"/>
            <a:ext cx="247650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E5D59"/>
                </a:solidFill>
                <a:latin typeface="Inter"/>
                <a:ea typeface="Inter"/>
                <a:cs typeface="Inter"/>
              </a:rPr>
              <a:t>能。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404812" y="2123193"/>
            <a:ext cx="1133475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0403E"/>
                </a:solidFill>
                <a:latin typeface="Inter"/>
                <a:ea typeface="Inter"/>
                <a:cs typeface="Inter"/>
              </a:rPr>
              <a:t>GPT-5.1-Codex-Max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4857747" y="2120216"/>
            <a:ext cx="3548062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D5D59"/>
                </a:solidFill>
                <a:latin typeface="Inter"/>
                <a:ea typeface="Inter"/>
                <a:cs typeface="Inter"/>
              </a:rPr>
              <a:t>`responses/compactAPIエンドボイントを通じて、キーとなる状襲を保持し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4964903" y="2337505"/>
            <a:ext cx="340995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05F5C"/>
                </a:solidFill>
                <a:latin typeface="Inter"/>
                <a:ea typeface="Inter"/>
                <a:cs typeface="Inter"/>
              </a:rPr>
              <a:t>つつト一クンを剛成し、裁時間にわたる連売的な対話と自律実行を可能にす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4952997" y="2435732"/>
            <a:ext cx="247650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4B4948"/>
                </a:solidFill>
                <a:latin typeface="Inter"/>
                <a:ea typeface="Inter"/>
                <a:cs typeface="Inter"/>
              </a:rPr>
              <a:t>る。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4762497" y="2593489"/>
            <a:ext cx="2809875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3E3E3B"/>
                </a:solidFill>
                <a:latin typeface="Inter"/>
                <a:ea typeface="Inter"/>
                <a:cs typeface="Inter"/>
              </a:rPr>
              <a:t>āgents.ｍdによるプロジェクト固有のガバナンス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3351607" y="2751247"/>
            <a:ext cx="56197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2413F"/>
                </a:solidFill>
                <a:latin typeface="Inter"/>
                <a:ea typeface="Inter"/>
                <a:cs typeface="Inter"/>
              </a:rPr>
              <a:t>codex-cli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4941091" y="2786966"/>
            <a:ext cx="33909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E5D59"/>
                </a:solidFill>
                <a:latin typeface="Inter"/>
                <a:ea typeface="Inter"/>
                <a:cs typeface="Inter"/>
              </a:rPr>
              <a:t>リボジトリの各ディレクトリに`ａgenłs.ｍdファイルを配置するニとで、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2095499" y="2903052"/>
            <a:ext cx="723900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34441"/>
                </a:solidFill>
                <a:latin typeface="Inter"/>
                <a:ea typeface="Inter"/>
                <a:cs typeface="Inter"/>
              </a:rPr>
              <a:t>APl pipeline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4952997" y="3009612"/>
            <a:ext cx="18764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65652"/>
                </a:solidFill>
                <a:latin typeface="Inter"/>
                <a:ea typeface="Inter"/>
                <a:cs typeface="Inter"/>
              </a:rPr>
              <a:t>エ一ジェントの振る舞いモ釉かく制御。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4929185" y="3120341"/>
            <a:ext cx="3805237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B5B58"/>
                </a:solidFill>
                <a:latin typeface="Inter"/>
                <a:ea typeface="Inter"/>
                <a:cs typeface="Inter"/>
              </a:rPr>
              <a:t>「ニのリボジトリのテストはこニに善く」「ニのヘルパー闘数を使ラ」とい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4976810" y="3278098"/>
            <a:ext cx="3405187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A5956"/>
                </a:solidFill>
                <a:latin typeface="Inter"/>
                <a:ea typeface="Inter"/>
                <a:cs typeface="Inter"/>
              </a:rPr>
              <a:t>つた"現場の提"を工ージェントに教え込み、撮表コストを削説し初動を高正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4941091" y="3435856"/>
            <a:ext cx="514350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51504D"/>
                </a:solidFill>
                <a:latin typeface="Inter"/>
                <a:ea typeface="Inter"/>
                <a:cs typeface="Inter"/>
              </a:rPr>
              <a:t>化する。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4744638" y="3632309"/>
            <a:ext cx="952500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3D3C3A"/>
                </a:solidFill>
                <a:latin typeface="Inter"/>
                <a:ea typeface="Inter"/>
                <a:cs typeface="Inter"/>
              </a:rPr>
              <a:t>最過化されたツール群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2256233" y="3825785"/>
            <a:ext cx="63341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BFB0A5"/>
                </a:solidFill>
                <a:latin typeface="Inter"/>
                <a:ea typeface="Inter"/>
                <a:cs typeface="Inter"/>
              </a:rPr>
              <a:t>agents.md'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4851794" y="3825785"/>
            <a:ext cx="3471863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D5C59"/>
                </a:solidFill>
                <a:latin typeface="Inter"/>
                <a:ea typeface="Inter"/>
                <a:cs typeface="Inter"/>
              </a:rPr>
              <a:t>モデルが景も得意とするａppい_pāłÇhツール（差分形式でのファイル編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4952997" y="3983543"/>
            <a:ext cx="952500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585854"/>
                </a:solidFill>
                <a:latin typeface="Inter"/>
                <a:ea typeface="Inter"/>
                <a:cs typeface="Inter"/>
              </a:rPr>
              <a:t>第）の使用を端く推鞭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4869653" y="4159160"/>
            <a:ext cx="3486150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D5D59"/>
                </a:solidFill>
                <a:latin typeface="Inter"/>
                <a:ea typeface="Inter"/>
                <a:cs typeface="Inter"/>
              </a:rPr>
              <a:t>並列ツール呼Wび出しでmultitooluse.paraller）のプロンプト指示が標準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4958950" y="4319894"/>
            <a:ext cx="165735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5D5C59"/>
                </a:solidFill>
                <a:latin typeface="Inter"/>
                <a:ea typeface="Inter"/>
                <a:cs typeface="Inter"/>
              </a:rPr>
              <a:t>化されており、寸車的な情望収美を促す: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381000" y="4694941"/>
            <a:ext cx="833437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33933"/>
                </a:solidFill>
                <a:latin typeface="Inter"/>
                <a:ea typeface="Inter"/>
                <a:cs typeface="Inter"/>
              </a:rPr>
              <a:t>キーインサイト</a:t>
            </a:r>
          </a:p>
        </p:txBody>
      </p:sp>
      <p:sp>
        <p:nvSpPr>
          <p:cNvPr id="39" name="Text 38"/>
          <p:cNvSpPr txBox="1"/>
          <p:nvPr/>
        </p:nvSpPr>
        <p:spPr>
          <a:xfrm>
            <a:off x="375047" y="4876511"/>
            <a:ext cx="8443913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594D45"/>
                </a:solidFill>
                <a:latin typeface="Inter"/>
                <a:ea typeface="Inter"/>
                <a:cs typeface="Inter"/>
              </a:rPr>
              <a:t>0peńÄIのアブローチは、モデルの能カを最大限に引き出すための「公式ガイドライン」をハーネスとして提供することに重点を置いている。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65982" y="1210579"/>
            <a:ext cx="1012031" cy="89892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98154" y="1448704"/>
            <a:ext cx="500062" cy="5834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184920" y="1668970"/>
            <a:ext cx="892968" cy="13870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928936" y="1668970"/>
            <a:ext cx="3286123" cy="2672952"/>
          </a:xfrm>
          <a:prstGeom prst="rect">
            <a:avLst/>
          </a:prstGeom>
        </p:spPr>
      </p:pic>
      <p:sp>
        <p:nvSpPr>
          <p:cNvPr id="7" name="Text 6"/>
          <p:cNvSpPr txBox="1"/>
          <p:nvPr/>
        </p:nvSpPr>
        <p:spPr>
          <a:xfrm>
            <a:off x="357187" y="396787"/>
            <a:ext cx="6062663" cy="2333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387">
                <a:solidFill>
                  <a:srgbClr val="2F302C"/>
                </a:solidFill>
                <a:latin typeface="Inter"/>
                <a:ea typeface="Inter"/>
                <a:cs typeface="Inter"/>
              </a:rPr>
              <a:t>ケーススタデイ30ssコミュニティ：現実的な問題解決のためのツールキット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345281" y="841486"/>
            <a:ext cx="743902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77">
                <a:solidFill>
                  <a:srgbClr val="33332F"/>
                </a:solidFill>
                <a:latin typeface="Inter"/>
                <a:ea typeface="Inter"/>
                <a:cs typeface="Inter"/>
              </a:rPr>
              <a:t>大規模なラボのアプローチとは異なり、個人開発者が直面する「4つの壁」を解決するための、軽量で実践的な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351234" y="1068300"/>
            <a:ext cx="1776413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363633"/>
                </a:solidFill>
                <a:latin typeface="Inter"/>
                <a:ea typeface="Inter"/>
                <a:cs typeface="Inter"/>
              </a:rPr>
              <a:t>ワークフローを提供する。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429371" y="1262967"/>
            <a:ext cx="155257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BE8E71"/>
                </a:solidFill>
                <a:latin typeface="Inter"/>
                <a:ea typeface="Inter"/>
                <a:cs typeface="Inter"/>
              </a:rPr>
              <a:t>Plan , Iplan-with-agent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6435324" y="1450490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A4A47"/>
                </a:solidFill>
                <a:latin typeface="Inter"/>
                <a:ea typeface="Inter"/>
                <a:cs typeface="Inter"/>
              </a:rPr>
              <a:t>目的：「迷う」を防ぐ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6435324" y="1693377"/>
            <a:ext cx="193357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C4B48"/>
                </a:solidFill>
                <a:latin typeface="Inter"/>
                <a:ea typeface="Inter"/>
                <a:cs typeface="Inter"/>
              </a:rPr>
              <a:t>ブ口セス：ユ一ザ一方自然言語で目環を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6429371" y="1816607"/>
            <a:ext cx="17621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D4D49"/>
                </a:solidFill>
                <a:latin typeface="Inter"/>
                <a:ea typeface="Inter"/>
                <a:cs typeface="Inter"/>
              </a:rPr>
              <a:t>伝えると、ÅIとの対話を通じて々スク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6429371" y="2057113"/>
            <a:ext cx="16668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35350"/>
                </a:solidFill>
                <a:latin typeface="Inter"/>
                <a:ea typeface="Inter"/>
                <a:cs typeface="Inter"/>
              </a:rPr>
              <a:t>を分解し構造化された計画ファイル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4357685" y="2245232"/>
            <a:ext cx="366713" cy="2238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334">
                <a:solidFill>
                  <a:srgbClr val="2E2D2A"/>
                </a:solidFill>
                <a:latin typeface="Inter"/>
                <a:ea typeface="Inter"/>
                <a:cs typeface="Inter"/>
              </a:rPr>
              <a:t>Plan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6429371" y="2173794"/>
            <a:ext cx="10429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04F4C"/>
                </a:solidFill>
                <a:latin typeface="Inter"/>
                <a:ea typeface="Inter"/>
                <a:cs typeface="Inter"/>
              </a:rPr>
              <a:t>Plans.md を作成する.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351234" y="2408942"/>
            <a:ext cx="1514475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B9876C"/>
                </a:solidFill>
                <a:latin typeface="Inter"/>
                <a:ea typeface="Inter"/>
                <a:cs typeface="Inter"/>
              </a:rPr>
              <a:t>Reyiew -- Tharness-review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6429371" y="2355364"/>
            <a:ext cx="1747838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B4A48"/>
                </a:solidFill>
                <a:latin typeface="Inter"/>
                <a:ea typeface="Inter"/>
                <a:cs typeface="Inter"/>
              </a:rPr>
              <a:t>前果:開発の方向性が明確になり、進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351234" y="2593489"/>
            <a:ext cx="2043113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74744"/>
                </a:solidFill>
                <a:latin typeface="Inter"/>
                <a:ea typeface="Inter"/>
                <a:cs typeface="Inter"/>
              </a:rPr>
              <a:t>目的：「事故る」「忘れる」を防ぐ。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6411512" y="2539911"/>
            <a:ext cx="1157288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D4D48"/>
                </a:solidFill>
                <a:latin typeface="Inter"/>
                <a:ea typeface="Inter"/>
                <a:cs typeface="Inter"/>
              </a:rPr>
              <a:t>折か可視化される。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357187" y="2842330"/>
            <a:ext cx="17240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A4946"/>
                </a:solidFill>
                <a:latin typeface="Inter"/>
                <a:ea typeface="Inter"/>
                <a:cs typeface="Inter"/>
              </a:rPr>
              <a:t>ブロセス：生成されたコードに対し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357187" y="3022114"/>
            <a:ext cx="17145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4C4B48"/>
                </a:solidFill>
                <a:latin typeface="Inter"/>
                <a:ea typeface="Inter"/>
                <a:cs typeface="Inter"/>
              </a:rPr>
              <a:t>て・セキュリティ・パ・フォーマンス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584152" y="3013184"/>
            <a:ext cx="847725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AE7D62"/>
                </a:solidFill>
                <a:latin typeface="Inter"/>
                <a:ea typeface="Inter"/>
                <a:cs typeface="Inter"/>
              </a:rPr>
              <a:t>Work -,/work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357187" y="3199517"/>
            <a:ext cx="17240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C4B49"/>
                </a:solidFill>
                <a:latin typeface="Inter"/>
                <a:ea typeface="Inter"/>
                <a:cs typeface="Inter"/>
              </a:rPr>
              <a:t>入、品質など多角的な観点から自動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6596059" y="3197731"/>
            <a:ext cx="12049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C5B58"/>
                </a:solidFill>
                <a:latin typeface="Inter"/>
                <a:ea typeface="Inter"/>
                <a:cs typeface="Inter"/>
              </a:rPr>
              <a:t>目的：「雑になる」を防ぐ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357187" y="3367395"/>
            <a:ext cx="16144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0504C"/>
                </a:solidFill>
                <a:latin typeface="Inter"/>
                <a:ea typeface="Inter"/>
                <a:cs typeface="Inter"/>
              </a:rPr>
              <a:t>レビューを行う。Hooks機能により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6596059" y="3379301"/>
            <a:ext cx="168116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54541"/>
                </a:solidFill>
                <a:latin typeface="Inter"/>
                <a:ea typeface="Inter"/>
                <a:cs typeface="Inter"/>
              </a:rPr>
              <a:t>プセス:Plans.md に基つき、エ-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333375" y="3483481"/>
            <a:ext cx="1757363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494945"/>
                </a:solidFill>
                <a:latin typeface="Inter"/>
                <a:ea typeface="Inter"/>
                <a:cs typeface="Inter"/>
              </a:rPr>
              <a:t>危険なコマンド（gitpush,rm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6590105" y="3616831"/>
            <a:ext cx="16668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A4A47"/>
                </a:solidFill>
                <a:latin typeface="Inter"/>
                <a:ea typeface="Inter"/>
                <a:cs typeface="Inter"/>
              </a:rPr>
              <a:t>ジェントがタスクを実装する。サブ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339328" y="3656121"/>
            <a:ext cx="1223962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F4F4C"/>
                </a:solidFill>
                <a:latin typeface="Inter"/>
                <a:ea typeface="Inter"/>
                <a:cs typeface="Inter"/>
              </a:rPr>
              <a:t>řをブロックし`礎認を求め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6584152" y="3789471"/>
            <a:ext cx="16668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D4D49"/>
                </a:solidFill>
                <a:latin typeface="Inter"/>
                <a:ea typeface="Inter"/>
                <a:cs typeface="Inter"/>
              </a:rPr>
              <a:t>エ一ジェントによる並列実行にも対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321469" y="3834715"/>
            <a:ext cx="3048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52524F"/>
                </a:solidFill>
                <a:latin typeface="Inter"/>
                <a:ea typeface="Inter"/>
                <a:cs typeface="Inter"/>
              </a:rPr>
              <a:t>る。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6578199" y="3897223"/>
            <a:ext cx="233362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686762"/>
                </a:solidFill>
                <a:latin typeface="Inter"/>
                <a:ea typeface="Inter"/>
                <a:cs typeface="Inter"/>
              </a:rPr>
              <a:t>応。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333375" y="4085342"/>
            <a:ext cx="1881187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84845"/>
                </a:solidFill>
                <a:latin typeface="Inter"/>
                <a:ea typeface="Inter"/>
                <a:cs typeface="Inter"/>
              </a:rPr>
              <a:t>効果・品貧ゲートとして機能し、安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6566293" y="4063910"/>
            <a:ext cx="1952625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E4D4A"/>
                </a:solidFill>
                <a:latin typeface="Inter"/>
                <a:ea typeface="Inter"/>
                <a:cs typeface="Inter"/>
              </a:rPr>
              <a:t>効果:計画に基づいた実装が強制さ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339328" y="4200832"/>
            <a:ext cx="1033462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A4A46"/>
                </a:solidFill>
                <a:latin typeface="Inter"/>
                <a:ea typeface="Inter"/>
                <a:cs typeface="Inter"/>
              </a:rPr>
              <a:t>全性を確保する。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3059904" y="4162137"/>
            <a:ext cx="52863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77">
                <a:solidFill>
                  <a:srgbClr val="32322F"/>
                </a:solidFill>
                <a:latin typeface="Inter"/>
                <a:ea typeface="Inter"/>
                <a:cs typeface="Inter"/>
              </a:rPr>
              <a:t>Review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5500684" y="4162137"/>
            <a:ext cx="376238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353633"/>
                </a:solidFill>
                <a:latin typeface="Inter"/>
                <a:ea typeface="Inter"/>
                <a:cs typeface="Inter"/>
              </a:rPr>
              <a:t>Work</a:t>
            </a:r>
          </a:p>
        </p:txBody>
      </p:sp>
      <p:sp>
        <p:nvSpPr>
          <p:cNvPr id="39" name="Text 38"/>
          <p:cNvSpPr txBox="1"/>
          <p:nvPr/>
        </p:nvSpPr>
        <p:spPr>
          <a:xfrm>
            <a:off x="6578199" y="4239527"/>
            <a:ext cx="1052512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0504D"/>
                </a:solidFill>
                <a:latin typeface="Inter"/>
                <a:ea typeface="Inter"/>
                <a:cs typeface="Inter"/>
              </a:rPr>
              <a:t>れ、作業の脱鶴を防ぐ</a:t>
            </a:r>
          </a:p>
        </p:txBody>
      </p:sp>
      <p:sp>
        <p:nvSpPr>
          <p:cNvPr id="40" name="Text 39"/>
          <p:cNvSpPr txBox="1"/>
          <p:nvPr/>
        </p:nvSpPr>
        <p:spPr>
          <a:xfrm>
            <a:off x="369094" y="4691965"/>
            <a:ext cx="56530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2D2F36"/>
                </a:solidFill>
                <a:latin typeface="Inter"/>
                <a:ea typeface="Inter"/>
                <a:cs typeface="Inter"/>
              </a:rPr>
              <a:t>キーインサイト：0ssのハーネスは、プロのチーム開発におサるベストプラクティス（計画、実麦、レビューを・個ヘ開発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369094" y="4950330"/>
            <a:ext cx="352425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03238"/>
                </a:solidFill>
                <a:latin typeface="Inter"/>
                <a:ea typeface="Inter"/>
                <a:cs typeface="Inter"/>
              </a:rPr>
              <a:t>者が一人でも実嵯できるように「任組み化」することに焦点を当てている。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sp>
        <p:nvSpPr>
          <p:cNvPr id="3" name="Text 2"/>
          <p:cNvSpPr txBox="1"/>
          <p:nvPr/>
        </p:nvSpPr>
        <p:spPr>
          <a:xfrm>
            <a:off x="1732358" y="402741"/>
            <a:ext cx="3852862" cy="2667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596">
                <a:solidFill>
                  <a:srgbClr val="314054"/>
                </a:solidFill>
                <a:latin typeface="Inter"/>
                <a:ea typeface="Inter"/>
                <a:cs typeface="Inter"/>
              </a:rPr>
              <a:t>アプローチの比較:3つのハーネス設計思想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1910952" y="962334"/>
            <a:ext cx="1252538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674">
                <a:solidFill>
                  <a:srgbClr val="3E3D3D"/>
                </a:solidFill>
                <a:latin typeface="Inter"/>
                <a:ea typeface="Inter"/>
                <a:cs typeface="Inter"/>
              </a:rPr>
              <a:t>Al Anthropic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4571997" y="962334"/>
            <a:ext cx="1038225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831">
                <a:solidFill>
                  <a:srgbClr val="333334"/>
                </a:solidFill>
                <a:latin typeface="Inter"/>
                <a:ea typeface="Inter"/>
                <a:cs typeface="Inter"/>
              </a:rPr>
              <a:t>おopenA!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6971105" y="962334"/>
            <a:ext cx="1285875" cy="2333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387">
                <a:solidFill>
                  <a:srgbClr val="2C2D2D"/>
                </a:solidFill>
                <a:latin typeface="Inter"/>
                <a:ea typeface="Inter"/>
                <a:cs typeface="Inter"/>
              </a:rPr>
              <a:t>oss community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631031" y="1075443"/>
            <a:ext cx="352425" cy="2190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308">
                <a:solidFill>
                  <a:srgbClr val="303031"/>
                </a:solidFill>
                <a:latin typeface="Inter"/>
                <a:ea typeface="Inter"/>
                <a:cs typeface="Inter"/>
              </a:rPr>
              <a:t>項目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1845468" y="1179623"/>
            <a:ext cx="13049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292929"/>
                </a:solidFill>
                <a:latin typeface="Inter"/>
                <a:ea typeface="Inter"/>
                <a:cs typeface="Inter"/>
              </a:rPr>
              <a:t>規律あるエンジニア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4190997" y="1264157"/>
            <a:ext cx="1481138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2D2D2D"/>
                </a:solidFill>
                <a:latin typeface="Inter"/>
                <a:ea typeface="Inter"/>
                <a:cs typeface="Inter"/>
              </a:rPr>
              <a:t>統合されたパワーハウス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6857996" y="1185576"/>
            <a:ext cx="1266825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292A2A"/>
                </a:solidFill>
                <a:latin typeface="Inter"/>
                <a:ea typeface="Inter"/>
                <a:cs typeface="Inter"/>
              </a:rPr>
              <a:t>実践的ツールキット)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1452562" y="1584435"/>
            <a:ext cx="15621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94844"/>
                </a:solidFill>
                <a:latin typeface="Inter"/>
                <a:ea typeface="Inter"/>
                <a:cs typeface="Inter"/>
              </a:rPr>
              <a:t>間のベストプラクティスをÅIに摂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3958826" y="1646348"/>
            <a:ext cx="14620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AB8166"/>
                </a:solidFill>
                <a:latin typeface="Inter"/>
                <a:ea typeface="Inter"/>
                <a:cs typeface="Inter"/>
              </a:rPr>
              <a:t>モデルとインフラを垂置報合し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6465090" y="1646348"/>
            <a:ext cx="14620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74643"/>
                </a:solidFill>
                <a:latin typeface="Inter"/>
                <a:ea typeface="Inter"/>
                <a:cs typeface="Inter"/>
              </a:rPr>
              <a:t>回人開発者が直面する現実的な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642937" y="1768982"/>
            <a:ext cx="319088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77">
                <a:solidFill>
                  <a:srgbClr val="3D3D3D"/>
                </a:solidFill>
                <a:latin typeface="Inter"/>
                <a:ea typeface="Inter"/>
                <a:cs typeface="Inter"/>
              </a:rPr>
              <a:t>思想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1434702" y="1841015"/>
            <a:ext cx="1766888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A87D63"/>
                </a:solidFill>
                <a:latin typeface="Inter"/>
                <a:ea typeface="Inter"/>
                <a:cs typeface="Inter"/>
              </a:rPr>
              <a:t>模倣させ、監査可能性を最大化す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3952873" y="1836848"/>
            <a:ext cx="16668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84844"/>
                </a:solidFill>
                <a:latin typeface="Inter"/>
                <a:ea typeface="Inter"/>
                <a:cs typeface="Inter"/>
              </a:rPr>
              <a:t>最適化されたファーストパーティ機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6518668" y="1830894"/>
            <a:ext cx="16668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A07860"/>
                </a:solidFill>
                <a:latin typeface="Inter"/>
                <a:ea typeface="Inter"/>
                <a:cs typeface="Inter"/>
              </a:rPr>
              <a:t>「壁」を、軽量な自律サイクルで解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1422796" y="1962458"/>
            <a:ext cx="314325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43433F"/>
                </a:solidFill>
                <a:latin typeface="Inter"/>
                <a:ea typeface="Inter"/>
                <a:cs typeface="Inter"/>
              </a:rPr>
              <a:t>る。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3940966" y="1965435"/>
            <a:ext cx="881063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94845"/>
                </a:solidFill>
                <a:latin typeface="Inter"/>
                <a:ea typeface="Inter"/>
                <a:cs typeface="Inter"/>
              </a:rPr>
              <a:t>能を提供する。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6435324" y="1959482"/>
            <a:ext cx="619125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77">
                <a:solidFill>
                  <a:srgbClr val="464743"/>
                </a:solidFill>
                <a:latin typeface="Inter"/>
                <a:ea typeface="Inter"/>
                <a:cs typeface="Inter"/>
              </a:rPr>
              <a:t>決する。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1434702" y="2304763"/>
            <a:ext cx="1547813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45474C"/>
                </a:solidFill>
                <a:latin typeface="Inter"/>
                <a:ea typeface="Inter"/>
                <a:cs typeface="Inter"/>
              </a:rPr>
              <a:t>2エージェント横成Cinitializer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3964779" y="2310716"/>
            <a:ext cx="2000250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383D48"/>
                </a:solidFill>
                <a:latin typeface="Inter"/>
                <a:ea typeface="Inter"/>
                <a:cs typeface="Inter"/>
              </a:rPr>
              <a:t>ファーストクラスのcompaction`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6453184" y="2301786"/>
            <a:ext cx="1524000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41495A"/>
                </a:solidFill>
                <a:latin typeface="Inter"/>
                <a:ea typeface="Inter"/>
                <a:cs typeface="Inter"/>
              </a:rPr>
              <a:t>Plan ,work ,Reviewサイク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517922" y="2501216"/>
            <a:ext cx="552450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3A3A37"/>
                </a:solidFill>
                <a:latin typeface="Inter"/>
                <a:ea typeface="Inter"/>
                <a:cs typeface="Inter"/>
              </a:rPr>
              <a:t>コア機能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1434702" y="2501216"/>
            <a:ext cx="1509712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494C4D"/>
                </a:solidFill>
                <a:latin typeface="Inter"/>
                <a:ea typeface="Inter"/>
                <a:cs typeface="Inter"/>
              </a:rPr>
              <a:t>`Coding）・外部状態管理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3964779" y="2501216"/>
            <a:ext cx="1824038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3E424C"/>
                </a:solidFill>
                <a:latin typeface="Inter"/>
                <a:ea typeface="Inter"/>
                <a:cs typeface="Inter"/>
              </a:rPr>
              <a:t>プロジェクトゴとoagents.md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6459137" y="2563128"/>
            <a:ext cx="156686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84A4B"/>
                </a:solidFill>
                <a:latin typeface="Inter"/>
                <a:ea typeface="Inter"/>
                <a:cs typeface="Inter"/>
              </a:rPr>
              <a:t>ル、Hooksによる安全ガードレー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1518046" y="2700645"/>
            <a:ext cx="1204913" cy="1857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73">
                <a:solidFill>
                  <a:srgbClr val="3B4454"/>
                </a:solidFill>
                <a:latin typeface="Inter"/>
                <a:ea typeface="Inter"/>
                <a:cs typeface="Inter"/>
              </a:rPr>
              <a:t>Cgit, progress.txt?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3940966" y="2697669"/>
            <a:ext cx="16859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41474F"/>
                </a:solidFill>
                <a:latin typeface="Inter"/>
                <a:ea typeface="Inter"/>
                <a:cs typeface="Inter"/>
              </a:rPr>
              <a:t>最適化されたapply_patch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6453184" y="2691716"/>
            <a:ext cx="1162050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54953"/>
                </a:solidFill>
                <a:latin typeface="Inter"/>
                <a:ea typeface="Inter"/>
                <a:cs typeface="Inter"/>
              </a:rPr>
              <a:t>、`claude-mem統合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1440655" y="3098314"/>
            <a:ext cx="17240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64542"/>
                </a:solidFill>
                <a:latin typeface="Inter"/>
                <a:ea typeface="Inter"/>
                <a:cs typeface="Inter"/>
              </a:rPr>
              <a:t>非常に長いタスク（数日単位）での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3946920" y="3039973"/>
            <a:ext cx="1676400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0403B"/>
                </a:solidFill>
                <a:latin typeface="Inter"/>
                <a:ea typeface="Inter"/>
                <a:cs typeface="Inter"/>
              </a:rPr>
              <a:t>Claude Opus 4.5/GpT-5.l-Codex-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6453184" y="3110220"/>
            <a:ext cx="2043113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C19373"/>
                </a:solidFill>
                <a:latin typeface="Inter"/>
                <a:ea typeface="Inter"/>
                <a:cs typeface="Inter"/>
              </a:rPr>
              <a:t>導入の容易さ。安全性と品質保証の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636984" y="3224520"/>
            <a:ext cx="314325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302F2E"/>
                </a:solidFill>
                <a:latin typeface="Inter"/>
                <a:ea typeface="Inter"/>
                <a:cs typeface="Inter"/>
              </a:rPr>
              <a:t>強み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1440655" y="3288814"/>
            <a:ext cx="17240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C09272"/>
                </a:solidFill>
                <a:latin typeface="Inter"/>
                <a:ea typeface="Inter"/>
                <a:cs typeface="Inter"/>
              </a:rPr>
              <a:t>一貫性と信頓性。達明性と監査のし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3940966" y="3289409"/>
            <a:ext cx="165735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B98C6D"/>
                </a:solidFill>
                <a:latin typeface="Inter"/>
                <a:ea typeface="Inter"/>
                <a:cs typeface="Inter"/>
              </a:rPr>
              <a:t>Maxの性能を最大帳に引き出す。工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6447231" y="3221544"/>
            <a:ext cx="2185988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9A765B"/>
                </a:solidFill>
                <a:latin typeface="Inter"/>
                <a:ea typeface="Inter"/>
                <a:cs typeface="Inter"/>
              </a:rPr>
              <a:t>仕組み化。「4つの壁」への直接的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1422796" y="3420973"/>
            <a:ext cx="528638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BB9275"/>
                </a:solidFill>
                <a:latin typeface="Inter"/>
                <a:ea typeface="Inter"/>
                <a:cs typeface="Inter"/>
              </a:rPr>
              <a:t>やすさ。</a:t>
            </a:r>
          </a:p>
        </p:txBody>
      </p:sp>
      <p:sp>
        <p:nvSpPr>
          <p:cNvPr id="39" name="Text 38"/>
          <p:cNvSpPr txBox="1"/>
          <p:nvPr/>
        </p:nvSpPr>
        <p:spPr>
          <a:xfrm>
            <a:off x="3946920" y="3491815"/>
            <a:ext cx="149542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AE8064"/>
                </a:solidFill>
                <a:latin typeface="Inter"/>
                <a:ea typeface="Inter"/>
                <a:cs typeface="Inter"/>
              </a:rPr>
              <a:t>コシステム内の開発効宰。</a:t>
            </a:r>
          </a:p>
        </p:txBody>
      </p:sp>
      <p:sp>
        <p:nvSpPr>
          <p:cNvPr id="40" name="Text 39"/>
          <p:cNvSpPr txBox="1"/>
          <p:nvPr/>
        </p:nvSpPr>
        <p:spPr>
          <a:xfrm>
            <a:off x="6453184" y="3417997"/>
            <a:ext cx="63817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94845"/>
                </a:solidFill>
                <a:latin typeface="Inter"/>
                <a:ea typeface="Inter"/>
                <a:cs typeface="Inter"/>
              </a:rPr>
              <a:t>な解決策。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1434702" y="3831143"/>
            <a:ext cx="1985963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94946"/>
                </a:solidFill>
                <a:latin typeface="Inter"/>
                <a:ea typeface="Inter"/>
                <a:cs typeface="Inter"/>
              </a:rPr>
              <a:t>穫造が比載的固定的。セットアッブ</a:t>
            </a:r>
          </a:p>
        </p:txBody>
      </p:sp>
      <p:sp>
        <p:nvSpPr>
          <p:cNvPr id="42" name="Text 41"/>
          <p:cNvSpPr txBox="1"/>
          <p:nvPr/>
        </p:nvSpPr>
        <p:spPr>
          <a:xfrm>
            <a:off x="3935013" y="3763278"/>
            <a:ext cx="2062163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43423F"/>
                </a:solidFill>
                <a:latin typeface="Inter"/>
                <a:ea typeface="Inter"/>
                <a:cs typeface="Inter"/>
              </a:rPr>
              <a:t>0penAIエコシステムヘの依存度が</a:t>
            </a:r>
          </a:p>
        </p:txBody>
      </p:sp>
      <p:sp>
        <p:nvSpPr>
          <p:cNvPr id="43" name="Text 42"/>
          <p:cNvSpPr txBox="1"/>
          <p:nvPr/>
        </p:nvSpPr>
        <p:spPr>
          <a:xfrm>
            <a:off x="6459137" y="3825190"/>
            <a:ext cx="16668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64643"/>
                </a:solidFill>
                <a:latin typeface="Inter"/>
                <a:ea typeface="Inter"/>
                <a:cs typeface="Inter"/>
              </a:rPr>
              <a:t>大規模ラボほどの長期々スク耐久世</a:t>
            </a:r>
          </a:p>
        </p:txBody>
      </p:sp>
      <p:sp>
        <p:nvSpPr>
          <p:cNvPr id="44" name="Text 43"/>
          <p:cNvSpPr txBox="1"/>
          <p:nvPr/>
        </p:nvSpPr>
        <p:spPr>
          <a:xfrm>
            <a:off x="392906" y="3950801"/>
            <a:ext cx="719137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3A3A36"/>
                </a:solidFill>
                <a:latin typeface="Inter"/>
                <a:ea typeface="Inter"/>
                <a:cs typeface="Inter"/>
              </a:rPr>
              <a:t>トレードオフ</a:t>
            </a:r>
          </a:p>
        </p:txBody>
      </p:sp>
      <p:sp>
        <p:nvSpPr>
          <p:cNvPr id="45" name="Text 44"/>
          <p:cNvSpPr txBox="1"/>
          <p:nvPr/>
        </p:nvSpPr>
        <p:spPr>
          <a:xfrm>
            <a:off x="1452562" y="3953778"/>
            <a:ext cx="15621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74743"/>
                </a:solidFill>
                <a:latin typeface="Inter"/>
                <a:ea typeface="Inter"/>
                <a:cs typeface="Inter"/>
              </a:rPr>
              <a:t>E一手間かかる。 Caudeモデルに</a:t>
            </a:r>
          </a:p>
        </p:txBody>
      </p:sp>
      <p:sp>
        <p:nvSpPr>
          <p:cNvPr id="46" name="Text 45"/>
          <p:cNvSpPr txBox="1"/>
          <p:nvPr/>
        </p:nvSpPr>
        <p:spPr>
          <a:xfrm>
            <a:off x="3952873" y="4015690"/>
            <a:ext cx="16478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84744"/>
                </a:solidFill>
                <a:latin typeface="Inter"/>
                <a:ea typeface="Inter"/>
                <a:cs typeface="Inter"/>
              </a:rPr>
              <a:t>高い。0$s毛デルへの適用は最週化</a:t>
            </a:r>
          </a:p>
        </p:txBody>
      </p:sp>
      <p:sp>
        <p:nvSpPr>
          <p:cNvPr id="47" name="Text 46"/>
          <p:cNvSpPr txBox="1"/>
          <p:nvPr/>
        </p:nvSpPr>
        <p:spPr>
          <a:xfrm>
            <a:off x="6459137" y="4014499"/>
            <a:ext cx="1724025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4B4B47"/>
                </a:solidFill>
                <a:latin typeface="Inter"/>
                <a:ea typeface="Inter"/>
                <a:cs typeface="Inter"/>
              </a:rPr>
              <a:t>は末検証。特定のツ一ル（Caude</a:t>
            </a:r>
          </a:p>
        </p:txBody>
      </p:sp>
      <p:sp>
        <p:nvSpPr>
          <p:cNvPr id="48" name="Text 47"/>
          <p:cNvSpPr txBox="1"/>
          <p:nvPr/>
        </p:nvSpPr>
        <p:spPr>
          <a:xfrm>
            <a:off x="1428749" y="4144277"/>
            <a:ext cx="5905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51514F"/>
                </a:solidFill>
                <a:latin typeface="Inter"/>
                <a:ea typeface="Inter"/>
                <a:cs typeface="Inter"/>
              </a:rPr>
              <a:t>最癒化。</a:t>
            </a:r>
          </a:p>
        </p:txBody>
      </p:sp>
      <p:sp>
        <p:nvSpPr>
          <p:cNvPr id="49" name="Text 48"/>
          <p:cNvSpPr txBox="1"/>
          <p:nvPr/>
        </p:nvSpPr>
        <p:spPr>
          <a:xfrm>
            <a:off x="3929060" y="4144277"/>
            <a:ext cx="59055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484745"/>
                </a:solidFill>
                <a:latin typeface="Inter"/>
                <a:ea typeface="Inter"/>
                <a:cs typeface="Inter"/>
              </a:rPr>
              <a:t>が必要。</a:t>
            </a:r>
          </a:p>
        </p:txBody>
      </p:sp>
      <p:sp>
        <p:nvSpPr>
          <p:cNvPr id="50" name="Text 49"/>
          <p:cNvSpPr txBox="1"/>
          <p:nvPr/>
        </p:nvSpPr>
        <p:spPr>
          <a:xfrm>
            <a:off x="6447231" y="4138324"/>
            <a:ext cx="928688" cy="1809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47">
                <a:solidFill>
                  <a:srgbClr val="4A4945"/>
                </a:solidFill>
                <a:latin typeface="Inter"/>
                <a:ea typeface="Inter"/>
                <a:cs typeface="Inter"/>
              </a:rPr>
              <a:t>Code）に依存.</a:t>
            </a:r>
          </a:p>
        </p:txBody>
      </p:sp>
      <p:sp>
        <p:nvSpPr>
          <p:cNvPr id="51" name="Text 50"/>
          <p:cNvSpPr txBox="1"/>
          <p:nvPr/>
        </p:nvSpPr>
        <p:spPr>
          <a:xfrm>
            <a:off x="1428749" y="4557424"/>
            <a:ext cx="1966913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A4946"/>
                </a:solidFill>
                <a:latin typeface="Inter"/>
                <a:ea typeface="Inter"/>
                <a:cs typeface="Inter"/>
              </a:rPr>
              <a:t>監査司能性、外部記憶、E2Eテスト</a:t>
            </a:r>
          </a:p>
        </p:txBody>
      </p:sp>
      <p:sp>
        <p:nvSpPr>
          <p:cNvPr id="52" name="Text 51"/>
          <p:cNvSpPr txBox="1"/>
          <p:nvPr/>
        </p:nvSpPr>
        <p:spPr>
          <a:xfrm>
            <a:off x="3952873" y="4545518"/>
            <a:ext cx="156686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05F5B"/>
                </a:solidFill>
                <a:latin typeface="Inter"/>
                <a:ea typeface="Inter"/>
                <a:cs typeface="Inter"/>
              </a:rPr>
              <a:t>垂直統合、ファーストクラス機能</a:t>
            </a:r>
          </a:p>
        </p:txBody>
      </p:sp>
      <p:sp>
        <p:nvSpPr>
          <p:cNvPr id="53" name="Text 52"/>
          <p:cNvSpPr txBox="1"/>
          <p:nvPr/>
        </p:nvSpPr>
        <p:spPr>
          <a:xfrm>
            <a:off x="6459137" y="4555638"/>
            <a:ext cx="1881187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54541"/>
                </a:solidFill>
                <a:latin typeface="Inter"/>
                <a:ea typeface="Inter"/>
                <a:cs typeface="Inter"/>
              </a:rPr>
              <a:t>自律サイクル、ガードレール、仕組</a:t>
            </a:r>
          </a:p>
        </p:txBody>
      </p:sp>
      <p:sp>
        <p:nvSpPr>
          <p:cNvPr id="54" name="Text 53"/>
          <p:cNvSpPr txBox="1"/>
          <p:nvPr/>
        </p:nvSpPr>
        <p:spPr>
          <a:xfrm>
            <a:off x="363140" y="4578855"/>
            <a:ext cx="63817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363531"/>
                </a:solidFill>
                <a:latin typeface="Inter"/>
                <a:ea typeface="Inter"/>
                <a:cs typeface="Inter"/>
              </a:rPr>
              <a:t>キーワード</a:t>
            </a:r>
          </a:p>
        </p:txBody>
      </p:sp>
      <p:sp>
        <p:nvSpPr>
          <p:cNvPr id="55" name="Text 54"/>
          <p:cNvSpPr txBox="1"/>
          <p:nvPr/>
        </p:nvSpPr>
        <p:spPr>
          <a:xfrm>
            <a:off x="3929060" y="4677082"/>
            <a:ext cx="752475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42413E"/>
                </a:solidFill>
                <a:latin typeface="Inter"/>
                <a:ea typeface="Inter"/>
                <a:cs typeface="Inter"/>
              </a:rPr>
              <a:t>ガバナンス</a:t>
            </a:r>
          </a:p>
        </p:txBody>
      </p:sp>
      <p:sp>
        <p:nvSpPr>
          <p:cNvPr id="56" name="Text 55"/>
          <p:cNvSpPr txBox="1"/>
          <p:nvPr/>
        </p:nvSpPr>
        <p:spPr>
          <a:xfrm>
            <a:off x="6435324" y="4683035"/>
            <a:ext cx="314325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41403E"/>
                </a:solidFill>
                <a:latin typeface="Inter"/>
                <a:ea typeface="Inter"/>
                <a:cs typeface="Inter"/>
              </a:rPr>
              <a:t>み化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21469" y="1139142"/>
            <a:ext cx="5066106" cy="3607592"/>
          </a:xfrm>
          <a:prstGeom prst="rect">
            <a:avLst/>
          </a:prstGeom>
        </p:spPr>
      </p:pic>
      <p:sp>
        <p:nvSpPr>
          <p:cNvPr id="4" name="Text 3"/>
          <p:cNvSpPr txBox="1"/>
          <p:nvPr/>
        </p:nvSpPr>
        <p:spPr>
          <a:xfrm>
            <a:off x="571500" y="661106"/>
            <a:ext cx="4043363" cy="242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439">
                <a:solidFill>
                  <a:srgbClr val="2C3C51"/>
                </a:solidFill>
                <a:latin typeface="Inter"/>
                <a:ea typeface="Inter"/>
                <a:cs typeface="Inter"/>
              </a:rPr>
              <a:t>パラダイムシフトの核心：ハーネスニそが新たな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6774652" y="551569"/>
            <a:ext cx="1414463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831">
                <a:solidFill>
                  <a:srgbClr val="2F3F54"/>
                </a:solidFill>
                <a:latin typeface="Inter"/>
                <a:ea typeface="Inter"/>
                <a:cs typeface="Inter"/>
              </a:rPr>
              <a:t>「濠」となる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5738809" y="1340953"/>
            <a:ext cx="1533525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3E4658"/>
                </a:solidFill>
                <a:latin typeface="Inter"/>
                <a:ea typeface="Inter"/>
                <a:cs typeface="Inter"/>
              </a:rPr>
              <a:t>モデルはコモディティ化する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5744762" y="1527285"/>
            <a:ext cx="2152650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54">
                <a:solidFill>
                  <a:srgbClr val="63615C"/>
                </a:solidFill>
                <a:latin typeface="Inter"/>
                <a:ea typeface="Inter"/>
                <a:cs typeface="Inter"/>
              </a:rPr>
              <a:t>トッブティアモデレ間の性館講は語小し・ＡPを適レて容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738809" y="1683852"/>
            <a:ext cx="2352675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6D695D"/>
                </a:solidFill>
                <a:latin typeface="Inter"/>
                <a:ea typeface="Inter"/>
                <a:cs typeface="Inter"/>
              </a:rPr>
              <a:t>易に女換司龍になっている。今日の星先齢毛テルも、半王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5732856" y="1838633"/>
            <a:ext cx="1457325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C4997B"/>
                </a:solidFill>
                <a:latin typeface="Inter"/>
                <a:ea typeface="Inter"/>
                <a:cs typeface="Inter"/>
              </a:rPr>
              <a:t>金には橋華的な歪釈脈の一つになる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2946795" y="1833871"/>
            <a:ext cx="52388" cy="6191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262">
                <a:solidFill>
                  <a:srgbClr val="505F71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5732856" y="2194630"/>
            <a:ext cx="871538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364255"/>
                </a:solidFill>
                <a:latin typeface="Inter"/>
                <a:ea typeface="Inter"/>
                <a:cs typeface="Inter"/>
              </a:rPr>
              <a:t>本当の差別化要因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5732856" y="2451805"/>
            <a:ext cx="2352675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63615D"/>
                </a:solidFill>
                <a:latin typeface="Inter"/>
                <a:ea typeface="Inter"/>
                <a:cs typeface="Inter"/>
              </a:rPr>
              <a:t>幸事優位性の癌泉は、もはや毛デルそのものではなし。そ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1756171" y="2510146"/>
            <a:ext cx="80962" cy="952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471">
                <a:solidFill>
                  <a:srgbClr val="4D5C6D"/>
                </a:solidFill>
                <a:latin typeface="Inter"/>
                <a:ea typeface="Inter"/>
                <a:cs typeface="Inter"/>
              </a:rPr>
              <a:t>=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1887139" y="2644091"/>
            <a:ext cx="476250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491">
                <a:solidFill>
                  <a:srgbClr val="8F9AA8"/>
                </a:solidFill>
                <a:latin typeface="Inter"/>
                <a:ea typeface="Inter"/>
                <a:cs typeface="Inter"/>
              </a:rPr>
              <a:t>Your.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5726903" y="2606586"/>
            <a:ext cx="2352675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787061"/>
                </a:solidFill>
                <a:latin typeface="Inter"/>
                <a:ea typeface="Inter"/>
                <a:cs typeface="Inter"/>
              </a:rPr>
              <a:t>れは、モデルを制司し特定のドメイン却議と越合レ、信起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2077639" y="2801849"/>
            <a:ext cx="990600" cy="3333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2041">
                <a:solidFill>
                  <a:srgbClr val="919CAA"/>
                </a:solidFill>
                <a:latin typeface="Inter"/>
                <a:ea typeface="Inter"/>
                <a:cs typeface="Inter"/>
              </a:rPr>
              <a:t>HGrnGs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5732856" y="2761367"/>
            <a:ext cx="2352675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9A7D68"/>
                </a:solidFill>
                <a:latin typeface="Inter"/>
                <a:ea typeface="Inter"/>
                <a:cs typeface="Inter"/>
              </a:rPr>
              <a:t>性の高いアウトブットを糖読的に生み出すハーネスにある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4220763" y="2769106"/>
            <a:ext cx="114300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6D767E"/>
                </a:solidFill>
                <a:latin typeface="Inter"/>
                <a:ea typeface="Inter"/>
                <a:cs typeface="Inter"/>
              </a:rPr>
              <a:t>「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1797843" y="2983419"/>
            <a:ext cx="900113" cy="3714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2302">
                <a:solidFill>
                  <a:srgbClr val="7B889A"/>
                </a:solidFill>
                <a:latin typeface="Inter"/>
                <a:ea typeface="Inter"/>
                <a:cs typeface="Inter"/>
              </a:rPr>
              <a:t>クりり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2613420" y="2974489"/>
            <a:ext cx="80962" cy="952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471">
                <a:solidFill>
                  <a:srgbClr val="4D596C"/>
                </a:solidFill>
                <a:latin typeface="Inter"/>
                <a:ea typeface="Inter"/>
                <a:cs typeface="Inter"/>
              </a:rPr>
              <a:t>=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5732856" y="3176300"/>
            <a:ext cx="12573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B4557"/>
                </a:solidFill>
                <a:latin typeface="Inter"/>
                <a:ea typeface="Inter"/>
                <a:cs typeface="Inter"/>
              </a:rPr>
              <a:t>ハーネスは深い統合を生む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2952748" y="3164989"/>
            <a:ext cx="90488" cy="104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549">
                <a:solidFill>
                  <a:srgbClr val="8A98A8"/>
                </a:solidFill>
                <a:latin typeface="Inter"/>
                <a:ea typeface="Inter"/>
                <a:cs typeface="Inter"/>
              </a:rPr>
              <a:t>ト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5732856" y="3368586"/>
            <a:ext cx="2262188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5C5B57"/>
                </a:solidFill>
                <a:latin typeface="Inter"/>
                <a:ea typeface="Inter"/>
                <a:cs typeface="Inter"/>
              </a:rPr>
              <a:t>優れたハーネスは、企業のワークフロー、データソース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2303858" y="3494792"/>
            <a:ext cx="61913" cy="714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14">
                <a:solidFill>
                  <a:srgbClr val="73777F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5738809" y="3508484"/>
            <a:ext cx="1919288" cy="1095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576">
                <a:solidFill>
                  <a:srgbClr val="66655C"/>
                </a:solidFill>
                <a:latin typeface="Inter"/>
                <a:ea typeface="Inter"/>
                <a:cs typeface="Inter"/>
              </a:rPr>
              <a:t>セキュリテイギリシーと聖く新合せれる・ニれ古聞里にニ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5732856" y="3617426"/>
            <a:ext cx="23955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B28A71"/>
                </a:solidFill>
                <a:latin typeface="Inter"/>
                <a:ea typeface="Inter"/>
                <a:cs typeface="Inter"/>
              </a:rPr>
              <a:t>ピーできす、強カなスイッチングコストを生み出す。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5744762" y="4028192"/>
            <a:ext cx="976312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3C4659"/>
                </a:solidFill>
                <a:latin typeface="Inter"/>
                <a:ea typeface="Inter"/>
                <a:cs typeface="Inter"/>
              </a:rPr>
              <a:t>ビッグＡラボの戦場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5714997" y="4230598"/>
            <a:ext cx="305276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5B5A56"/>
                </a:solidFill>
                <a:latin typeface="Inter"/>
                <a:ea typeface="Inter"/>
                <a:cs typeface="Inter"/>
              </a:rPr>
              <a:t>AnthropicやOpenAIのような大手ラホ聞の競争も、モデル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5726903" y="4385379"/>
            <a:ext cx="24145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D5C58"/>
                </a:solidFill>
                <a:latin typeface="Inter"/>
                <a:ea typeface="Inter"/>
                <a:cs typeface="Inter"/>
              </a:rPr>
              <a:t>E能からI--ネス（Claude Agent SDK, Codex CLISDK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5738809" y="4594929"/>
            <a:ext cx="2262188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8C7963"/>
                </a:solidFill>
                <a:latin typeface="Inter"/>
                <a:ea typeface="Inter"/>
                <a:cs typeface="Inter"/>
              </a:rPr>
              <a:t>の優町性へと移している。彼らはい一ネスを通じて開弟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5720950" y="4746733"/>
            <a:ext cx="1881187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5B5A56"/>
                </a:solidFill>
                <a:latin typeface="Inter"/>
                <a:ea typeface="Inter"/>
                <a:cs typeface="Inter"/>
              </a:rPr>
              <a:t>者をエコシステムに囲い込もラとしている。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79797" y="1311782"/>
            <a:ext cx="2035968" cy="300037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321717" y="1311782"/>
            <a:ext cx="2035968" cy="3000373"/>
          </a:xfrm>
          <a:prstGeom prst="rect">
            <a:avLst/>
          </a:prstGeom>
        </p:spPr>
      </p:pic>
      <p:sp>
        <p:nvSpPr>
          <p:cNvPr id="5" name="Text 4"/>
          <p:cNvSpPr txBox="1"/>
          <p:nvPr/>
        </p:nvSpPr>
        <p:spPr>
          <a:xfrm>
            <a:off x="333375" y="486084"/>
            <a:ext cx="2809875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831">
                <a:solidFill>
                  <a:srgbClr val="363129"/>
                </a:solidFill>
                <a:latin typeface="Inter"/>
                <a:ea typeface="Inter"/>
                <a:cs typeface="Inter"/>
              </a:rPr>
              <a:t>エージェント構築における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4887513" y="414647"/>
            <a:ext cx="1885950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3A3936"/>
                </a:solidFill>
                <a:latin typeface="Inter"/>
                <a:ea typeface="Inter"/>
                <a:cs typeface="Inter"/>
              </a:rPr>
              <a:t>The Bitter Lesson (苦u教制i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4988716" y="748022"/>
            <a:ext cx="28146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1504C"/>
                </a:solidFill>
                <a:latin typeface="Inter"/>
                <a:ea typeface="Inter"/>
                <a:cs typeface="Inter"/>
              </a:rPr>
              <a:t>主張：長い目で見れば、人間の知謙を細かく組み込んだ複雑な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517922" y="902803"/>
            <a:ext cx="2809875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831">
                <a:solidFill>
                  <a:srgbClr val="3B372E"/>
                </a:solidFill>
                <a:latin typeface="Inter"/>
                <a:ea typeface="Inter"/>
                <a:cs typeface="Inter"/>
              </a:rPr>
              <a:t>苦い教訓」とハーネス設計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5095872" y="938522"/>
            <a:ext cx="26146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3524E"/>
                </a:solidFill>
                <a:latin typeface="Inter"/>
                <a:ea typeface="Inter"/>
                <a:cs typeface="Inter"/>
              </a:rPr>
              <a:t>手法は、計算能力を活用する択用的な手法に必ず敗北する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5006575" y="1171884"/>
            <a:ext cx="253365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474743"/>
                </a:solidFill>
                <a:latin typeface="Inter"/>
                <a:ea typeface="Inter"/>
                <a:cs typeface="Inter"/>
              </a:rPr>
              <a:t>エージェント開発ヘの示峻：今目の優垂で巧聖な制御フローや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5107778" y="1365360"/>
            <a:ext cx="3295650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1504C"/>
                </a:solidFill>
                <a:latin typeface="Inter"/>
                <a:ea typeface="Inter"/>
                <a:cs typeface="Inter"/>
              </a:rPr>
              <a:t>プロンプトチェーンは、明日のより賢いモデルによって時代暹れ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690562" y="1599318"/>
            <a:ext cx="11191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04F4B"/>
                </a:solidFill>
                <a:latin typeface="Inter"/>
                <a:ea typeface="Inter"/>
                <a:cs typeface="Inter"/>
              </a:rPr>
              <a:t>煙難な手作業のロジック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5095872" y="1556456"/>
            <a:ext cx="2938463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4534F"/>
                </a:solidFill>
                <a:latin typeface="Inter"/>
                <a:ea typeface="Inter"/>
                <a:cs typeface="Inter"/>
              </a:rPr>
              <a:t>になる。2024年に複雑なパイプラインが必要だった構能も、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571500" y="1688615"/>
            <a:ext cx="13716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4A4946"/>
                </a:solidFill>
                <a:latin typeface="Inter"/>
                <a:ea typeface="Inter"/>
                <a:cs typeface="Inter"/>
              </a:rPr>
              <a:t>complex Hand-Coded Logic!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5089919" y="1746955"/>
            <a:ext cx="2305050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E4D49"/>
                </a:solidFill>
                <a:latin typeface="Inter"/>
                <a:ea typeface="Inter"/>
                <a:cs typeface="Inter"/>
              </a:rPr>
              <a:t>2026年には単一のプロンプトで実現司能になる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4881560" y="2167841"/>
            <a:ext cx="2947987" cy="2143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256">
                <a:solidFill>
                  <a:srgbClr val="30302C"/>
                </a:solidFill>
                <a:latin typeface="Inter"/>
                <a:ea typeface="Inter"/>
                <a:cs typeface="Inter"/>
              </a:rPr>
              <a:t>生き残るハーネスの条件 (Right Column)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4970856" y="2453591"/>
            <a:ext cx="368617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84744"/>
                </a:solidFill>
                <a:latin typeface="Inter"/>
                <a:ea typeface="Inter"/>
                <a:cs typeface="Inter"/>
              </a:rPr>
              <a:t>・軽量であるニと（Lightweight!：過剰なエンジニアリングを避け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5107778" y="2711361"/>
            <a:ext cx="2995613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3524E"/>
                </a:solidFill>
                <a:latin typeface="Inter"/>
                <a:ea typeface="Inter"/>
                <a:cs typeface="Inter"/>
              </a:rPr>
              <a:t>モデルの自律性を最大唄に尊重する。撃章な原子的なツールを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5089919" y="2901266"/>
            <a:ext cx="1943100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14F4C"/>
                </a:solidFill>
                <a:latin typeface="Inter"/>
                <a:ea typeface="Inter"/>
                <a:cs typeface="Inter"/>
              </a:rPr>
              <a:t>提供し、計画はモデル自身に任せる。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5018481" y="3072716"/>
            <a:ext cx="28860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F3F3B"/>
                </a:solidFill>
                <a:latin typeface="Inter"/>
                <a:ea typeface="Inter"/>
                <a:cs typeface="Inter"/>
              </a:rPr>
              <a:t>削除するために揺葉するニと（BuildtoDelete）：ア一キテクチ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5107778" y="3324533"/>
            <a:ext cx="32099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2514D"/>
                </a:solidFill>
                <a:latin typeface="Inter"/>
                <a:ea typeface="Inter"/>
                <a:cs typeface="Inter"/>
              </a:rPr>
              <a:t>ヤをモジュール化する。酢日書いた「質しい」ロジックを、新しい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4167185" y="3387636"/>
            <a:ext cx="61913" cy="714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14">
                <a:solidFill>
                  <a:srgbClr val="6D6E6F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5113731" y="3509675"/>
            <a:ext cx="30051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65551"/>
                </a:solidFill>
                <a:latin typeface="Inter"/>
                <a:ea typeface="Inter"/>
                <a:cs typeface="Inter"/>
              </a:rPr>
              <a:t>モデルが登場したときためらわずに捨てられるように誤計する。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4947044" y="3921035"/>
            <a:ext cx="1200150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230">
                <a:solidFill>
                  <a:srgbClr val="3F4D5F"/>
                </a:solidFill>
                <a:latin typeface="Inter"/>
                <a:ea typeface="Inter"/>
                <a:cs typeface="Inter"/>
              </a:rPr>
              <a:t>実例 (Examples)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5048247" y="4162137"/>
            <a:ext cx="28860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B08F79"/>
                </a:solidFill>
                <a:latin typeface="Inter"/>
                <a:ea typeface="Inter"/>
                <a:cs typeface="Inter"/>
              </a:rPr>
              <a:t>・Ｍañúsはハーネスを6ヶ月で5回リファクタリングレ`硬直し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672703" y="4450268"/>
            <a:ext cx="933450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54">
                <a:solidFill>
                  <a:srgbClr val="464542"/>
                </a:solidFill>
                <a:latin typeface="Inter"/>
                <a:ea typeface="Inter"/>
                <a:cs typeface="Inter"/>
              </a:rPr>
              <a:t>種雄な手作業のロジック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2547936" y="4450268"/>
            <a:ext cx="1100138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54">
                <a:solidFill>
                  <a:srgbClr val="4B4A47"/>
                </a:solidFill>
                <a:latin typeface="Inter"/>
                <a:ea typeface="Inter"/>
                <a:cs typeface="Inter"/>
              </a:rPr>
              <a:t>士算能力の増大ゃ肌用的な手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5161356" y="4358590"/>
            <a:ext cx="9477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85753"/>
                </a:solidFill>
                <a:latin typeface="Inter"/>
                <a:ea typeface="Inter"/>
                <a:cs typeface="Inter"/>
              </a:rPr>
              <a:t>た仮説を排除した。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559593" y="4549090"/>
            <a:ext cx="1162050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54">
                <a:solidFill>
                  <a:srgbClr val="4E4E4A"/>
                </a:solidFill>
                <a:latin typeface="Inter"/>
                <a:ea typeface="Inter"/>
                <a:cs typeface="Inter"/>
              </a:rPr>
              <a:t>Complex Hand-Coded Logic!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2464592" y="4549090"/>
            <a:ext cx="1404938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54">
                <a:solidFill>
                  <a:srgbClr val="52514D"/>
                </a:solidFill>
                <a:latin typeface="Inter"/>
                <a:ea typeface="Inter"/>
                <a:cs typeface="Inter"/>
              </a:rPr>
              <a:t>mMore Compute t General Method!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5066106" y="4552066"/>
            <a:ext cx="27717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A4856F"/>
                </a:solidFill>
                <a:latin typeface="Inter"/>
                <a:ea typeface="Inter"/>
                <a:cs typeface="Inter"/>
              </a:rPr>
              <a:t>ソerćeはエージェントのツールを809ó削領しステッブ数とト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547687" y="4778285"/>
            <a:ext cx="14382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E6D68"/>
                </a:solidFill>
                <a:latin typeface="Inter"/>
                <a:ea typeface="Inter"/>
                <a:cs typeface="Inter"/>
              </a:rPr>
              <a:t>Developer painstakingly build.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2488405" y="4775308"/>
            <a:ext cx="1543050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6D6D67"/>
                </a:solidFill>
                <a:latin typeface="Inter"/>
                <a:ea typeface="Inter"/>
                <a:cs typeface="Inter"/>
              </a:rPr>
              <a:t>Massive, simple method with more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5173263" y="4796144"/>
            <a:ext cx="15144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85754"/>
                </a:solidFill>
                <a:latin typeface="Inter"/>
                <a:ea typeface="Inter"/>
                <a:cs typeface="Inter"/>
              </a:rPr>
              <a:t>一クンを雅らし応寄を高速化した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636984" y="4921160"/>
            <a:ext cx="12954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3625D"/>
                </a:solidFill>
                <a:latin typeface="Inter"/>
                <a:ea typeface="Inter"/>
                <a:cs typeface="Inter"/>
              </a:rPr>
              <a:t>Complex hand-coded logic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2422920" y="4921160"/>
            <a:ext cx="180498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666560"/>
                </a:solidFill>
                <a:latin typeface="Inter"/>
                <a:ea typeface="Inter"/>
                <a:cs typeface="Inter"/>
              </a:rPr>
              <a:t>Compute crushes the complex design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18108" y="1329642"/>
            <a:ext cx="2053827" cy="30063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220639" y="1948766"/>
            <a:ext cx="369094" cy="3333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363265" y="2722672"/>
            <a:ext cx="654843" cy="5238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17922" y="2770297"/>
            <a:ext cx="642937" cy="3333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190873" y="2770297"/>
            <a:ext cx="440531" cy="3393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89359" y="3526343"/>
            <a:ext cx="500062" cy="3512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274092" y="3526343"/>
            <a:ext cx="500062" cy="357187"/>
          </a:xfrm>
          <a:prstGeom prst="rect">
            <a:avLst/>
          </a:prstGeom>
        </p:spPr>
      </p:pic>
      <p:sp>
        <p:nvSpPr>
          <p:cNvPr id="10" name="Text 9"/>
          <p:cNvSpPr txBox="1"/>
          <p:nvPr/>
        </p:nvSpPr>
        <p:spPr>
          <a:xfrm>
            <a:off x="357187" y="480131"/>
            <a:ext cx="6396037" cy="3000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831">
                <a:solidFill>
                  <a:srgbClr val="2B2C29"/>
                </a:solidFill>
                <a:latin typeface="Inter"/>
                <a:ea typeface="Inter"/>
                <a:cs typeface="Inter"/>
              </a:rPr>
              <a:t>次の柚象化レイヤ一：HaaS(Harness-as-a-Service）の誕生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345281" y="801600"/>
            <a:ext cx="2905125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60605C"/>
                </a:solidFill>
                <a:latin typeface="Inter"/>
                <a:ea typeface="Inter"/>
                <a:cs typeface="Inter"/>
              </a:rPr>
              <a:t>Viv Trivedy (LangChainAI) のコンセプ トに基ブ&lt;.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5250653" y="1123068"/>
            <a:ext cx="1271588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230">
                <a:solidFill>
                  <a:srgbClr val="384558"/>
                </a:solidFill>
                <a:latin typeface="Inter"/>
                <a:ea typeface="Inter"/>
                <a:cs typeface="Inter"/>
              </a:rPr>
              <a:t>コンセプトの変化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5238747" y="1396912"/>
            <a:ext cx="82391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04A59"/>
                </a:solidFill>
                <a:latin typeface="Inter"/>
                <a:ea typeface="Inter"/>
                <a:cs typeface="Inter"/>
              </a:rPr>
              <a:t>From: LLM AP!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452437" y="1530857"/>
            <a:ext cx="590550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444F60"/>
                </a:solidFill>
                <a:latin typeface="Inter"/>
                <a:ea typeface="Inter"/>
                <a:cs typeface="Inter"/>
              </a:rPr>
              <a:t>Claude Code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5316137" y="1614201"/>
            <a:ext cx="26241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55451"/>
                </a:solidFill>
                <a:latin typeface="Inter"/>
                <a:ea typeface="Inter"/>
                <a:cs typeface="Inter"/>
              </a:rPr>
              <a:t>開発者はモデルÅPを直接叩き、ツール呼び出しコンテキ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422672" y="1691591"/>
            <a:ext cx="628650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475464"/>
                </a:solidFill>
                <a:latin typeface="Inter"/>
                <a:ea typeface="Inter"/>
                <a:cs typeface="Inter"/>
              </a:rPr>
              <a:t>Base Harness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5441153" y="1871971"/>
            <a:ext cx="26765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535350"/>
                </a:solidFill>
                <a:latin typeface="Inter"/>
                <a:ea typeface="Inter"/>
                <a:cs typeface="Inter"/>
              </a:rPr>
              <a:t>スト管理、エラ一処理をゼロから実彗する必要があった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5244700" y="2057708"/>
            <a:ext cx="1152525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475162"/>
                </a:solidFill>
                <a:latin typeface="Inter"/>
                <a:ea typeface="Inter"/>
                <a:cs typeface="Inter"/>
              </a:rPr>
              <a:t>To: Agent Harness AP!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5304231" y="2336910"/>
            <a:ext cx="27003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2524E"/>
                </a:solidFill>
                <a:latin typeface="Inter"/>
                <a:ea typeface="Inter"/>
                <a:cs typeface="Inter"/>
              </a:rPr>
              <a:t>・ハーネスガエージェントインフラをサービスとレて握供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3214686" y="2379177"/>
            <a:ext cx="44291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767472"/>
                </a:solidFill>
                <a:latin typeface="Inter"/>
                <a:ea typeface="Inter"/>
                <a:cs typeface="Inter"/>
              </a:rPr>
              <a:t>Custom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482203" y="2483357"/>
            <a:ext cx="690562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6F6D6B"/>
                </a:solidFill>
                <a:latin typeface="Inter"/>
                <a:ea typeface="Inter"/>
                <a:cs typeface="Inter"/>
              </a:rPr>
              <a:t>System Prompt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1500187" y="2459544"/>
            <a:ext cx="328613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555D69"/>
                </a:solidFill>
                <a:latin typeface="Inter"/>
                <a:ea typeface="Inter"/>
                <a:cs typeface="Inter"/>
              </a:rPr>
              <a:t>Claude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2345530" y="2438708"/>
            <a:ext cx="3714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7A7975"/>
                </a:solidFill>
                <a:latin typeface="Inter"/>
                <a:ea typeface="Inter"/>
                <a:cs typeface="Inter"/>
              </a:rPr>
              <a:t>System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3196826" y="2498239"/>
            <a:ext cx="438150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DFDED2"/>
                </a:solidFill>
                <a:latin typeface="Inter"/>
                <a:ea typeface="Inter"/>
                <a:cs typeface="Inter"/>
              </a:rPr>
              <a:t>Prompts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3946920" y="2465497"/>
            <a:ext cx="633413" cy="1190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654">
                <a:solidFill>
                  <a:srgbClr val="535C67"/>
                </a:solidFill>
                <a:latin typeface="Inter"/>
                <a:ea typeface="Inter"/>
                <a:cs typeface="Inter"/>
              </a:rPr>
              <a:t>Exposed as AP!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4827981" y="2599442"/>
            <a:ext cx="300038" cy="2905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753">
                <a:solidFill>
                  <a:srgbClr val="6D6F6B"/>
                </a:solidFill>
                <a:latin typeface="Inter"/>
                <a:ea typeface="Inter"/>
                <a:cs typeface="Inter"/>
              </a:rPr>
              <a:t>00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5310184" y="2561938"/>
            <a:ext cx="3071813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45451"/>
                </a:solidFill>
                <a:latin typeface="Inter"/>
                <a:ea typeface="Inter"/>
                <a:cs typeface="Inter"/>
              </a:rPr>
              <a:t>・開発者は、ドメイン特化のプロンプト・ツール、コンテキ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1434702" y="2596466"/>
            <a:ext cx="471488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4D5864"/>
                </a:solidFill>
                <a:latin typeface="Inter"/>
                <a:ea typeface="Inter"/>
                <a:cs typeface="Inter"/>
              </a:rPr>
              <a:t>Code SDK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2339577" y="2560747"/>
            <a:ext cx="338138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6E6D68"/>
                </a:solidFill>
                <a:latin typeface="Inter"/>
                <a:ea typeface="Inter"/>
                <a:cs typeface="Inter"/>
              </a:rPr>
              <a:t>Prompt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3988591" y="2599442"/>
            <a:ext cx="581025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505965"/>
                </a:solidFill>
                <a:latin typeface="Inter"/>
                <a:ea typeface="Inter"/>
                <a:cs typeface="Inter"/>
              </a:rPr>
              <a:t>to End-Users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5435200" y="2752438"/>
            <a:ext cx="1376363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45450"/>
                </a:solidFill>
                <a:latin typeface="Inter"/>
                <a:ea typeface="Inter"/>
                <a:cs typeface="Inter"/>
              </a:rPr>
              <a:t>ストの定義に集中できる。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4119560" y="2810778"/>
            <a:ext cx="171450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77">
                <a:solidFill>
                  <a:srgbClr val="727472"/>
                </a:solidFill>
                <a:latin typeface="Inter"/>
                <a:ea typeface="Inter"/>
                <a:cs typeface="Inter"/>
              </a:rPr>
              <a:t>Ｔ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2297905" y="2935198"/>
            <a:ext cx="71438" cy="809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92">
                <a:solidFill>
                  <a:srgbClr val="84857E"/>
                </a:solidFill>
                <a:latin typeface="Inter"/>
                <a:ea typeface="Inter"/>
                <a:cs typeface="Inter"/>
              </a:rPr>
              <a:t>」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4101701" y="2971512"/>
            <a:ext cx="357188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686A67"/>
                </a:solidFill>
                <a:latin typeface="Inter"/>
                <a:ea typeface="Inter"/>
                <a:cs typeface="Inter"/>
              </a:rPr>
              <a:t>一APIラ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4131466" y="3117364"/>
            <a:ext cx="252412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737574"/>
                </a:solidFill>
                <a:latin typeface="Inter"/>
                <a:ea typeface="Inter"/>
                <a:cs typeface="Inter"/>
              </a:rPr>
              <a:t>ビル</a:t>
            </a:r>
          </a:p>
        </p:txBody>
      </p:sp>
      <p:sp>
        <p:nvSpPr>
          <p:cNvPr id="36" name="Text 35"/>
          <p:cNvSpPr txBox="1"/>
          <p:nvPr/>
        </p:nvSpPr>
        <p:spPr>
          <a:xfrm>
            <a:off x="702468" y="3164989"/>
            <a:ext cx="24765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6E6D69"/>
                </a:solidFill>
                <a:latin typeface="Inter"/>
                <a:ea typeface="Inter"/>
                <a:cs typeface="Inter"/>
              </a:rPr>
              <a:t>Tools</a:t>
            </a:r>
          </a:p>
        </p:txBody>
      </p:sp>
      <p:sp>
        <p:nvSpPr>
          <p:cNvPr id="37" name="Text 36"/>
          <p:cNvSpPr txBox="1"/>
          <p:nvPr/>
        </p:nvSpPr>
        <p:spPr>
          <a:xfrm>
            <a:off x="2387202" y="3164989"/>
            <a:ext cx="247650" cy="1285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06">
                <a:solidFill>
                  <a:srgbClr val="706F6B"/>
                </a:solidFill>
                <a:latin typeface="Inter"/>
                <a:ea typeface="Inter"/>
                <a:cs typeface="Inter"/>
              </a:rPr>
              <a:t>Tools</a:t>
            </a:r>
          </a:p>
        </p:txBody>
      </p:sp>
      <p:sp>
        <p:nvSpPr>
          <p:cNvPr id="38" name="Text 37"/>
          <p:cNvSpPr txBox="1"/>
          <p:nvPr/>
        </p:nvSpPr>
        <p:spPr>
          <a:xfrm>
            <a:off x="5262559" y="3141176"/>
            <a:ext cx="1038225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354456"/>
                </a:solidFill>
                <a:latin typeface="Inter"/>
                <a:ea typeface="Inter"/>
                <a:cs typeface="Inter"/>
              </a:rPr>
              <a:t>äąŠがもたらす未来</a:t>
            </a:r>
          </a:p>
        </p:txBody>
      </p:sp>
      <p:sp>
        <p:nvSpPr>
          <p:cNvPr id="39" name="Text 38"/>
          <p:cNvSpPr txBox="1"/>
          <p:nvPr/>
        </p:nvSpPr>
        <p:spPr>
          <a:xfrm>
            <a:off x="3214686" y="3194755"/>
            <a:ext cx="38576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787874"/>
                </a:solidFill>
                <a:latin typeface="Inter"/>
                <a:ea typeface="Inter"/>
                <a:cs typeface="Inter"/>
              </a:rPr>
              <a:t>Custom</a:t>
            </a:r>
          </a:p>
        </p:txBody>
      </p:sp>
      <p:sp>
        <p:nvSpPr>
          <p:cNvPr id="40" name="Text 39"/>
          <p:cNvSpPr txBox="1"/>
          <p:nvPr/>
        </p:nvSpPr>
        <p:spPr>
          <a:xfrm>
            <a:off x="547687" y="3284051"/>
            <a:ext cx="690562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6D6D69"/>
                </a:solidFill>
                <a:latin typeface="Inter"/>
                <a:ea typeface="Inter"/>
                <a:cs typeface="Inter"/>
              </a:rPr>
              <a:t>(bash, grep)</a:t>
            </a:r>
          </a:p>
        </p:txBody>
      </p:sp>
      <p:sp>
        <p:nvSpPr>
          <p:cNvPr id="41" name="Text 40"/>
          <p:cNvSpPr txBox="1"/>
          <p:nvPr/>
        </p:nvSpPr>
        <p:spPr>
          <a:xfrm>
            <a:off x="2238374" y="3287028"/>
            <a:ext cx="728663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676662"/>
                </a:solidFill>
                <a:latin typeface="Inter"/>
                <a:ea typeface="Inter"/>
                <a:cs typeface="Inter"/>
              </a:rPr>
              <a:t>(bash, grep)</a:t>
            </a:r>
          </a:p>
        </p:txBody>
      </p:sp>
      <p:sp>
        <p:nvSpPr>
          <p:cNvPr id="42" name="Text 41"/>
          <p:cNvSpPr txBox="1"/>
          <p:nvPr/>
        </p:nvSpPr>
        <p:spPr>
          <a:xfrm>
            <a:off x="3268264" y="3307864"/>
            <a:ext cx="290513" cy="147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37">
                <a:solidFill>
                  <a:srgbClr val="DDDCD6"/>
                </a:solidFill>
                <a:latin typeface="Inter"/>
                <a:ea typeface="Inter"/>
                <a:cs typeface="Inter"/>
              </a:rPr>
              <a:t>Tools</a:t>
            </a:r>
          </a:p>
        </p:txBody>
      </p:sp>
      <p:sp>
        <p:nvSpPr>
          <p:cNvPr id="43" name="Text 42"/>
          <p:cNvSpPr txBox="1"/>
          <p:nvPr/>
        </p:nvSpPr>
        <p:spPr>
          <a:xfrm>
            <a:off x="4881560" y="3260239"/>
            <a:ext cx="80962" cy="952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471">
                <a:solidFill>
                  <a:srgbClr val="5D5F5D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44" name="Text 43"/>
          <p:cNvSpPr txBox="1"/>
          <p:nvPr/>
        </p:nvSpPr>
        <p:spPr>
          <a:xfrm>
            <a:off x="5357809" y="3474551"/>
            <a:ext cx="26146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AA806B"/>
                </a:solidFill>
                <a:latin typeface="Inter"/>
                <a:ea typeface="Inter"/>
                <a:cs typeface="Inter"/>
              </a:rPr>
              <a:t>インフラのコモディティ化：信類性の高いエージェント実</a:t>
            </a:r>
          </a:p>
        </p:txBody>
      </p:sp>
      <p:sp>
        <p:nvSpPr>
          <p:cNvPr id="45" name="Text 44"/>
          <p:cNvSpPr txBox="1"/>
          <p:nvPr/>
        </p:nvSpPr>
        <p:spPr>
          <a:xfrm>
            <a:off x="5435200" y="3665051"/>
            <a:ext cx="221456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85754"/>
                </a:solidFill>
                <a:latin typeface="Inter"/>
                <a:ea typeface="Inter"/>
                <a:cs typeface="Inter"/>
              </a:rPr>
              <a:t>行環境が、サ一ビスとして簡単に利用可能になる</a:t>
            </a:r>
          </a:p>
        </p:txBody>
      </p:sp>
      <p:sp>
        <p:nvSpPr>
          <p:cNvPr id="46" name="Text 45"/>
          <p:cNvSpPr txBox="1"/>
          <p:nvPr/>
        </p:nvSpPr>
        <p:spPr>
          <a:xfrm>
            <a:off x="5322091" y="3896628"/>
            <a:ext cx="27003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AA7E69"/>
                </a:solidFill>
                <a:latin typeface="Inter"/>
                <a:ea typeface="Inter"/>
                <a:cs typeface="Inter"/>
              </a:rPr>
              <a:t>オープンなエコシステム：カスタマイズされたハーネスが</a:t>
            </a:r>
          </a:p>
        </p:txBody>
      </p:sp>
      <p:sp>
        <p:nvSpPr>
          <p:cNvPr id="47" name="Text 46"/>
          <p:cNvSpPr txBox="1"/>
          <p:nvPr/>
        </p:nvSpPr>
        <p:spPr>
          <a:xfrm>
            <a:off x="642937" y="3971637"/>
            <a:ext cx="442913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6F6F6B"/>
                </a:solidFill>
                <a:latin typeface="Inter"/>
                <a:ea typeface="Inter"/>
                <a:cs typeface="Inter"/>
              </a:rPr>
              <a:t>Session</a:t>
            </a:r>
          </a:p>
        </p:txBody>
      </p:sp>
      <p:sp>
        <p:nvSpPr>
          <p:cNvPr id="48" name="Text 47"/>
          <p:cNvSpPr txBox="1"/>
          <p:nvPr/>
        </p:nvSpPr>
        <p:spPr>
          <a:xfrm>
            <a:off x="2333624" y="3971637"/>
            <a:ext cx="4048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6C6B67"/>
                </a:solidFill>
                <a:latin typeface="Inter"/>
                <a:ea typeface="Inter"/>
                <a:cs typeface="Inter"/>
              </a:rPr>
              <a:t>Session</a:t>
            </a:r>
          </a:p>
        </p:txBody>
      </p:sp>
      <p:sp>
        <p:nvSpPr>
          <p:cNvPr id="49" name="Text 48"/>
          <p:cNvSpPr txBox="1"/>
          <p:nvPr/>
        </p:nvSpPr>
        <p:spPr>
          <a:xfrm>
            <a:off x="5435200" y="4091890"/>
            <a:ext cx="2957513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1514D"/>
                </a:solidFill>
                <a:latin typeface="Inter"/>
                <a:ea typeface="Inter"/>
                <a:cs typeface="Inter"/>
              </a:rPr>
              <a:t>マーケットプレイスで共有・再利用され、特定用途に特化</a:t>
            </a:r>
          </a:p>
        </p:txBody>
      </p:sp>
      <p:sp>
        <p:nvSpPr>
          <p:cNvPr id="50" name="Text 49"/>
          <p:cNvSpPr txBox="1"/>
          <p:nvPr/>
        </p:nvSpPr>
        <p:spPr>
          <a:xfrm>
            <a:off x="523875" y="4090699"/>
            <a:ext cx="6572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74746F"/>
                </a:solidFill>
                <a:latin typeface="Inter"/>
                <a:ea typeface="Inter"/>
                <a:cs typeface="Inter"/>
              </a:rPr>
              <a:t>Management</a:t>
            </a:r>
          </a:p>
        </p:txBody>
      </p:sp>
      <p:sp>
        <p:nvSpPr>
          <p:cNvPr id="51" name="Text 50"/>
          <p:cNvSpPr txBox="1"/>
          <p:nvPr/>
        </p:nvSpPr>
        <p:spPr>
          <a:xfrm>
            <a:off x="2202655" y="4090699"/>
            <a:ext cx="719137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6E6E69"/>
                </a:solidFill>
                <a:latin typeface="Inter"/>
                <a:ea typeface="Inter"/>
                <a:cs typeface="Inter"/>
              </a:rPr>
              <a:t>Management</a:t>
            </a:r>
          </a:p>
        </p:txBody>
      </p:sp>
      <p:sp>
        <p:nvSpPr>
          <p:cNvPr id="52" name="Text 51"/>
          <p:cNvSpPr txBox="1"/>
          <p:nvPr/>
        </p:nvSpPr>
        <p:spPr>
          <a:xfrm>
            <a:off x="3125389" y="4093676"/>
            <a:ext cx="661988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CEC9C4"/>
                </a:solidFill>
                <a:latin typeface="Inter"/>
                <a:ea typeface="Inter"/>
                <a:cs typeface="Inter"/>
              </a:rPr>
              <a:t>Sub-agents</a:t>
            </a:r>
          </a:p>
        </p:txBody>
      </p:sp>
      <p:sp>
        <p:nvSpPr>
          <p:cNvPr id="53" name="Text 52"/>
          <p:cNvSpPr txBox="1"/>
          <p:nvPr/>
        </p:nvSpPr>
        <p:spPr>
          <a:xfrm>
            <a:off x="5453059" y="4277627"/>
            <a:ext cx="2081212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575654"/>
                </a:solidFill>
                <a:latin typeface="Inter"/>
                <a:ea typeface="Inter"/>
                <a:cs typeface="Inter"/>
              </a:rPr>
              <a:t>したエージェント聞発が優発的に加達する。</a:t>
            </a:r>
          </a:p>
        </p:txBody>
      </p:sp>
      <p:sp>
        <p:nvSpPr>
          <p:cNvPr id="54" name="Text 53"/>
          <p:cNvSpPr txBox="1"/>
          <p:nvPr/>
        </p:nvSpPr>
        <p:spPr>
          <a:xfrm>
            <a:off x="446484" y="4447887"/>
            <a:ext cx="63817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3505F"/>
                </a:solidFill>
                <a:latin typeface="Inter"/>
                <a:ea typeface="Inter"/>
                <a:cs typeface="Inter"/>
              </a:rPr>
              <a:t>Claude code</a:t>
            </a:r>
          </a:p>
        </p:txBody>
      </p:sp>
      <p:sp>
        <p:nvSpPr>
          <p:cNvPr id="55" name="Text 54"/>
          <p:cNvSpPr txBox="1"/>
          <p:nvPr/>
        </p:nvSpPr>
        <p:spPr>
          <a:xfrm>
            <a:off x="2541983" y="4447887"/>
            <a:ext cx="709613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47525F"/>
                </a:solidFill>
                <a:latin typeface="Inter"/>
                <a:ea typeface="Inter"/>
                <a:cs typeface="Inter"/>
              </a:rPr>
              <a:t>Your Custom</a:t>
            </a:r>
          </a:p>
        </p:txBody>
      </p:sp>
      <p:sp>
        <p:nvSpPr>
          <p:cNvPr id="56" name="Text 55"/>
          <p:cNvSpPr txBox="1"/>
          <p:nvPr/>
        </p:nvSpPr>
        <p:spPr>
          <a:xfrm>
            <a:off x="5339950" y="4510394"/>
            <a:ext cx="261461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A47D68"/>
                </a:solidFill>
                <a:latin typeface="Inter"/>
                <a:ea typeface="Inter"/>
                <a:cs typeface="Inter"/>
              </a:rPr>
              <a:t>新たなビジネスチャンス：特定業界（金融、臣泰、法務な</a:t>
            </a:r>
          </a:p>
        </p:txBody>
      </p:sp>
      <p:sp>
        <p:nvSpPr>
          <p:cNvPr id="57" name="Text 56"/>
          <p:cNvSpPr txBox="1"/>
          <p:nvPr/>
        </p:nvSpPr>
        <p:spPr>
          <a:xfrm>
            <a:off x="416718" y="4608621"/>
            <a:ext cx="6953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4505F"/>
                </a:solidFill>
                <a:latin typeface="Inter"/>
                <a:ea typeface="Inter"/>
                <a:cs typeface="Inter"/>
              </a:rPr>
              <a:t>Base Harness</a:t>
            </a:r>
          </a:p>
        </p:txBody>
      </p:sp>
      <p:sp>
        <p:nvSpPr>
          <p:cNvPr id="58" name="Text 57"/>
          <p:cNvSpPr txBox="1"/>
          <p:nvPr/>
        </p:nvSpPr>
        <p:spPr>
          <a:xfrm>
            <a:off x="2690811" y="4608621"/>
            <a:ext cx="466725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434F5C"/>
                </a:solidFill>
                <a:latin typeface="Inter"/>
                <a:ea typeface="Inter"/>
                <a:cs typeface="Inter"/>
              </a:rPr>
              <a:t>Harness</a:t>
            </a:r>
          </a:p>
        </p:txBody>
      </p:sp>
      <p:sp>
        <p:nvSpPr>
          <p:cNvPr id="59" name="Text 58"/>
          <p:cNvSpPr txBox="1"/>
          <p:nvPr/>
        </p:nvSpPr>
        <p:spPr>
          <a:xfrm>
            <a:off x="5453059" y="4694941"/>
            <a:ext cx="260985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85">
                <a:solidFill>
                  <a:srgbClr val="565551"/>
                </a:solidFill>
                <a:latin typeface="Inter"/>
                <a:ea typeface="Inter"/>
                <a:cs typeface="Inter"/>
              </a:rPr>
              <a:t>ビ向けはのカスタムハーネスを提供するニとが、新たなビ</a:t>
            </a:r>
          </a:p>
        </p:txBody>
      </p:sp>
      <p:sp>
        <p:nvSpPr>
          <p:cNvPr id="60" name="Text 59"/>
          <p:cNvSpPr txBox="1"/>
          <p:nvPr/>
        </p:nvSpPr>
        <p:spPr>
          <a:xfrm>
            <a:off x="5447106" y="4828886"/>
            <a:ext cx="1152525" cy="1571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90">
                <a:solidFill>
                  <a:srgbClr val="555552"/>
                </a:solidFill>
                <a:latin typeface="Inter"/>
                <a:ea typeface="Inter"/>
                <a:cs typeface="Inter"/>
              </a:rPr>
              <a:t>ジネスモデルとなる。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7656" y="1329642"/>
            <a:ext cx="4345779" cy="2851545"/>
          </a:xfrm>
          <a:prstGeom prst="rect">
            <a:avLst/>
          </a:prstGeom>
        </p:spPr>
      </p:pic>
      <p:sp>
        <p:nvSpPr>
          <p:cNvPr id="4" name="Text 3"/>
          <p:cNvSpPr txBox="1"/>
          <p:nvPr/>
        </p:nvSpPr>
        <p:spPr>
          <a:xfrm>
            <a:off x="357187" y="477155"/>
            <a:ext cx="310515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701">
                <a:solidFill>
                  <a:srgbClr val="2C2C29"/>
                </a:solidFill>
                <a:latin typeface="Inter"/>
                <a:ea typeface="Inter"/>
                <a:cs typeface="Inter"/>
              </a:rPr>
              <a:t>新時代の資産:ハーネスが提える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4941091" y="477155"/>
            <a:ext cx="1123950" cy="3524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2172">
                <a:solidFill>
                  <a:srgbClr val="343332"/>
                </a:solidFill>
                <a:latin typeface="Inter"/>
                <a:ea typeface="Inter"/>
                <a:cs typeface="Inter"/>
              </a:rPr>
              <a:t>「軌跡」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4905372" y="1031390"/>
            <a:ext cx="3290888" cy="185737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073">
                <a:solidFill>
                  <a:srgbClr val="3D4552"/>
                </a:solidFill>
                <a:latin typeface="Inter"/>
                <a:ea typeface="Inter"/>
                <a:cs typeface="Inter"/>
              </a:rPr>
              <a:t>ブロンプトはもはや優位性ではない：優れたプロンブ</a:t>
            </a:r>
          </a:p>
        </p:txBody>
      </p:sp>
      <p:sp>
        <p:nvSpPr>
          <p:cNvPr id="7" name="Text 6"/>
          <p:cNvSpPr txBox="1"/>
          <p:nvPr/>
        </p:nvSpPr>
        <p:spPr>
          <a:xfrm>
            <a:off x="1827608" y="1227248"/>
            <a:ext cx="1109663" cy="2000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77">
                <a:solidFill>
                  <a:srgbClr val="C19577"/>
                </a:solidFill>
                <a:latin typeface="Inter"/>
                <a:ea typeface="Inter"/>
                <a:cs typeface="Inter"/>
              </a:rPr>
              <a:t>Feedback Loop</a:t>
            </a:r>
          </a:p>
        </p:txBody>
      </p:sp>
      <p:sp>
        <p:nvSpPr>
          <p:cNvPr id="8" name="Text 7"/>
          <p:cNvSpPr txBox="1"/>
          <p:nvPr/>
        </p:nvSpPr>
        <p:spPr>
          <a:xfrm>
            <a:off x="4929185" y="1235582"/>
            <a:ext cx="280035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F3F3A"/>
                </a:solidFill>
                <a:latin typeface="Inter"/>
                <a:ea typeface="Inter"/>
                <a:cs typeface="Inter"/>
              </a:rPr>
              <a:t>トはすぐにコピーされ、陳圏化する。モデル自身ガ進化する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4911325" y="1376076"/>
            <a:ext cx="2690812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F3E3B"/>
                </a:solidFill>
                <a:latin typeface="Inter"/>
                <a:ea typeface="Inter"/>
                <a:cs typeface="Inter"/>
              </a:rPr>
              <a:t>ことで、で、プロンプトの巧如さへの依存は低下していく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4964903" y="1811844"/>
            <a:ext cx="4257675" cy="2238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334">
                <a:solidFill>
                  <a:srgbClr val="3F454E"/>
                </a:solidFill>
                <a:latin typeface="Inter"/>
                <a:ea typeface="Inter"/>
                <a:cs typeface="Inter"/>
              </a:rPr>
              <a:t>「軌跡」ニそがデータセット：真の競争優位性は、エー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4893466" y="1997582"/>
            <a:ext cx="3338513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3F3F3B"/>
                </a:solidFill>
                <a:latin typeface="Inter"/>
                <a:ea typeface="Inter"/>
                <a:cs typeface="Inter"/>
              </a:rPr>
              <a:t>ジェントがタスクを解決する過程で生成する一連のデータ、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4905372" y="2129146"/>
            <a:ext cx="215741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4433F"/>
                </a:solidFill>
                <a:latin typeface="Inter"/>
                <a:ea typeface="Inter"/>
                <a:cs typeface="Inter"/>
              </a:rPr>
              <a:t>すなわち「軌跡（Traiectories）」にある.</a:t>
            </a:r>
          </a:p>
        </p:txBody>
      </p:sp>
      <p:sp>
        <p:nvSpPr>
          <p:cNvPr id="13" name="Text 12"/>
          <p:cNvSpPr txBox="1"/>
          <p:nvPr/>
        </p:nvSpPr>
        <p:spPr>
          <a:xfrm>
            <a:off x="565547" y="2245232"/>
            <a:ext cx="14287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657789"/>
                </a:solidFill>
                <a:latin typeface="Inter"/>
                <a:ea typeface="Inter"/>
                <a:cs typeface="Inter"/>
              </a:rPr>
              <a:t>=</a:t>
            </a:r>
          </a:p>
        </p:txBody>
      </p:sp>
      <p:sp>
        <p:nvSpPr>
          <p:cNvPr id="14" name="Text 13"/>
          <p:cNvSpPr txBox="1"/>
          <p:nvPr/>
        </p:nvSpPr>
        <p:spPr>
          <a:xfrm>
            <a:off x="5000622" y="2442280"/>
            <a:ext cx="2928938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03F3B"/>
                </a:solidFill>
                <a:latin typeface="Inter"/>
                <a:ea typeface="Inter"/>
                <a:cs typeface="Inter"/>
              </a:rPr>
              <a:t>執跡とは：ユーザーの指示、モデルの思考プロセス、ツ</a:t>
            </a:r>
          </a:p>
        </p:txBody>
      </p:sp>
      <p:sp>
        <p:nvSpPr>
          <p:cNvPr id="15" name="Text 14"/>
          <p:cNvSpPr txBox="1"/>
          <p:nvPr/>
        </p:nvSpPr>
        <p:spPr>
          <a:xfrm>
            <a:off x="5137544" y="2646472"/>
            <a:ext cx="3219450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03F3C"/>
                </a:solidFill>
                <a:latin typeface="Inter"/>
                <a:ea typeface="Inter"/>
                <a:cs typeface="Inter"/>
              </a:rPr>
              <a:t>ッール呼び出し、その結果、そして最終的なアウトプット</a:t>
            </a:r>
          </a:p>
        </p:txBody>
      </p:sp>
      <p:sp>
        <p:nvSpPr>
          <p:cNvPr id="16" name="Text 15"/>
          <p:cNvSpPr txBox="1"/>
          <p:nvPr/>
        </p:nvSpPr>
        <p:spPr>
          <a:xfrm>
            <a:off x="458390" y="2658974"/>
            <a:ext cx="452437" cy="1714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94">
                <a:solidFill>
                  <a:srgbClr val="5C5B57"/>
                </a:solidFill>
                <a:latin typeface="Inter"/>
                <a:ea typeface="Inter"/>
                <a:cs typeface="Inter"/>
              </a:rPr>
              <a:t>Prompt</a:t>
            </a:r>
          </a:p>
        </p:txBody>
      </p:sp>
      <p:sp>
        <p:nvSpPr>
          <p:cNvPr id="17" name="Text 16"/>
          <p:cNvSpPr txBox="1"/>
          <p:nvPr/>
        </p:nvSpPr>
        <p:spPr>
          <a:xfrm>
            <a:off x="1553765" y="2650044"/>
            <a:ext cx="4286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F4D49"/>
                </a:solidFill>
                <a:latin typeface="Inter"/>
                <a:ea typeface="Inter"/>
                <a:cs typeface="Inter"/>
              </a:rPr>
              <a:t>Tool cal!</a:t>
            </a:r>
          </a:p>
        </p:txBody>
      </p:sp>
      <p:sp>
        <p:nvSpPr>
          <p:cNvPr id="18" name="Text 17"/>
          <p:cNvSpPr txBox="1"/>
          <p:nvPr/>
        </p:nvSpPr>
        <p:spPr>
          <a:xfrm>
            <a:off x="5143497" y="2772083"/>
            <a:ext cx="1057275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3C3B38"/>
                </a:solidFill>
                <a:latin typeface="Inter"/>
                <a:ea typeface="Inter"/>
                <a:cs typeface="Inter"/>
              </a:rPr>
              <a:t>までの一連のログ。</a:t>
            </a:r>
          </a:p>
        </p:txBody>
      </p:sp>
      <p:sp>
        <p:nvSpPr>
          <p:cNvPr id="19" name="Text 18"/>
          <p:cNvSpPr txBox="1"/>
          <p:nvPr/>
        </p:nvSpPr>
        <p:spPr>
          <a:xfrm>
            <a:off x="4911325" y="3188206"/>
            <a:ext cx="2019300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3C4656"/>
                </a:solidFill>
                <a:latin typeface="Inter"/>
                <a:ea typeface="Inter"/>
                <a:cs typeface="Inter"/>
              </a:rPr>
              <a:t>フィードバックループの創出：</a:t>
            </a:r>
          </a:p>
        </p:txBody>
      </p:sp>
      <p:sp>
        <p:nvSpPr>
          <p:cNvPr id="20" name="Text 19"/>
          <p:cNvSpPr txBox="1"/>
          <p:nvPr/>
        </p:nvSpPr>
        <p:spPr>
          <a:xfrm>
            <a:off x="5000622" y="3432284"/>
            <a:ext cx="2595563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2413D"/>
                </a:solidFill>
                <a:latin typeface="Inter"/>
                <a:ea typeface="Inter"/>
                <a:cs typeface="Inter"/>
              </a:rPr>
              <a:t>ハーネスは、これらの執跡を横造化されたデー々として</a:t>
            </a:r>
          </a:p>
        </p:txBody>
      </p:sp>
      <p:sp>
        <p:nvSpPr>
          <p:cNvPr id="21" name="Text 20"/>
          <p:cNvSpPr txBox="1"/>
          <p:nvPr/>
        </p:nvSpPr>
        <p:spPr>
          <a:xfrm>
            <a:off x="922734" y="3447762"/>
            <a:ext cx="557213" cy="133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733">
                <a:solidFill>
                  <a:srgbClr val="5A5955"/>
                </a:solidFill>
                <a:latin typeface="Inter"/>
                <a:ea typeface="Inter"/>
                <a:cs typeface="Inter"/>
              </a:rPr>
              <a:t>Obseruation</a:t>
            </a:r>
          </a:p>
        </p:txBody>
      </p:sp>
      <p:sp>
        <p:nvSpPr>
          <p:cNvPr id="22" name="Text 21"/>
          <p:cNvSpPr txBox="1"/>
          <p:nvPr/>
        </p:nvSpPr>
        <p:spPr>
          <a:xfrm>
            <a:off x="5125638" y="3644811"/>
            <a:ext cx="1881187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403F3C"/>
                </a:solidFill>
                <a:latin typeface="Inter"/>
                <a:ea typeface="Inter"/>
                <a:cs typeface="Inter"/>
              </a:rPr>
              <a:t>捕提するための最適な環境である。</a:t>
            </a:r>
          </a:p>
        </p:txBody>
      </p:sp>
      <p:sp>
        <p:nvSpPr>
          <p:cNvPr id="23" name="Text 22"/>
          <p:cNvSpPr txBox="1"/>
          <p:nvPr/>
        </p:nvSpPr>
        <p:spPr>
          <a:xfrm>
            <a:off x="1262062" y="3825785"/>
            <a:ext cx="176213" cy="2095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230">
                <a:solidFill>
                  <a:srgbClr val="5D6A7D"/>
                </a:solidFill>
                <a:latin typeface="Inter"/>
                <a:ea typeface="Inter"/>
                <a:cs typeface="Inter"/>
              </a:rPr>
              <a:t>ó</a:t>
            </a:r>
          </a:p>
        </p:txBody>
      </p:sp>
      <p:sp>
        <p:nvSpPr>
          <p:cNvPr id="24" name="Text 23"/>
          <p:cNvSpPr txBox="1"/>
          <p:nvPr/>
        </p:nvSpPr>
        <p:spPr>
          <a:xfrm>
            <a:off x="5024434" y="3804949"/>
            <a:ext cx="2662237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F3E3A"/>
                </a:solidFill>
                <a:latin typeface="Inter"/>
                <a:ea typeface="Inter"/>
                <a:cs typeface="Inter"/>
              </a:rPr>
              <a:t>特に、エージェントが笑敗した軌駅（例・100回目のツー</a:t>
            </a:r>
          </a:p>
        </p:txBody>
      </p:sp>
      <p:sp>
        <p:nvSpPr>
          <p:cNvPr id="25" name="Text 24"/>
          <p:cNvSpPr txBox="1"/>
          <p:nvPr/>
        </p:nvSpPr>
        <p:spPr>
          <a:xfrm>
            <a:off x="1488280" y="3991877"/>
            <a:ext cx="66675" cy="76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66">
                <a:solidFill>
                  <a:srgbClr val="686E79"/>
                </a:solidFill>
                <a:latin typeface="Inter"/>
                <a:ea typeface="Inter"/>
                <a:cs typeface="Inter"/>
              </a:rPr>
              <a:t>円</a:t>
            </a:r>
          </a:p>
        </p:txBody>
      </p:sp>
      <p:sp>
        <p:nvSpPr>
          <p:cNvPr id="26" name="Text 25"/>
          <p:cNvSpPr txBox="1"/>
          <p:nvPr/>
        </p:nvSpPr>
        <p:spPr>
          <a:xfrm>
            <a:off x="2274092" y="3958540"/>
            <a:ext cx="47625" cy="523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209">
                <a:solidFill>
                  <a:srgbClr val="3C4D5C"/>
                </a:solidFill>
                <a:latin typeface="Inter"/>
                <a:ea typeface="Inter"/>
                <a:cs typeface="Inter"/>
              </a:rPr>
              <a:t>-</a:t>
            </a:r>
          </a:p>
        </p:txBody>
      </p:sp>
      <p:sp>
        <p:nvSpPr>
          <p:cNvPr id="27" name="Text 26"/>
          <p:cNvSpPr txBox="1"/>
          <p:nvPr/>
        </p:nvSpPr>
        <p:spPr>
          <a:xfrm>
            <a:off x="5119684" y="4087127"/>
            <a:ext cx="3590925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40403C"/>
                </a:solidFill>
                <a:latin typeface="Inter"/>
                <a:ea typeface="Inter"/>
                <a:cs typeface="Inter"/>
              </a:rPr>
              <a:t>ル呼び出し後に指示から逸脱したヶース）は、次のモデ</a:t>
            </a:r>
          </a:p>
        </p:txBody>
      </p:sp>
      <p:sp>
        <p:nvSpPr>
          <p:cNvPr id="28" name="Text 27"/>
          <p:cNvSpPr txBox="1"/>
          <p:nvPr/>
        </p:nvSpPr>
        <p:spPr>
          <a:xfrm>
            <a:off x="5137544" y="4265721"/>
            <a:ext cx="2286000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F3D3A"/>
                </a:solidFill>
                <a:latin typeface="Inter"/>
                <a:ea typeface="Inter"/>
                <a:cs typeface="Inter"/>
              </a:rPr>
              <a:t>しを訓練するための最も価値あるデ一々となる。</a:t>
            </a:r>
          </a:p>
        </p:txBody>
      </p:sp>
      <p:sp>
        <p:nvSpPr>
          <p:cNvPr id="29" name="Text 28"/>
          <p:cNvSpPr txBox="1"/>
          <p:nvPr/>
        </p:nvSpPr>
        <p:spPr>
          <a:xfrm>
            <a:off x="1000124" y="4281199"/>
            <a:ext cx="904875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585652"/>
                </a:solidFill>
                <a:latin typeface="Inter"/>
                <a:ea typeface="Inter"/>
                <a:cs typeface="Inter"/>
              </a:rPr>
              <a:t>Model Thought</a:t>
            </a:r>
          </a:p>
        </p:txBody>
      </p:sp>
      <p:sp>
        <p:nvSpPr>
          <p:cNvPr id="30" name="Text 29"/>
          <p:cNvSpPr txBox="1"/>
          <p:nvPr/>
        </p:nvSpPr>
        <p:spPr>
          <a:xfrm>
            <a:off x="1982389" y="4278223"/>
            <a:ext cx="766763" cy="1619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16">
                <a:solidFill>
                  <a:srgbClr val="62605C"/>
                </a:solidFill>
                <a:latin typeface="Inter"/>
                <a:ea typeface="Inter"/>
                <a:cs typeface="Inter"/>
              </a:rPr>
              <a:t>Next Tool call</a:t>
            </a:r>
          </a:p>
        </p:txBody>
      </p:sp>
      <p:sp>
        <p:nvSpPr>
          <p:cNvPr id="31" name="Text 30"/>
          <p:cNvSpPr txBox="1"/>
          <p:nvPr/>
        </p:nvSpPr>
        <p:spPr>
          <a:xfrm>
            <a:off x="3208732" y="4302035"/>
            <a:ext cx="981075" cy="1952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51">
                <a:solidFill>
                  <a:srgbClr val="455162"/>
                </a:solidFill>
                <a:latin typeface="Inter"/>
                <a:ea typeface="Inter"/>
                <a:cs typeface="Inter"/>
              </a:rPr>
              <a:t>Training Data!</a:t>
            </a:r>
          </a:p>
        </p:txBody>
      </p:sp>
      <p:sp>
        <p:nvSpPr>
          <p:cNvPr id="32" name="Text 31"/>
          <p:cNvSpPr txBox="1"/>
          <p:nvPr/>
        </p:nvSpPr>
        <p:spPr>
          <a:xfrm>
            <a:off x="3565920" y="4507418"/>
            <a:ext cx="366713" cy="1905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125">
                <a:solidFill>
                  <a:srgbClr val="C59677"/>
                </a:solidFill>
                <a:latin typeface="Inter"/>
                <a:ea typeface="Inter"/>
                <a:cs typeface="Inter"/>
              </a:rPr>
              <a:t>Moat</a:t>
            </a:r>
          </a:p>
        </p:txBody>
      </p:sp>
      <p:sp>
        <p:nvSpPr>
          <p:cNvPr id="33" name="Text 32"/>
          <p:cNvSpPr txBox="1"/>
          <p:nvPr/>
        </p:nvSpPr>
        <p:spPr>
          <a:xfrm>
            <a:off x="5107778" y="4497893"/>
            <a:ext cx="2700338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3E3D3A"/>
                </a:solidFill>
                <a:latin typeface="Inter"/>
                <a:ea typeface="Inter"/>
                <a:cs typeface="Inter"/>
              </a:rPr>
              <a:t>こニのフィードバックルーブを持つ企業は、長時間タスク</a:t>
            </a:r>
          </a:p>
        </p:txBody>
      </p:sp>
      <p:sp>
        <p:nvSpPr>
          <p:cNvPr id="34" name="Text 33"/>
          <p:cNvSpPr txBox="1"/>
          <p:nvPr/>
        </p:nvSpPr>
        <p:spPr>
          <a:xfrm>
            <a:off x="5131591" y="4632433"/>
            <a:ext cx="3009900" cy="1666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968">
                <a:solidFill>
                  <a:srgbClr val="403F3B"/>
                </a:solidFill>
                <a:latin typeface="Inter"/>
                <a:ea typeface="Inter"/>
                <a:cs typeface="Inter"/>
              </a:rPr>
              <a:t>でも「疲れない」`より「耐久性」のあるモデルを開発</a:t>
            </a:r>
          </a:p>
        </p:txBody>
      </p:sp>
      <p:sp>
        <p:nvSpPr>
          <p:cNvPr id="35" name="Text 34"/>
          <p:cNvSpPr txBox="1"/>
          <p:nvPr/>
        </p:nvSpPr>
        <p:spPr>
          <a:xfrm>
            <a:off x="5161356" y="4834839"/>
            <a:ext cx="1495425" cy="14287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811">
                <a:solidFill>
                  <a:srgbClr val="43433F"/>
                </a:solidFill>
                <a:latin typeface="Inter"/>
                <a:ea typeface="Inter"/>
                <a:cs typeface="Inter"/>
              </a:rPr>
              <a:t>`他社をり一ドすることができる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9955"/>
            <a:ext cx="9143995" cy="5103625"/>
          </a:xfrm>
          <a:prstGeom prst="rect">
            <a:avLst/>
          </a:prstGeom>
        </p:spPr>
      </p:pic>
      <p:sp>
        <p:nvSpPr>
          <p:cNvPr id="3" name="Text 2"/>
          <p:cNvSpPr txBox="1"/>
          <p:nvPr/>
        </p:nvSpPr>
        <p:spPr>
          <a:xfrm>
            <a:off x="529828" y="1081396"/>
            <a:ext cx="7996238" cy="6191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924">
                <a:solidFill>
                  <a:srgbClr val="304055"/>
                </a:solidFill>
                <a:latin typeface="Inter"/>
                <a:ea typeface="Inter"/>
                <a:cs typeface="Inter"/>
              </a:rPr>
              <a:t>**もはやプロンプトが優位性ではな</a:t>
            </a:r>
          </a:p>
        </p:txBody>
      </p:sp>
      <p:sp>
        <p:nvSpPr>
          <p:cNvPr id="4" name="Text 3"/>
          <p:cNvSpPr txBox="1"/>
          <p:nvPr/>
        </p:nvSpPr>
        <p:spPr>
          <a:xfrm>
            <a:off x="494109" y="1748146"/>
            <a:ext cx="5929313" cy="52863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323" dirty="0">
                <a:solidFill>
                  <a:srgbClr val="2B3A4F"/>
                </a:solidFill>
                <a:latin typeface="Inter"/>
                <a:ea typeface="Inter"/>
                <a:cs typeface="Inter"/>
              </a:rPr>
              <a:t>い。あなたのハーネスが提える</a:t>
            </a:r>
          </a:p>
        </p:txBody>
      </p:sp>
      <p:sp>
        <p:nvSpPr>
          <p:cNvPr id="5" name="Text 4"/>
          <p:cNvSpPr txBox="1"/>
          <p:nvPr/>
        </p:nvSpPr>
        <p:spPr>
          <a:xfrm>
            <a:off x="6507956" y="1776721"/>
            <a:ext cx="819150" cy="5000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140" dirty="0">
                <a:solidFill>
                  <a:srgbClr val="CD9472"/>
                </a:solidFill>
                <a:latin typeface="Inter"/>
                <a:ea typeface="Inter"/>
                <a:cs typeface="Inter"/>
              </a:rPr>
              <a:t>軌跡</a:t>
            </a:r>
          </a:p>
        </p:txBody>
      </p:sp>
      <p:sp>
        <p:nvSpPr>
          <p:cNvPr id="6" name="Text 5"/>
          <p:cNvSpPr txBox="1"/>
          <p:nvPr/>
        </p:nvSpPr>
        <p:spPr>
          <a:xfrm>
            <a:off x="839390" y="2420849"/>
            <a:ext cx="6191250" cy="5143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3244">
                <a:solidFill>
                  <a:srgbClr val="5F6959"/>
                </a:solidFill>
                <a:latin typeface="Inter"/>
                <a:ea typeface="Inter"/>
                <a:cs typeface="Inter"/>
              </a:rPr>
              <a:t>こそが、次の時代の資産になる。</a:t>
            </a:r>
          </a:p>
        </p:txBody>
      </p:sp>
      <p:sp>
        <p:nvSpPr>
          <p:cNvPr id="9" name="Text 8"/>
          <p:cNvSpPr txBox="1"/>
          <p:nvPr/>
        </p:nvSpPr>
        <p:spPr>
          <a:xfrm>
            <a:off x="1774030" y="3432879"/>
            <a:ext cx="4672013" cy="27622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674">
                <a:solidFill>
                  <a:srgbClr val="31302D"/>
                </a:solidFill>
                <a:latin typeface="Inter"/>
                <a:ea typeface="Inter"/>
                <a:cs typeface="Inter"/>
              </a:rPr>
              <a:t>今日から、あなたのアーキテクチャを見直そう。</a:t>
            </a:r>
          </a:p>
        </p:txBody>
      </p:sp>
      <p:sp>
        <p:nvSpPr>
          <p:cNvPr id="10" name="Text 9"/>
          <p:cNvSpPr txBox="1"/>
          <p:nvPr/>
        </p:nvSpPr>
        <p:spPr>
          <a:xfrm>
            <a:off x="1035843" y="3882340"/>
            <a:ext cx="4486275" cy="2143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256">
                <a:solidFill>
                  <a:srgbClr val="2C2B28"/>
                </a:solidFill>
                <a:latin typeface="Inter"/>
                <a:ea typeface="Inter"/>
                <a:cs typeface="Inter"/>
              </a:rPr>
              <a:t>それは、明日のモデルによって陳腐化する複雑なロジックか？</a:t>
            </a:r>
          </a:p>
        </p:txBody>
      </p:sp>
      <p:sp>
        <p:nvSpPr>
          <p:cNvPr id="11" name="Text 10"/>
          <p:cNvSpPr txBox="1"/>
          <p:nvPr/>
        </p:nvSpPr>
        <p:spPr>
          <a:xfrm>
            <a:off x="785812" y="4141301"/>
            <a:ext cx="5286375" cy="23336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387">
                <a:solidFill>
                  <a:srgbClr val="2E2E2A"/>
                </a:solidFill>
                <a:latin typeface="Inter"/>
                <a:ea typeface="Inter"/>
                <a:cs typeface="Inter"/>
              </a:rPr>
              <a:t>それとも、未来の資産を生み出す、軽量で適応可能なハ一ネスか？</a:t>
            </a:r>
          </a:p>
        </p:txBody>
      </p:sp>
      <p:sp>
        <p:nvSpPr>
          <p:cNvPr id="12" name="Text 11"/>
          <p:cNvSpPr txBox="1"/>
          <p:nvPr/>
        </p:nvSpPr>
        <p:spPr>
          <a:xfrm>
            <a:off x="2922983" y="4609812"/>
            <a:ext cx="2295525" cy="24765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l">
              <a:lnSpc>
                <a:spcPct val="100000"/>
              </a:lnSpc>
            </a:pPr>
            <a:r>
              <a:rPr lang="ja-JP" sz="1491">
                <a:solidFill>
                  <a:srgbClr val="2B2B27"/>
                </a:solidFill>
                <a:latin typeface="Inter"/>
                <a:ea typeface="Inter"/>
                <a:cs typeface="Inter"/>
              </a:rPr>
              <a:t>戦場は、すでに動いている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3317</Words>
  <Application>Microsoft Office PowerPoint</Application>
  <PresentationFormat>画面に合わせる (16:9)</PresentationFormat>
  <Paragraphs>443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Inter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/>
  <dc:creator>slidebox</dc:creator>
  <cp:keywords/>
  <dc:description/>
  <cp:lastModifiedBy>Awano Yoshitaka(粟野 佳孝)</cp:lastModifiedBy>
  <cp:revision>1</cp:revision>
  <dcterms:created xsi:type="dcterms:W3CDTF">2026-01-07T14:16:35Z</dcterms:created>
  <dcterms:modified xsi:type="dcterms:W3CDTF">2026-01-07T14:18:52Z</dcterms:modified>
  <cp:category/>
</cp:coreProperties>
</file>