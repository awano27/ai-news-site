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664317-4AAE-4891-AC65-C1B6638A08D7}">
  <a:tblStyle styleId="{11664317-4AAE-4891-AC65-C1B6638A08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4090040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4090040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本日はお集まりいただきありがとうございます。このプレゼンテーションでは、先日話題となったMicrosoft Excelの新機能「COPILOT関数」について、その革新的な側面と、同時に浮き彫りになった信頼性の課題について解説します。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SLIDES_API140900407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SLIDES_API14090040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本日はこちらの4つの章立てでご説明します。まず関数の概要を掴み、次にSNSなどでの反響、そして実用性の評価、最後に我々がどう向き合うべきか、という流れで進めます。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IDES_API140900407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IDES_API140900407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最初のセクションです。まず、ExcelのCOPILOT関数がどのような機能なのか、基本的な部分から確認していきましょう。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SLIDES_API140900407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SLIDES_API140900407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OPILOT関数は、Excelのセルに直接、自然な言葉で指示を書き込むだけでAIがデータ処理を行ってくれる、新しい標準関数です。これまでのサイドバー型AIと違い、数式に組み込めるのが最大の特徴と言えます。現在はBeta版として一部ユーザーに提供されています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SLIDES_API140900407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SLIDES_API140900407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具体的な使用例はこちらの3パターンです。大量のデータから要点だけをまとめさせたり、特定の条件に合うデータだけを抜き出したり、あるいはテキストの内容を自動で分類させるといった作業が、簡単な指示だけで可能になります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S_API140900407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S_API140900407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次に、この機能がなぜこれほど注目を集め、議論を呼んだのか、その背景とSNSでの反響について見ていきます。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SLIDES_API140900407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SLIDES_API140900407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の機能の面白さは、この対比にあります。左側のように、誰でも簡単に高度なデータ分析ができるという大きなメリットが期待される一方で、右側のように、提供元であるMicrosoft自身が「正確性を求めるな」と警告しているのです。この矛盾が大きな議論を呼びました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SLIDES_API140900407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SLIDES_API140900407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X、旧Twitterでは、ご覧のような反応が多く見られました。特に「スプレッドシートは正確性が命なのに、その正確性を保証しない機能とは一体何なのか」という、ユーモアを交えた的確なツッコミが多く、これがニュースとして拡散されるきっかけとなりました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SLIDES_API140900407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SLIDES_API140900407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では、このCOPILOT関数は実際にどの程度「使える」のでしょうか。エンジニアとビジネスマンの視点から評価し、他のAIツールと比較してみます。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SLIDES_API140900407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SLIDES_API140900407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エンジニアとビジネスマン、それぞれの視点で評価したのがこちらです。プロトタイプ作成や簡易分析には使えるため、全くのゼロではありませんが、やはり信頼性の問題が大きく足を引っ張り、スコアは10段階中5〜6程度という評価になります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SLIDES_API140900407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SLIDES_API140900407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他のAIツールと比較してみましょう。Excel COPILOTは、誰でもすぐに試せる手軽さが魅力ですが、やはり警告の通り信頼性に大きな課題があります。一方で、Google SheetsのAI機能などは比較的安定しており、用途に応じて使い分ける必要がありそうです。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SLIDES_API140900407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SLIDES_API140900407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最後に、これまでの内容をまとめ、我々がこの新しいAIツールとどう付き合っていくべきかについて提言します。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SLIDES_API140900407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SLIDES_API140900407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結論です。この機能はAIが我々の日常ツールに溶け込んでいく未来を象徴していますが、同時にその未熟さも露呈しました。重要なのは、AIを盲信するのではなく、あくまで補助として使い、最終的な判断は人間が行うという姿勢です。今後の精度向上には大いに期待したいところです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SLIDES_API140900407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SLIDES_API140900407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以上で、Excelの新しいCOPILOT関数に関する解説を終わります。AIの進化は目覚ましいですが、その特性を正しく理解し、賢く付き合っていくことが求められます。ご清聴いただき、誠にありがとうございました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1000125"/>
            <a:ext cx="1285875" cy="43574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76250" y="2190750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500">
                <a:solidFill>
                  <a:srgbClr val="333333"/>
                </a:solidFill>
              </a:rPr>
              <a:t>Excel COPILOT関数: AI統合の革新と信頼性のジレンマ</a:t>
            </a:r>
            <a:endParaRPr b="1" sz="4500">
              <a:solidFill>
                <a:srgbClr val="333333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76250" y="3238500"/>
            <a:ext cx="238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rgbClr val="333333"/>
                </a:solidFill>
              </a:rPr>
              <a:t>2025.08.27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25" y="190500"/>
            <a:ext cx="714376" cy="24207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38125" y="571500"/>
            <a:ext cx="790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rgbClr val="333333"/>
                </a:solidFill>
              </a:rPr>
              <a:t>本日お伝えすること</a:t>
            </a:r>
            <a:endParaRPr b="1" sz="2800">
              <a:solidFill>
                <a:srgbClr val="333333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238125" y="1219200"/>
            <a:ext cx="24765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238125" y="1638300"/>
            <a:ext cx="86679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1. COPILOT関数 概要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2. 注目を集めた背景と反響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3. 実用性の評価とツール比較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ja">
                <a:solidFill>
                  <a:srgbClr val="333333"/>
                </a:solidFill>
              </a:rPr>
              <a:t>• 4. まとめと推奨事項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1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333375" y="1143000"/>
            <a:ext cx="2857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0">
                <a:solidFill>
                  <a:srgbClr val="EFEFED"/>
                </a:solidFill>
              </a:rPr>
              <a:t>01</a:t>
            </a:r>
            <a:endParaRPr b="1" sz="18000">
              <a:solidFill>
                <a:srgbClr val="EFEFED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23875" y="21907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800">
                <a:solidFill>
                  <a:srgbClr val="333333"/>
                </a:solidFill>
              </a:rPr>
              <a:t>1. COPILOT関数 概要</a:t>
            </a:r>
            <a:endParaRPr b="1" sz="3800">
              <a:solidFill>
                <a:srgbClr val="333333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2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25" y="190500"/>
            <a:ext cx="714376" cy="24207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38125" y="571500"/>
            <a:ext cx="790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rgbClr val="333333"/>
                </a:solidFill>
              </a:rPr>
              <a:t>Excelにネイティブ統合されたAI関数</a:t>
            </a:r>
            <a:endParaRPr b="1" sz="2800">
              <a:solidFill>
                <a:srgbClr val="333333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38125" y="1219200"/>
            <a:ext cx="24765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238125" y="1333500"/>
            <a:ext cx="790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333333"/>
                </a:solidFill>
              </a:rPr>
              <a:t>自然言語プロンプトでデータ分析、要約、分類などを直接セル内で実行</a:t>
            </a:r>
            <a:endParaRPr sz="1800">
              <a:solidFill>
                <a:srgbClr val="333333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38125" y="1981200"/>
            <a:ext cx="86679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数式バーに `=COPILOT("...")` と入力するだけでAIを呼び出し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従来のCopilotサイドバーとは異なり、</a:t>
            </a:r>
            <a:r>
              <a:rPr b="1" lang="ja">
                <a:solidFill>
                  <a:srgbClr val="4285F4"/>
                </a:solidFill>
              </a:rPr>
              <a:t>数式として直接統合</a:t>
            </a:r>
            <a:r>
              <a:rPr lang="ja">
                <a:solidFill>
                  <a:srgbClr val="333333"/>
                </a:solidFill>
              </a:rPr>
              <a:t>されている点が画期的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Microsoft 365 Insiderプログラム (Betaチャネル) で提供開始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ja">
                <a:solidFill>
                  <a:srgbClr val="333333"/>
                </a:solidFill>
              </a:rPr>
              <a:t>• 対応プラットフォームは Windows (v2409以降) と Mac (v16.89以降)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3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25" y="190500"/>
            <a:ext cx="714376" cy="24207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238125" y="571500"/>
            <a:ext cx="790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rgbClr val="333333"/>
                </a:solidFill>
              </a:rPr>
              <a:t>COPILOT関数の主な使用例</a:t>
            </a:r>
            <a:endParaRPr b="1" sz="2800">
              <a:solidFill>
                <a:srgbClr val="333333"/>
              </a:solidFill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238125" y="1219200"/>
            <a:ext cx="24765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238125" y="1333500"/>
            <a:ext cx="790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333333"/>
                </a:solidFill>
              </a:rPr>
              <a:t>プロンプト一つで複雑なデータ処理を自動化</a:t>
            </a:r>
            <a:endParaRPr sz="1800">
              <a:solidFill>
                <a:srgbClr val="333333"/>
              </a:solidFill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238125" y="1981200"/>
            <a:ext cx="2787600" cy="28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333333"/>
                </a:solidFill>
              </a:rPr>
              <a:t>データ要約</a:t>
            </a:r>
            <a:endParaRPr b="1">
              <a:solidFill>
                <a:srgbClr val="3333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=COPILOT("この売上表の主要な傾向を3行で要約せよ")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178175" y="1981200"/>
            <a:ext cx="2787600" cy="28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333333"/>
                </a:solidFill>
              </a:rPr>
              <a:t>情報抽出</a:t>
            </a:r>
            <a:endParaRPr b="1">
              <a:solidFill>
                <a:srgbClr val="3333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=COPILOT("この顧客リストから東京都の顧客だけを抽出せよ")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118225" y="1981200"/>
            <a:ext cx="2787600" cy="28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333333"/>
                </a:solidFill>
              </a:rPr>
              <a:t>分類・ラベリング</a:t>
            </a:r>
            <a:endParaRPr b="1">
              <a:solidFill>
                <a:srgbClr val="3333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=COPILOT("このフィードバックをポジティブ、ネガティブに分類せよ")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4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333375" y="1143000"/>
            <a:ext cx="2857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0">
                <a:solidFill>
                  <a:srgbClr val="EFEFED"/>
                </a:solidFill>
              </a:rPr>
              <a:t>02</a:t>
            </a:r>
            <a:endParaRPr b="1" sz="18000">
              <a:solidFill>
                <a:srgbClr val="EFEFED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523875" y="21907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800">
                <a:solidFill>
                  <a:srgbClr val="333333"/>
                </a:solidFill>
              </a:rPr>
              <a:t>2. 注目を集めた背景と反響</a:t>
            </a:r>
            <a:endParaRPr b="1" sz="3800">
              <a:solidFill>
                <a:srgbClr val="333333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5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25" y="190500"/>
            <a:ext cx="714376" cy="24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238125" y="571500"/>
            <a:ext cx="790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rgbClr val="333333"/>
                </a:solidFill>
              </a:rPr>
              <a:t>革新的な機能と、Microsoft自身の「警告」</a:t>
            </a:r>
            <a:endParaRPr b="1" sz="2800">
              <a:solidFill>
                <a:srgbClr val="333333"/>
              </a:solidFill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238125" y="1219200"/>
            <a:ext cx="24765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238125" y="1333500"/>
            <a:ext cx="790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333333"/>
                </a:solidFill>
              </a:rPr>
              <a:t>AIの利便性と「幻覚(Hallucination)」リスクのトレードオフが議論の的に</a:t>
            </a:r>
            <a:endParaRPr sz="1800">
              <a:solidFill>
                <a:srgbClr val="333333"/>
              </a:solidFill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238125" y="1981200"/>
            <a:ext cx="4095900" cy="2886000"/>
          </a:xfrm>
          <a:prstGeom prst="rect">
            <a:avLst/>
          </a:prstGeom>
          <a:solidFill>
            <a:srgbClr val="F5F5F3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238125" y="1981200"/>
            <a:ext cx="40959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>期待されるメリット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52425" y="2476500"/>
            <a:ext cx="38673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自然言語による直感的な操作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複雑な数式の知識が不要に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データ処理・分析の</a:t>
            </a:r>
            <a:r>
              <a:rPr b="1" lang="ja">
                <a:solidFill>
                  <a:srgbClr val="333333"/>
                </a:solidFill>
              </a:rPr>
              <a:t>劇的な高速化</a:t>
            </a:r>
            <a:endParaRPr b="1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ja">
                <a:solidFill>
                  <a:srgbClr val="333333"/>
                </a:solidFill>
              </a:rPr>
              <a:t>• プロトタイピングやアイデア出しに貢献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4810125" y="1981200"/>
            <a:ext cx="4095900" cy="2886000"/>
          </a:xfrm>
          <a:prstGeom prst="rect">
            <a:avLst/>
          </a:prstGeom>
          <a:solidFill>
            <a:srgbClr val="F5F5F3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4810125" y="1981200"/>
            <a:ext cx="4095900" cy="381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>公式ドキュメントの警告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924425" y="2476500"/>
            <a:ext cx="38673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「</a:t>
            </a:r>
            <a:r>
              <a:rPr b="1" lang="ja">
                <a:solidFill>
                  <a:srgbClr val="4285F4"/>
                </a:solidFill>
              </a:rPr>
              <a:t>正確性や再現性を必要とするタスクには使用しないでください</a:t>
            </a:r>
            <a:r>
              <a:rPr lang="ja">
                <a:solidFill>
                  <a:srgbClr val="333333"/>
                </a:solidFill>
              </a:rPr>
              <a:t>」と明記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結果が毎回変わる可能性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誤った情報を出力するリスク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ja">
                <a:solidFill>
                  <a:srgbClr val="333333"/>
                </a:solidFill>
              </a:rPr>
              <a:t>• ビジネスやエンジニアリングの</a:t>
            </a:r>
            <a:r>
              <a:rPr b="1" lang="ja">
                <a:solidFill>
                  <a:srgbClr val="333333"/>
                </a:solidFill>
              </a:rPr>
              <a:t>核心業務には不向き</a:t>
            </a:r>
            <a:endParaRPr b="1">
              <a:solidFill>
                <a:srgbClr val="333333"/>
              </a:solidFill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6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25" y="190500"/>
            <a:ext cx="714376" cy="24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/>
        </p:nvSpPr>
        <p:spPr>
          <a:xfrm>
            <a:off x="238125" y="571500"/>
            <a:ext cx="790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rgbClr val="333333"/>
                </a:solidFill>
              </a:rPr>
              <a:t>X(旧Twitter)での主な反応</a:t>
            </a:r>
            <a:endParaRPr b="1" sz="2800">
              <a:solidFill>
                <a:srgbClr val="333333"/>
              </a:solidFill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238125" y="1219200"/>
            <a:ext cx="24765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238125" y="1333500"/>
            <a:ext cx="790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333333"/>
                </a:solidFill>
              </a:rPr>
              <a:t>機能の有用性を認めつつも、警告の矛盾点を指摘する声が多数</a:t>
            </a:r>
            <a:endParaRPr sz="1800">
              <a:solidFill>
                <a:srgbClr val="333333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238125" y="1981200"/>
            <a:ext cx="41910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</a:t>
            </a:r>
            <a:r>
              <a:rPr b="1" lang="ja">
                <a:solidFill>
                  <a:srgbClr val="333333"/>
                </a:solidFill>
              </a:rPr>
              <a:t>@LundukeJournal</a:t>
            </a:r>
            <a:endParaRPr b="1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「MicrosoftがCopilotを追加したが、正確性を要するタスクには使うなと警告。</a:t>
            </a:r>
            <a:r>
              <a:rPr b="1" lang="ja">
                <a:solidFill>
                  <a:srgbClr val="4285F4"/>
                </a:solidFill>
              </a:rPr>
              <a:t>スプレッドシートで正確性を気にしない人なんているか？</a:t>
            </a:r>
            <a:r>
              <a:rPr lang="ja">
                <a:solidFill>
                  <a:srgbClr val="333333"/>
                </a:solidFill>
              </a:rPr>
              <a:t>」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ja">
                <a:solidFill>
                  <a:srgbClr val="333333"/>
                </a:solidFill>
              </a:rPr>
              <a:t>• (Likes: 286)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4714875" y="1981200"/>
            <a:ext cx="41910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</a:t>
            </a:r>
            <a:r>
              <a:rPr b="1" lang="ja">
                <a:solidFill>
                  <a:srgbClr val="333333"/>
                </a:solidFill>
              </a:rPr>
              <a:t>@Pirat_Nation</a:t>
            </a:r>
            <a:endParaRPr b="1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「ExcelのCopilot関数がローンチされたが、正確性や再現性が求められる業務には使うなとのこと」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ja">
                <a:solidFill>
                  <a:srgbClr val="333333"/>
                </a:solidFill>
              </a:rPr>
              <a:t>• (Likes: 252)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7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/>
        </p:nvSpPr>
        <p:spPr>
          <a:xfrm>
            <a:off x="333375" y="1143000"/>
            <a:ext cx="2857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0">
                <a:solidFill>
                  <a:srgbClr val="EFEFED"/>
                </a:solidFill>
              </a:rPr>
              <a:t>03</a:t>
            </a:r>
            <a:endParaRPr b="1" sz="18000">
              <a:solidFill>
                <a:srgbClr val="EFEFED"/>
              </a:solidFill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523875" y="21907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800">
                <a:solidFill>
                  <a:srgbClr val="333333"/>
                </a:solidFill>
              </a:rPr>
              <a:t>3. 実用性の評価とツール比較</a:t>
            </a:r>
            <a:endParaRPr b="1" sz="3800">
              <a:solidFill>
                <a:srgbClr val="333333"/>
              </a:solidFill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8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25" y="190500"/>
            <a:ext cx="714376" cy="24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238125" y="571500"/>
            <a:ext cx="790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rgbClr val="333333"/>
                </a:solidFill>
              </a:rPr>
              <a:t>KPIによる実用性評価</a:t>
            </a:r>
            <a:endParaRPr b="1" sz="2800">
              <a:solidFill>
                <a:srgbClr val="333333"/>
              </a:solidFill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238125" y="1219200"/>
            <a:ext cx="24765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238125" y="1333500"/>
            <a:ext cx="790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333333"/>
                </a:solidFill>
              </a:rPr>
              <a:t>ポテンシャルは高いものの、信頼性の問題からスコアは中程度に留まる</a:t>
            </a:r>
            <a:endParaRPr sz="1800">
              <a:solidFill>
                <a:srgbClr val="333333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238125" y="2038350"/>
            <a:ext cx="1428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エンジニアの即時ツール性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1762125" y="2038350"/>
            <a:ext cx="6667500" cy="1335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1762125" y="2038350"/>
            <a:ext cx="3333900" cy="1335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8486775" y="2028825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9E9E9E"/>
                </a:solidFill>
              </a:rPr>
              <a:t>50%</a:t>
            </a:r>
            <a:endParaRPr sz="1000">
              <a:solidFill>
                <a:srgbClr val="9E9E9E"/>
              </a:solidFill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238125" y="3481388"/>
            <a:ext cx="1428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ビジネスマンの業務効率化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1762125" y="3481388"/>
            <a:ext cx="6667500" cy="1335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1762125" y="3481388"/>
            <a:ext cx="4000500" cy="1335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8486775" y="3471863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9E9E9E"/>
                </a:solidFill>
              </a:rPr>
              <a:t>60%</a:t>
            </a:r>
            <a:endParaRPr sz="1000">
              <a:solidFill>
                <a:srgbClr val="9E9E9E"/>
              </a:solidFill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9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25" y="190500"/>
            <a:ext cx="714376" cy="24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238125" y="571500"/>
            <a:ext cx="790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rgbClr val="333333"/>
                </a:solidFill>
              </a:rPr>
              <a:t>類似AIツールとの比較</a:t>
            </a:r>
            <a:endParaRPr b="1" sz="2800">
              <a:solidFill>
                <a:srgbClr val="333333"/>
              </a:solidFill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238125" y="1219200"/>
            <a:ext cx="24765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3"/>
          <p:cNvSpPr txBox="1"/>
          <p:nvPr/>
        </p:nvSpPr>
        <p:spPr>
          <a:xfrm>
            <a:off x="238125" y="1333500"/>
            <a:ext cx="790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333333"/>
                </a:solidFill>
              </a:rPr>
              <a:t>アクセシビリティと統合のしやすさが強みだが、信頼性で課題</a:t>
            </a:r>
            <a:endParaRPr sz="1800">
              <a:solidFill>
                <a:srgbClr val="333333"/>
              </a:solidFill>
            </a:endParaRPr>
          </a:p>
        </p:txBody>
      </p:sp>
      <p:graphicFrame>
        <p:nvGraphicFramePr>
          <p:cNvPr id="176" name="Google Shape;176;p23"/>
          <p:cNvGraphicFramePr/>
          <p:nvPr/>
        </p:nvGraphicFramePr>
        <p:xfrm>
          <a:off x="238125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{11664317-4AAE-4891-AC65-C1B6638A08D7}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7" name="Google Shape;177;p23"/>
          <p:cNvSpPr/>
          <p:nvPr/>
        </p:nvSpPr>
        <p:spPr>
          <a:xfrm>
            <a:off x="238125" y="198120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333333"/>
                </a:solidFill>
              </a:rPr>
              <a:t>ツール</a:t>
            </a:r>
            <a:endParaRPr b="1">
              <a:solidFill>
                <a:srgbClr val="333333"/>
              </a:solidFill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1973580" y="198120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333333"/>
                </a:solidFill>
              </a:rPr>
              <a:t>特徴</a:t>
            </a:r>
            <a:endParaRPr b="1">
              <a:solidFill>
                <a:srgbClr val="333333"/>
              </a:solidFill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3709035" y="198120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333333"/>
                </a:solidFill>
              </a:rPr>
              <a:t>エンジニア即用性</a:t>
            </a:r>
            <a:endParaRPr b="1">
              <a:solidFill>
                <a:srgbClr val="333333"/>
              </a:solidFill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5444490" y="198120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333333"/>
                </a:solidFill>
              </a:rPr>
              <a:t>業務効率化</a:t>
            </a:r>
            <a:endParaRPr b="1">
              <a:solidFill>
                <a:srgbClr val="333333"/>
              </a:solidFill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7179945" y="198120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333333"/>
                </a:solidFill>
              </a:rPr>
              <a:t>警告/限界</a:t>
            </a:r>
            <a:endParaRPr b="1">
              <a:solidFill>
                <a:srgbClr val="333333"/>
              </a:solidFill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238125" y="256032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333333"/>
                </a:solidFill>
              </a:rPr>
              <a:t>Excel COPILOT</a:t>
            </a:r>
            <a:endParaRPr b="1">
              <a:solidFill>
                <a:srgbClr val="333333"/>
              </a:solidFill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1973580" y="256032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セル内自然言語プロンプト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3709035" y="256032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中 (Beta)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5444490" y="256032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中 (簡易分析)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7179945" y="256032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4285F4"/>
                </a:solidFill>
              </a:rPr>
              <a:t>高: 正確性なし</a:t>
            </a:r>
            <a:endParaRPr b="1">
              <a:solidFill>
                <a:srgbClr val="4285F4"/>
              </a:solidFill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238125" y="313944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GitHub Copilot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1973580" y="313944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コード補完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3709035" y="313944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高 (IDE統合)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5444490" y="313944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低 (開発特化)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7179945" y="313944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中: 幻覚あり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238125" y="371856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Google Gemini in Sheets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1973580" y="371856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類似プロンプト機能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3709035" y="371856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中 (無料)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5444490" y="371856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高 (コラボ向き)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7179945" y="371856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低: 精度安定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238125" y="429768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DeepSeek V3.1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1973580" y="429768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オープンソースモデル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3709035" y="429768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高 (カスタム化)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5444490" y="429768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中 (数学/コード)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7179945" y="4297680"/>
            <a:ext cx="1725900" cy="569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中: 計算コスト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10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/>
        </p:nvSpPr>
        <p:spPr>
          <a:xfrm>
            <a:off x="333375" y="1143000"/>
            <a:ext cx="2857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0">
                <a:solidFill>
                  <a:srgbClr val="EFEFED"/>
                </a:solidFill>
              </a:rPr>
              <a:t>04</a:t>
            </a:r>
            <a:endParaRPr b="1" sz="18000">
              <a:solidFill>
                <a:srgbClr val="EFEFED"/>
              </a:solidFill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523875" y="21907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800">
                <a:solidFill>
                  <a:srgbClr val="333333"/>
                </a:solidFill>
              </a:rPr>
              <a:t>4. まとめと推奨事項</a:t>
            </a:r>
            <a:endParaRPr b="1" sz="3800">
              <a:solidFill>
                <a:srgbClr val="333333"/>
              </a:solidFill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11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25" y="190500"/>
            <a:ext cx="714376" cy="24207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238125" y="571500"/>
            <a:ext cx="790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rgbClr val="333333"/>
                </a:solidFill>
              </a:rPr>
              <a:t>結論：AIの日常ツール化を象徴する、可能性と課題</a:t>
            </a:r>
            <a:endParaRPr b="1" sz="2800">
              <a:solidFill>
                <a:srgbClr val="333333"/>
              </a:solidFill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238125" y="1219200"/>
            <a:ext cx="24765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238125" y="1333500"/>
            <a:ext cx="790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333333"/>
                </a:solidFill>
              </a:rPr>
              <a:t>過度な依存は禁物。AIを「信頼できない優秀なアシスタント」として活用する視点が重要</a:t>
            </a:r>
            <a:endParaRPr sz="1800">
              <a:solidFill>
                <a:srgbClr val="333333"/>
              </a:solidFill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238125" y="1981200"/>
            <a:ext cx="86679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</a:t>
            </a:r>
            <a:r>
              <a:rPr b="1" lang="ja">
                <a:solidFill>
                  <a:srgbClr val="333333"/>
                </a:solidFill>
              </a:rPr>
              <a:t>革新性</a:t>
            </a:r>
            <a:r>
              <a:rPr lang="ja">
                <a:solidFill>
                  <a:srgbClr val="333333"/>
                </a:solidFill>
              </a:rPr>
              <a:t>: AIのスプレッドシート統合は、</a:t>
            </a:r>
            <a:r>
              <a:rPr b="1" lang="ja">
                <a:solidFill>
                  <a:srgbClr val="4285F4"/>
                </a:solidFill>
              </a:rPr>
              <a:t>業務効率化の大きな一歩</a:t>
            </a:r>
            <a:endParaRPr b="1">
              <a:solidFill>
                <a:srgbClr val="4285F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</a:t>
            </a:r>
            <a:r>
              <a:rPr b="1" lang="ja">
                <a:solidFill>
                  <a:srgbClr val="333333"/>
                </a:solidFill>
              </a:rPr>
              <a:t>信頼性</a:t>
            </a:r>
            <a:r>
              <a:rPr lang="ja">
                <a:solidFill>
                  <a:srgbClr val="333333"/>
                </a:solidFill>
              </a:rPr>
              <a:t>: 現段階では幻覚リスクが大きく、</a:t>
            </a:r>
            <a:r>
              <a:rPr b="1" lang="ja">
                <a:solidFill>
                  <a:srgbClr val="4285F4"/>
                </a:solidFill>
              </a:rPr>
              <a:t>核心業務での利用は危険</a:t>
            </a:r>
            <a:endParaRPr b="1">
              <a:solidFill>
                <a:srgbClr val="4285F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">
                <a:solidFill>
                  <a:srgbClr val="333333"/>
                </a:solidFill>
              </a:rPr>
              <a:t>• </a:t>
            </a:r>
            <a:r>
              <a:rPr b="1" lang="ja">
                <a:solidFill>
                  <a:srgbClr val="333333"/>
                </a:solidFill>
              </a:rPr>
              <a:t>影響</a:t>
            </a:r>
            <a:r>
              <a:rPr lang="ja">
                <a:solidFill>
                  <a:srgbClr val="333333"/>
                </a:solidFill>
              </a:rPr>
              <a:t>: AIの企業統合が加速する一方、倫理的・実用的な課題を提示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ja">
                <a:solidFill>
                  <a:srgbClr val="333333"/>
                </a:solidFill>
              </a:rPr>
              <a:t>• </a:t>
            </a:r>
            <a:r>
              <a:rPr b="1" lang="ja">
                <a:solidFill>
                  <a:srgbClr val="333333"/>
                </a:solidFill>
              </a:rPr>
              <a:t>将来性</a:t>
            </a:r>
            <a:r>
              <a:rPr lang="ja">
                <a:solidFill>
                  <a:srgbClr val="333333"/>
                </a:solidFill>
              </a:rPr>
              <a:t>: 今後の精度向上（例: GPT-5統合など）に大きな期待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"/>
          <p:cNvSpPr txBox="1"/>
          <p:nvPr/>
        </p:nvSpPr>
        <p:spPr>
          <a:xfrm>
            <a:off x="142875" y="4810125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333333"/>
                </a:solidFill>
              </a:rPr>
              <a:t>© 2025 Your Organization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8524875" y="4810125"/>
            <a:ext cx="4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rgbClr val="4285F4"/>
                </a:solidFill>
              </a:rPr>
              <a:t>12</a:t>
            </a:r>
            <a:endParaRPr sz="9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75" y="1845515"/>
            <a:ext cx="4286249" cy="1452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