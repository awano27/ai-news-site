
<file path=[Content_Types].xml><?xml version="1.0" encoding="utf-8"?>
<Types xmlns="http://schemas.openxmlformats.org/package/2006/content-types">
  <Default ContentType="application/xml" Extension="xml"/>
  <Default ContentType="image/png" Extension="png"/>
  <Default ContentType="application/vnd.openxmlformats-package.relationships+xml" Extension="rels"/>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7.xml"/>
  <Override ContentType="application/vnd.openxmlformats-officedocument.presentationml.notesSlide+xml" PartName="/ppt/notesSlides/notesSlide11.xml"/>
  <Override ContentType="application/vnd.openxmlformats-officedocument.presentationml.notesSlide+xml" PartName="/ppt/notesSlides/notesSlide5.xml"/>
  <Override ContentType="application/vnd.openxmlformats-officedocument.presentationml.notesSlide+xml" PartName="/ppt/notesSlides/notesSlide12.xml"/>
  <Override ContentType="application/vnd.openxmlformats-officedocument.presentationml.notesSlide+xml" PartName="/ppt/notesSlides/notesSlide8.xml"/>
  <Override ContentType="application/vnd.openxmlformats-officedocument.presentationml.notesSlide+xml" PartName="/ppt/notesSlides/notesSlide14.xml"/>
  <Override ContentType="application/vnd.openxmlformats-officedocument.presentationml.notesSlide+xml" PartName="/ppt/notesSlides/notesSlide2.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7.xml"/>
  <Override ContentType="application/vnd.openxmlformats-officedocument.presentationml.slide+xml" PartName="/ppt/slides/slide12.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8.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strictFirstAndLastChars="0" saveSubsetFonts="1">
  <p:sldMasterIdLst>
    <p:sldMasterId id="2147483659" r:id="rId4"/>
  </p:sldMasterIdLst>
  <p:notesMasterIdLst>
    <p:notesMasterId r:id="rId5"/>
  </p:notes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Lst>
  <p:sldSz cy="5143500" cx="9144000"/>
  <p:notesSz cx="6858000" cy="9144000"/>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747775"/>
          </p15:clr>
        </p15:guide>
        <p15:guide id="2" pos="2880">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11" Type="http://schemas.openxmlformats.org/officeDocument/2006/relationships/slide" Target="slides/slide6.xml"/><Relationship Id="rId10" Type="http://schemas.openxmlformats.org/officeDocument/2006/relationships/slide" Target="slides/slide5.xml"/><Relationship Id="rId13" Type="http://schemas.openxmlformats.org/officeDocument/2006/relationships/slide" Target="slides/slide8.xml"/><Relationship Id="rId12" Type="http://schemas.openxmlformats.org/officeDocument/2006/relationships/slide" Target="slides/slide7.xml"/><Relationship Id="rId1" Type="http://schemas.openxmlformats.org/officeDocument/2006/relationships/theme" Target="theme/theme1.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4.xml"/><Relationship Id="rId15" Type="http://schemas.openxmlformats.org/officeDocument/2006/relationships/slide" Target="slides/slide10.xml"/><Relationship Id="rId14" Type="http://schemas.openxmlformats.org/officeDocument/2006/relationships/slide" Target="slides/slide9.xml"/><Relationship Id="rId17" Type="http://schemas.openxmlformats.org/officeDocument/2006/relationships/slide" Target="slides/slide12.xml"/><Relationship Id="rId16" Type="http://schemas.openxmlformats.org/officeDocument/2006/relationships/slide" Target="slides/slide11.xml"/><Relationship Id="rId5" Type="http://schemas.openxmlformats.org/officeDocument/2006/relationships/notesMaster" Target="notesMasters/notesMaster1.xml"/><Relationship Id="rId19" Type="http://schemas.openxmlformats.org/officeDocument/2006/relationships/slide" Target="slides/slide14.xml"/><Relationship Id="rId6" Type="http://schemas.openxmlformats.org/officeDocument/2006/relationships/slide" Target="slides/slide1.xml"/><Relationship Id="rId18" Type="http://schemas.openxmlformats.org/officeDocument/2006/relationships/slide" Target="slides/slide13.xml"/><Relationship Id="rId7" Type="http://schemas.openxmlformats.org/officeDocument/2006/relationships/slide" Target="slides/slide2.xml"/><Relationship Id="rId8" Type="http://schemas.openxmlformats.org/officeDocument/2006/relationships/slide" Target="slides/slide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0" name="Shape 50"/>
        <p:cNvGrpSpPr/>
        <p:nvPr/>
      </p:nvGrpSpPr>
      <p:grpSpPr>
        <a:xfrm>
          <a:off x="0" y="0"/>
          <a:ext cx="0" cy="0"/>
          <a:chOff x="0" y="0"/>
          <a:chExt cx="0" cy="0"/>
        </a:xfrm>
      </p:grpSpPr>
      <p:sp>
        <p:nvSpPr>
          <p:cNvPr id="51" name="Google Shape;51;SLIDES_API226806952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2" name="Google Shape;52;SLIDES_API226806952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ja"/>
              <a:t>本日は、直近24時間で最もインパクトのあったAIニュース、GoogleによるGemini 2.5 Flash Image、通称「nano-banana」の発表について、その要点と影響を速報ベースで解説します。</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8" name="Shape 58"/>
        <p:cNvGrpSpPr/>
        <p:nvPr/>
      </p:nvGrpSpPr>
      <p:grpSpPr>
        <a:xfrm>
          <a:off x="0" y="0"/>
          <a:ext cx="0" cy="0"/>
          <a:chOff x="0" y="0"/>
          <a:chExt cx="0" cy="0"/>
        </a:xfrm>
      </p:grpSpPr>
      <p:sp>
        <p:nvSpPr>
          <p:cNvPr id="59" name="Google Shape;59;SLIDES_API226806952_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0" name="Google Shape;60;SLIDES_API226806952_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ja"/>
              <a:t>本日のアジェンダです。まず発表の全体像を掴み、次に開発者とビジネスユーザー、それぞれの視点での影響を分析します。最後に全体を総括し、明日から取るべきアクションを提案します。</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9" name="Shape 69"/>
        <p:cNvGrpSpPr/>
        <p:nvPr/>
      </p:nvGrpSpPr>
      <p:grpSpPr>
        <a:xfrm>
          <a:off x="0" y="0"/>
          <a:ext cx="0" cy="0"/>
          <a:chOff x="0" y="0"/>
          <a:chExt cx="0" cy="0"/>
        </a:xfrm>
      </p:grpSpPr>
      <p:sp>
        <p:nvSpPr>
          <p:cNvPr id="70" name="Google Shape;70;SLIDES_API226806952_1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1" name="Google Shape;71;SLIDES_API226806952_1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ja"/>
              <a:t>最初のセクションです。今回のGoogleの発表において、具体的に何が公開され、何が可能になったのか、その全体像を主要なポイントに絞ってご説明します。</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7" name="Shape 77"/>
        <p:cNvGrpSpPr/>
        <p:nvPr/>
      </p:nvGrpSpPr>
      <p:grpSpPr>
        <a:xfrm>
          <a:off x="0" y="0"/>
          <a:ext cx="0" cy="0"/>
          <a:chOff x="0" y="0"/>
          <a:chExt cx="0" cy="0"/>
        </a:xfrm>
      </p:grpSpPr>
      <p:sp>
        <p:nvSpPr>
          <p:cNvPr id="78" name="Google Shape;78;SLIDES_API226806952_2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9" name="Google Shape;79;SLIDES_API226806952_2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ja"/>
              <a:t>今回の発表の ключевые моментыは、単なる新技術の公開に留まらない点です。一般向けアプリ、開発者向けAPI、そしてAdobeという巨大エコシステムへの展開が「同日」に行われました。これにより、誰もが即座にその価値を体験できる状態が作られました。</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4" name="Shape 94"/>
        <p:cNvGrpSpPr/>
        <p:nvPr/>
      </p:nvGrpSpPr>
      <p:grpSpPr>
        <a:xfrm>
          <a:off x="0" y="0"/>
          <a:ext cx="0" cy="0"/>
          <a:chOff x="0" y="0"/>
          <a:chExt cx="0" cy="0"/>
        </a:xfrm>
      </p:grpSpPr>
      <p:sp>
        <p:nvSpPr>
          <p:cNvPr id="95" name="Google Shape;95;SLIDES_API226806952_4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6" name="Google Shape;96;SLIDES_API226806952_4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ja"/>
              <a:t>次に、我々エンジニアの視点から、この発表が開発現場にどのようなインパクトをもたらすのかを具体的に掘り下げていきます。</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2" name="Shape 102"/>
        <p:cNvGrpSpPr/>
        <p:nvPr/>
      </p:nvGrpSpPr>
      <p:grpSpPr>
        <a:xfrm>
          <a:off x="0" y="0"/>
          <a:ext cx="0" cy="0"/>
          <a:chOff x="0" y="0"/>
          <a:chExt cx="0" cy="0"/>
        </a:xfrm>
      </p:grpSpPr>
      <p:sp>
        <p:nvSpPr>
          <p:cNvPr id="103" name="Google Shape;103;SLIDES_API226806952_4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04" name="Google Shape;104;SLIDES_API226806952_4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ja"/>
              <a:t>エンジニアにとって、このモデルは「すぐ使える」点が最大の魅力です。APIドキュメントとSDKが初日から揃っており、価格も透明性が高い。さらに、Vertex AIでの提供は、エンタープライズ環境でのガバナンスや運用を強力にサポートします。</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9" name="Shape 119"/>
        <p:cNvGrpSpPr/>
        <p:nvPr/>
      </p:nvGrpSpPr>
      <p:grpSpPr>
        <a:xfrm>
          <a:off x="0" y="0"/>
          <a:ext cx="0" cy="0"/>
          <a:chOff x="0" y="0"/>
          <a:chExt cx="0" cy="0"/>
        </a:xfrm>
      </p:grpSpPr>
      <p:sp>
        <p:nvSpPr>
          <p:cNvPr id="120" name="Google Shape;120;SLIDES_API226806952_6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21" name="Google Shape;121;SLIDES_API226806952_6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ja"/>
              <a:t>こちらが公式ドキュメントに記載されているPythonでの最小実装コードです。まず `pip install` で必要なライブラリをインストールし、APIキーを設定。あとはこの数行のコードを実行するだけで、手元の画像をプロンプトで編集できます。生成された画像は、SynthIDの検出ポータルで透かしの有無を確認することも可能です。</a:t>
            </a:r>
            <a:endParaRPr/>
          </a:p>
          <a:p>
            <a:pPr indent="0" lvl="0" marL="0" rtl="0" algn="l">
              <a:spcBef>
                <a:spcPts val="0"/>
              </a:spcBef>
              <a:spcAft>
                <a:spcPts val="0"/>
              </a:spcAft>
              <a:buNone/>
            </a:pPr>
            <a:r>
              <a:t/>
            </a:r>
            <a:endParaRPr/>
          </a:p>
          <a:p>
            <a:pPr indent="0" lvl="0" marL="0" rtl="0" algn="l">
              <a:spcBef>
                <a:spcPts val="0"/>
              </a:spcBef>
              <a:spcAft>
                <a:spcPts val="0"/>
              </a:spcAft>
              <a:buNone/>
            </a:pPr>
            <a:r>
              <a:rPr lang="ja"/>
              <a:t>```python</a:t>
            </a:r>
            <a:endParaRPr/>
          </a:p>
          <a:p>
            <a:pPr indent="0" lvl="0" marL="0" rtl="0" algn="l">
              <a:spcBef>
                <a:spcPts val="0"/>
              </a:spcBef>
              <a:spcAft>
                <a:spcPts val="0"/>
              </a:spcAft>
              <a:buNone/>
            </a:pPr>
            <a:r>
              <a:rPr lang="ja"/>
              <a:t># pip install google-genai pillow</a:t>
            </a:r>
            <a:endParaRPr/>
          </a:p>
          <a:p>
            <a:pPr indent="0" lvl="0" marL="0" rtl="0" algn="l">
              <a:spcBef>
                <a:spcPts val="0"/>
              </a:spcBef>
              <a:spcAft>
                <a:spcPts val="0"/>
              </a:spcAft>
              <a:buNone/>
            </a:pPr>
            <a:r>
              <a:rPr lang="ja"/>
              <a:t>from google import genai</a:t>
            </a:r>
            <a:endParaRPr/>
          </a:p>
          <a:p>
            <a:pPr indent="0" lvl="0" marL="0" rtl="0" algn="l">
              <a:spcBef>
                <a:spcPts val="0"/>
              </a:spcBef>
              <a:spcAft>
                <a:spcPts val="0"/>
              </a:spcAft>
              <a:buNone/>
            </a:pPr>
            <a:r>
              <a:rPr lang="ja"/>
              <a:t>from PIL import Image</a:t>
            </a:r>
            <a:endParaRPr/>
          </a:p>
          <a:p>
            <a:pPr indent="0" lvl="0" marL="0" rtl="0" algn="l">
              <a:spcBef>
                <a:spcPts val="0"/>
              </a:spcBef>
              <a:spcAft>
                <a:spcPts val="0"/>
              </a:spcAft>
              <a:buNone/>
            </a:pPr>
            <a:r>
              <a:rPr lang="ja"/>
              <a:t>from io import BytesIO</a:t>
            </a:r>
            <a:endParaRPr/>
          </a:p>
          <a:p>
            <a:pPr indent="0" lvl="0" marL="0" rtl="0" algn="l">
              <a:spcBef>
                <a:spcPts val="0"/>
              </a:spcBef>
              <a:spcAft>
                <a:spcPts val="0"/>
              </a:spcAft>
              <a:buNone/>
            </a:pPr>
            <a:r>
              <a:t/>
            </a:r>
            <a:endParaRPr/>
          </a:p>
          <a:p>
            <a:pPr indent="0" lvl="0" marL="0" rtl="0" algn="l">
              <a:spcBef>
                <a:spcPts val="0"/>
              </a:spcBef>
              <a:spcAft>
                <a:spcPts val="0"/>
              </a:spcAft>
              <a:buNone/>
            </a:pPr>
            <a:r>
              <a:rPr lang="ja"/>
              <a:t>client = genai.Client() # 環境変数 GOOGLE_API_KEY を使用</a:t>
            </a:r>
            <a:endParaRPr/>
          </a:p>
          <a:p>
            <a:pPr indent="0" lvl="0" marL="0" rtl="0" algn="l">
              <a:spcBef>
                <a:spcPts val="0"/>
              </a:spcBef>
              <a:spcAft>
                <a:spcPts val="0"/>
              </a:spcAft>
              <a:buNone/>
            </a:pPr>
            <a:r>
              <a:rPr lang="ja"/>
              <a:t>prompt = "背景を夜景に差し替え、被写体の顔の特徴は維持して"</a:t>
            </a:r>
            <a:endParaRPr/>
          </a:p>
          <a:p>
            <a:pPr indent="0" lvl="0" marL="0" rtl="0" algn="l">
              <a:spcBef>
                <a:spcPts val="0"/>
              </a:spcBef>
              <a:spcAft>
                <a:spcPts val="0"/>
              </a:spcAft>
              <a:buNone/>
            </a:pPr>
            <a:r>
              <a:t/>
            </a:r>
            <a:endParaRPr/>
          </a:p>
          <a:p>
            <a:pPr indent="0" lvl="0" marL="0" rtl="0" algn="l">
              <a:spcBef>
                <a:spcPts val="0"/>
              </a:spcBef>
              <a:spcAft>
                <a:spcPts val="0"/>
              </a:spcAft>
              <a:buNone/>
            </a:pPr>
            <a:r>
              <a:rPr lang="ja"/>
              <a:t>src = Image.open("input.jpg")</a:t>
            </a:r>
            <a:endParaRPr/>
          </a:p>
          <a:p>
            <a:pPr indent="0" lvl="0" marL="0" rtl="0" algn="l">
              <a:spcBef>
                <a:spcPts val="0"/>
              </a:spcBef>
              <a:spcAft>
                <a:spcPts val="0"/>
              </a:spcAft>
              <a:buNone/>
            </a:pPr>
            <a:r>
              <a:rPr lang="ja"/>
              <a:t>resp = client.models.generate_content(</a:t>
            </a:r>
            <a:endParaRPr/>
          </a:p>
          <a:p>
            <a:pPr indent="0" lvl="0" marL="0" rtl="0" algn="l">
              <a:spcBef>
                <a:spcPts val="0"/>
              </a:spcBef>
              <a:spcAft>
                <a:spcPts val="0"/>
              </a:spcAft>
              <a:buNone/>
            </a:pPr>
            <a:r>
              <a:rPr lang="ja"/>
              <a:t>    model="gemini-2.5-flash-image-preview",</a:t>
            </a:r>
            <a:endParaRPr/>
          </a:p>
          <a:p>
            <a:pPr indent="0" lvl="0" marL="0" rtl="0" algn="l">
              <a:spcBef>
                <a:spcPts val="0"/>
              </a:spcBef>
              <a:spcAft>
                <a:spcPts val="0"/>
              </a:spcAft>
              <a:buNone/>
            </a:pPr>
            <a:r>
              <a:rPr lang="ja"/>
              <a:t>    contents=[prompt, src],</a:t>
            </a:r>
            <a:endParaRPr/>
          </a:p>
          <a:p>
            <a:pPr indent="0" lvl="0" marL="0" rtl="0" algn="l">
              <a:spcBef>
                <a:spcPts val="0"/>
              </a:spcBef>
              <a:spcAft>
                <a:spcPts val="0"/>
              </a:spcAft>
              <a:buNone/>
            </a:pPr>
            <a:r>
              <a:rPr lang="ja"/>
              <a:t>)</a:t>
            </a:r>
            <a:endParaRPr/>
          </a:p>
          <a:p>
            <a:pPr indent="0" lvl="0" marL="0" rtl="0" algn="l">
              <a:spcBef>
                <a:spcPts val="0"/>
              </a:spcBef>
              <a:spcAft>
                <a:spcPts val="0"/>
              </a:spcAft>
              <a:buNone/>
            </a:pPr>
            <a:r>
              <a:rPr lang="ja"/>
              <a:t>for part in resp.candidates[0].content.parts:</a:t>
            </a:r>
            <a:endParaRPr/>
          </a:p>
          <a:p>
            <a:pPr indent="0" lvl="0" marL="0" rtl="0" algn="l">
              <a:spcBef>
                <a:spcPts val="0"/>
              </a:spcBef>
              <a:spcAft>
                <a:spcPts val="0"/>
              </a:spcAft>
              <a:buNone/>
            </a:pPr>
            <a:r>
              <a:rPr lang="ja"/>
              <a:t>    if getattr(part, "inline_data", None):</a:t>
            </a:r>
            <a:endParaRPr/>
          </a:p>
          <a:p>
            <a:pPr indent="0" lvl="0" marL="0" rtl="0" algn="l">
              <a:spcBef>
                <a:spcPts val="0"/>
              </a:spcBef>
              <a:spcAft>
                <a:spcPts val="0"/>
              </a:spcAft>
              <a:buNone/>
            </a:pPr>
            <a:r>
              <a:rPr lang="ja"/>
              <a:t>        Image.open(BytesIO(part.inline_data.data)).save("output.jpg")</a:t>
            </a:r>
            <a:endParaRPr/>
          </a:p>
          <a:p>
            <a:pPr indent="0" lvl="0" marL="0" rtl="0" algn="l">
              <a:spcBef>
                <a:spcPts val="0"/>
              </a:spcBef>
              <a:spcAft>
                <a:spcPts val="0"/>
              </a:spcAft>
              <a:buNone/>
            </a:pPr>
            <a:r>
              <a:rPr lang="ja"/>
              <a:t>```</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1" name="Shape 131"/>
        <p:cNvGrpSpPr/>
        <p:nvPr/>
      </p:nvGrpSpPr>
      <p:grpSpPr>
        <a:xfrm>
          <a:off x="0" y="0"/>
          <a:ext cx="0" cy="0"/>
          <a:chOff x="0" y="0"/>
          <a:chExt cx="0" cy="0"/>
        </a:xfrm>
      </p:grpSpPr>
      <p:sp>
        <p:nvSpPr>
          <p:cNvPr id="132" name="Google Shape;132;SLIDES_API226806952_7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33" name="Google Shape;133;SLIDES_API226806952_7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ja"/>
              <a:t>開発者だけでなく、ビジネスサイドや企画、マーケティング担当者、そして一般のユーザーにとっても、今回のアップデートは日々の業務やクリエイティブ活動を大きく変える可能性を秘めています。</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9" name="Shape 139"/>
        <p:cNvGrpSpPr/>
        <p:nvPr/>
      </p:nvGrpSpPr>
      <p:grpSpPr>
        <a:xfrm>
          <a:off x="0" y="0"/>
          <a:ext cx="0" cy="0"/>
          <a:chOff x="0" y="0"/>
          <a:chExt cx="0" cy="0"/>
        </a:xfrm>
      </p:grpSpPr>
      <p:sp>
        <p:nvSpPr>
          <p:cNvPr id="140" name="Google Shape;140;SLIDES_API226806952_8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41" name="Google Shape;141;SLIDES_API226806952_8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ja"/>
              <a:t>ビジネスの観点では、専門知識がなくても高度な画像編集が可能になる点が大きいです。特に、Adobe製品との連携は、日頃からSNS投稿や広告クリエイティブを作成しているチームにとって、作業時間を劇的に短縮する切り札となり得ます。</a:t>
            </a: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1" name="Shape 151"/>
        <p:cNvGrpSpPr/>
        <p:nvPr/>
      </p:nvGrpSpPr>
      <p:grpSpPr>
        <a:xfrm>
          <a:off x="0" y="0"/>
          <a:ext cx="0" cy="0"/>
          <a:chOff x="0" y="0"/>
          <a:chExt cx="0" cy="0"/>
        </a:xfrm>
      </p:grpSpPr>
      <p:sp>
        <p:nvSpPr>
          <p:cNvPr id="152" name="Google Shape;152;SLIDES_API226806952_9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53" name="Google Shape;153;SLIDES_API226806952_9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ja"/>
              <a:t>最後に、今回の発表の重要性を改めて評価し、皆さんが明日から何をすべきかを具体的なアクションプランとして提示します。</a:t>
            </a: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9" name="Shape 159"/>
        <p:cNvGrpSpPr/>
        <p:nvPr/>
      </p:nvGrpSpPr>
      <p:grpSpPr>
        <a:xfrm>
          <a:off x="0" y="0"/>
          <a:ext cx="0" cy="0"/>
          <a:chOff x="0" y="0"/>
          <a:chExt cx="0" cy="0"/>
        </a:xfrm>
      </p:grpSpPr>
      <p:sp>
        <p:nvSpPr>
          <p:cNvPr id="160" name="Google Shape;160;SLIDES_API226806952_9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61" name="Google Shape;161;SLIDES_API226806952_9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ja"/>
              <a:t>このニュースがなぜ重要か。それは、技術のすごさ以上に「導入のハードル」を極限まで下げた点にあります。誰もが、それぞれの立場で、今日から試せる。そして、Adobeとの連携のように、すぐに業務改善に繋がる道筋が示されている。このスピード感こそが最大の価値です。</a:t>
            </a: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1" name="Shape 171"/>
        <p:cNvGrpSpPr/>
        <p:nvPr/>
      </p:nvGrpSpPr>
      <p:grpSpPr>
        <a:xfrm>
          <a:off x="0" y="0"/>
          <a:ext cx="0" cy="0"/>
          <a:chOff x="0" y="0"/>
          <a:chExt cx="0" cy="0"/>
        </a:xfrm>
      </p:grpSpPr>
      <p:sp>
        <p:nvSpPr>
          <p:cNvPr id="172" name="Google Shape;172;SLIDES_API226806952_11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73" name="Google Shape;173;SLIDES_API226806952_11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ja"/>
              <a:t>では、具体的に何から始めるか。個人やビジネスユーザーの方は、まずGeminiアプリを触ってみるのが一番です。開発者の方は、APIで簡単なPoCを。そして企業として本格導入を検討するなら、Vertex AIでの管理体制構築が王道となります。</a:t>
            </a: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0" name="Shape 200"/>
        <p:cNvGrpSpPr/>
        <p:nvPr/>
      </p:nvGrpSpPr>
      <p:grpSpPr>
        <a:xfrm>
          <a:off x="0" y="0"/>
          <a:ext cx="0" cy="0"/>
          <a:chOff x="0" y="0"/>
          <a:chExt cx="0" cy="0"/>
        </a:xfrm>
      </p:grpSpPr>
      <p:sp>
        <p:nvSpPr>
          <p:cNvPr id="201" name="Google Shape;201;SLIDES_API226806952_13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02" name="Google Shape;202;SLIDES_API226806952_13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ja"/>
              <a:t>最後に注意点です。このモデルはまだプレビュー版であり、今後変更の可能性があります。また、SynthIDによる透かしは万能ではありません。生成AIを利用する上での基本的な権利への配慮と、組織としてのガイドライン整備は、これまで通り重要です。</a:t>
            </a: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2" name="Shape 212"/>
        <p:cNvGrpSpPr/>
        <p:nvPr/>
      </p:nvGrpSpPr>
      <p:grpSpPr>
        <a:xfrm>
          <a:off x="0" y="0"/>
          <a:ext cx="0" cy="0"/>
          <a:chOff x="0" y="0"/>
          <a:chExt cx="0" cy="0"/>
        </a:xfrm>
      </p:grpSpPr>
      <p:sp>
        <p:nvSpPr>
          <p:cNvPr id="213" name="Google Shape;213;SLIDES_API226806952_14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14" name="Google Shape;214;SLIDES_API226806952_14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ja"/>
              <a:t>ご清聴いただき、誠にありがとうございました。今回のGemini 2.5 Flash Imageの登場は、画像生成AIの活用を新たなステージへと引き上げるものです。この情報が、皆様の今後の活動の一助となれば幸いです。何かご質問はございますでしょうか。</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9" name="Shape 9"/>
        <p:cNvGrpSpPr/>
        <p:nvPr/>
      </p:nvGrpSpPr>
      <p:grpSpPr>
        <a:xfrm>
          <a:off x="0" y="0"/>
          <a:ext cx="0" cy="0"/>
          <a:chOff x="0" y="0"/>
          <a:chExt cx="0" cy="0"/>
        </a:xfrm>
      </p:grpSpPr>
      <p:sp>
        <p:nvSpPr>
          <p:cNvPr id="10" name="Google Shape;10;p2"/>
          <p:cNvSpPr txBox="1"/>
          <p:nvPr>
            <p:ph type="ctrTitle"/>
          </p:nvPr>
        </p:nvSpPr>
        <p:spPr>
          <a:xfrm>
            <a:off x="311708" y="744575"/>
            <a:ext cx="8520600" cy="2052600"/>
          </a:xfrm>
          <a:prstGeom prst="rect">
            <a:avLst/>
          </a:prstGeom>
        </p:spPr>
        <p:txBody>
          <a:bodyPr anchorCtr="0" anchor="b" bIns="91425" lIns="91425" spcFirstLastPara="1" rIns="91425" wrap="square" tIns="91425">
            <a:normAutofit/>
          </a:bodyPr>
          <a:lstStyle>
            <a:lvl1pPr lvl="0" algn="ctr">
              <a:spcBef>
                <a:spcPts val="0"/>
              </a:spcBef>
              <a:spcAft>
                <a:spcPts val="0"/>
              </a:spcAft>
              <a:buSzPts val="5200"/>
              <a:buNone/>
              <a:defRPr sz="5200"/>
            </a:lvl1pPr>
            <a:lvl2pPr lvl="1" algn="ctr">
              <a:spcBef>
                <a:spcPts val="0"/>
              </a:spcBef>
              <a:spcAft>
                <a:spcPts val="0"/>
              </a:spcAft>
              <a:buSzPts val="5200"/>
              <a:buNone/>
              <a:defRPr sz="5200"/>
            </a:lvl2pPr>
            <a:lvl3pPr lvl="2" algn="ctr">
              <a:spcBef>
                <a:spcPts val="0"/>
              </a:spcBef>
              <a:spcAft>
                <a:spcPts val="0"/>
              </a:spcAft>
              <a:buSzPts val="5200"/>
              <a:buNone/>
              <a:defRPr sz="5200"/>
            </a:lvl3pPr>
            <a:lvl4pPr lvl="3" algn="ctr">
              <a:spcBef>
                <a:spcPts val="0"/>
              </a:spcBef>
              <a:spcAft>
                <a:spcPts val="0"/>
              </a:spcAft>
              <a:buSzPts val="5200"/>
              <a:buNone/>
              <a:defRPr sz="5200"/>
            </a:lvl4pPr>
            <a:lvl5pPr lvl="4" algn="ctr">
              <a:spcBef>
                <a:spcPts val="0"/>
              </a:spcBef>
              <a:spcAft>
                <a:spcPts val="0"/>
              </a:spcAft>
              <a:buSzPts val="5200"/>
              <a:buNone/>
              <a:defRPr sz="5200"/>
            </a:lvl5pPr>
            <a:lvl6pPr lvl="5" algn="ctr">
              <a:spcBef>
                <a:spcPts val="0"/>
              </a:spcBef>
              <a:spcAft>
                <a:spcPts val="0"/>
              </a:spcAft>
              <a:buSzPts val="5200"/>
              <a:buNone/>
              <a:defRPr sz="5200"/>
            </a:lvl6pPr>
            <a:lvl7pPr lvl="6" algn="ctr">
              <a:spcBef>
                <a:spcPts val="0"/>
              </a:spcBef>
              <a:spcAft>
                <a:spcPts val="0"/>
              </a:spcAft>
              <a:buSzPts val="5200"/>
              <a:buNone/>
              <a:defRPr sz="5200"/>
            </a:lvl7pPr>
            <a:lvl8pPr lvl="7" algn="ctr">
              <a:spcBef>
                <a:spcPts val="0"/>
              </a:spcBef>
              <a:spcAft>
                <a:spcPts val="0"/>
              </a:spcAft>
              <a:buSzPts val="5200"/>
              <a:buNone/>
              <a:defRPr sz="5200"/>
            </a:lvl8pPr>
            <a:lvl9pPr lvl="8" algn="ctr">
              <a:spcBef>
                <a:spcPts val="0"/>
              </a:spcBef>
              <a:spcAft>
                <a:spcPts val="0"/>
              </a:spcAft>
              <a:buSzPts val="5200"/>
              <a:buNone/>
              <a:defRPr sz="5200"/>
            </a:lvl9pPr>
          </a:lstStyle>
          <a:p/>
        </p:txBody>
      </p:sp>
      <p:sp>
        <p:nvSpPr>
          <p:cNvPr id="11" name="Google Shape;11;p2"/>
          <p:cNvSpPr txBox="1"/>
          <p:nvPr>
            <p:ph idx="1" type="subTitle"/>
          </p:nvPr>
        </p:nvSpPr>
        <p:spPr>
          <a:xfrm>
            <a:off x="311700" y="2834125"/>
            <a:ext cx="8520600" cy="7926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800"/>
              <a:buNone/>
              <a:defRPr sz="28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p:txBody>
      </p:sp>
      <p:sp>
        <p:nvSpPr>
          <p:cNvPr id="12" name="Google Shape;12;p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ja"/>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13" name="Shape 13"/>
        <p:cNvGrpSpPr/>
        <p:nvPr/>
      </p:nvGrpSpPr>
      <p:grpSpPr>
        <a:xfrm>
          <a:off x="0" y="0"/>
          <a:ext cx="0" cy="0"/>
          <a:chOff x="0" y="0"/>
          <a:chExt cx="0" cy="0"/>
        </a:xfrm>
      </p:grpSpPr>
      <p:sp>
        <p:nvSpPr>
          <p:cNvPr id="14" name="Google Shape;14;p3"/>
          <p:cNvSpPr txBox="1"/>
          <p:nvPr>
            <p:ph type="title"/>
          </p:nvPr>
        </p:nvSpPr>
        <p:spPr>
          <a:xfrm>
            <a:off x="311700" y="2150850"/>
            <a:ext cx="8520600" cy="841800"/>
          </a:xfrm>
          <a:prstGeom prst="rect">
            <a:avLst/>
          </a:prstGeom>
        </p:spPr>
        <p:txBody>
          <a:bodyPr anchorCtr="0" anchor="ctr" bIns="91425" lIns="91425" spcFirstLastPara="1" rIns="91425" wrap="square" tIns="91425">
            <a:normAutofit/>
          </a:bodyPr>
          <a:lstStyle>
            <a:lvl1pPr lvl="0" algn="ctr">
              <a:spcBef>
                <a:spcPts val="0"/>
              </a:spcBef>
              <a:spcAft>
                <a:spcPts val="0"/>
              </a:spcAft>
              <a:buSzPts val="3600"/>
              <a:buNone/>
              <a:defRPr sz="36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p:txBody>
      </p:sp>
      <p:sp>
        <p:nvSpPr>
          <p:cNvPr id="15" name="Google Shape;15;p3"/>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ja"/>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16" name="Shape 16"/>
        <p:cNvGrpSpPr/>
        <p:nvPr/>
      </p:nvGrpSpPr>
      <p:grpSpPr>
        <a:xfrm>
          <a:off x="0" y="0"/>
          <a:ext cx="0" cy="0"/>
          <a:chOff x="0" y="0"/>
          <a:chExt cx="0" cy="0"/>
        </a:xfrm>
      </p:grpSpPr>
      <p:sp>
        <p:nvSpPr>
          <p:cNvPr id="17" name="Google Shape;17;p4"/>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18" name="Google Shape;18;p4"/>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19" name="Google Shape;19;p4"/>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ja"/>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20" name="Shape 20"/>
        <p:cNvGrpSpPr/>
        <p:nvPr/>
      </p:nvGrpSpPr>
      <p:grpSpPr>
        <a:xfrm>
          <a:off x="0" y="0"/>
          <a:ext cx="0" cy="0"/>
          <a:chOff x="0" y="0"/>
          <a:chExt cx="0" cy="0"/>
        </a:xfrm>
      </p:grpSpPr>
      <p:sp>
        <p:nvSpPr>
          <p:cNvPr id="21" name="Google Shape;21;p5"/>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2" name="Google Shape;22;p5"/>
          <p:cNvSpPr txBox="1"/>
          <p:nvPr>
            <p:ph idx="1" type="body"/>
          </p:nvPr>
        </p:nvSpPr>
        <p:spPr>
          <a:xfrm>
            <a:off x="3117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3" name="Google Shape;23;p5"/>
          <p:cNvSpPr txBox="1"/>
          <p:nvPr>
            <p:ph idx="2" type="body"/>
          </p:nvPr>
        </p:nvSpPr>
        <p:spPr>
          <a:xfrm>
            <a:off x="48324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4" name="Google Shape;24;p5"/>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ja"/>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25" name="Shape 25"/>
        <p:cNvGrpSpPr/>
        <p:nvPr/>
      </p:nvGrpSpPr>
      <p:grpSpPr>
        <a:xfrm>
          <a:off x="0" y="0"/>
          <a:ext cx="0" cy="0"/>
          <a:chOff x="0" y="0"/>
          <a:chExt cx="0" cy="0"/>
        </a:xfrm>
      </p:grpSpPr>
      <p:sp>
        <p:nvSpPr>
          <p:cNvPr id="26" name="Google Shape;26;p6"/>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7" name="Google Shape;27;p6"/>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ja"/>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28" name="Shape 28"/>
        <p:cNvGrpSpPr/>
        <p:nvPr/>
      </p:nvGrpSpPr>
      <p:grpSpPr>
        <a:xfrm>
          <a:off x="0" y="0"/>
          <a:ext cx="0" cy="0"/>
          <a:chOff x="0" y="0"/>
          <a:chExt cx="0" cy="0"/>
        </a:xfrm>
      </p:grpSpPr>
      <p:sp>
        <p:nvSpPr>
          <p:cNvPr id="29" name="Google Shape;29;p7"/>
          <p:cNvSpPr txBox="1"/>
          <p:nvPr>
            <p:ph type="title"/>
          </p:nvPr>
        </p:nvSpPr>
        <p:spPr>
          <a:xfrm>
            <a:off x="311700" y="555600"/>
            <a:ext cx="2808000" cy="755700"/>
          </a:xfrm>
          <a:prstGeom prst="rect">
            <a:avLst/>
          </a:prstGeom>
        </p:spPr>
        <p:txBody>
          <a:bodyPr anchorCtr="0" anchor="b" bIns="91425" lIns="91425" spcFirstLastPara="1" rIns="91425" wrap="square" tIns="91425">
            <a:norm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p:txBody>
      </p:sp>
      <p:sp>
        <p:nvSpPr>
          <p:cNvPr id="30" name="Google Shape;30;p7"/>
          <p:cNvSpPr txBox="1"/>
          <p:nvPr>
            <p:ph idx="1" type="body"/>
          </p:nvPr>
        </p:nvSpPr>
        <p:spPr>
          <a:xfrm>
            <a:off x="311700" y="1389600"/>
            <a:ext cx="2808000" cy="3179400"/>
          </a:xfrm>
          <a:prstGeom prst="rect">
            <a:avLst/>
          </a:prstGeom>
        </p:spPr>
        <p:txBody>
          <a:bodyPr anchorCtr="0" anchor="t" bIns="91425" lIns="91425" spcFirstLastPara="1" rIns="91425" wrap="square" tIns="91425">
            <a:normAutofit/>
          </a:bodyPr>
          <a:lstStyle>
            <a:lvl1pPr indent="-304800" lvl="0" marL="457200">
              <a:spcBef>
                <a:spcPts val="0"/>
              </a:spcBef>
              <a:spcAft>
                <a:spcPts val="0"/>
              </a:spcAft>
              <a:buSzPts val="1200"/>
              <a:buChar char="●"/>
              <a:defRPr sz="12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31" name="Google Shape;31;p7"/>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ja"/>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32" name="Shape 32"/>
        <p:cNvGrpSpPr/>
        <p:nvPr/>
      </p:nvGrpSpPr>
      <p:grpSpPr>
        <a:xfrm>
          <a:off x="0" y="0"/>
          <a:ext cx="0" cy="0"/>
          <a:chOff x="0" y="0"/>
          <a:chExt cx="0" cy="0"/>
        </a:xfrm>
      </p:grpSpPr>
      <p:sp>
        <p:nvSpPr>
          <p:cNvPr id="33" name="Google Shape;33;p8"/>
          <p:cNvSpPr txBox="1"/>
          <p:nvPr>
            <p:ph type="title"/>
          </p:nvPr>
        </p:nvSpPr>
        <p:spPr>
          <a:xfrm>
            <a:off x="490250" y="450150"/>
            <a:ext cx="6367800" cy="4090800"/>
          </a:xfrm>
          <a:prstGeom prst="rect">
            <a:avLst/>
          </a:prstGeom>
        </p:spPr>
        <p:txBody>
          <a:bodyPr anchorCtr="0" anchor="ctr" bIns="91425" lIns="91425" spcFirstLastPara="1" rIns="91425" wrap="square" tIns="91425">
            <a:normAutofit/>
          </a:bodyPr>
          <a:lstStyle>
            <a:lvl1pPr lvl="0">
              <a:spcBef>
                <a:spcPts val="0"/>
              </a:spcBef>
              <a:spcAft>
                <a:spcPts val="0"/>
              </a:spcAft>
              <a:buSzPts val="4800"/>
              <a:buNone/>
              <a:defRPr sz="48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p:txBody>
      </p:sp>
      <p:sp>
        <p:nvSpPr>
          <p:cNvPr id="34" name="Google Shape;34;p8"/>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ja"/>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35" name="Shape 35"/>
        <p:cNvGrpSpPr/>
        <p:nvPr/>
      </p:nvGrpSpPr>
      <p:grpSpPr>
        <a:xfrm>
          <a:off x="0" y="0"/>
          <a:ext cx="0" cy="0"/>
          <a:chOff x="0" y="0"/>
          <a:chExt cx="0" cy="0"/>
        </a:xfrm>
      </p:grpSpPr>
      <p:sp>
        <p:nvSpPr>
          <p:cNvPr id="36" name="Google Shape;36;p9"/>
          <p:cNvSpPr/>
          <p:nvPr/>
        </p:nvSpPr>
        <p:spPr>
          <a:xfrm>
            <a:off x="4572000" y="-125"/>
            <a:ext cx="4572000" cy="51435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 name="Google Shape;37;p9"/>
          <p:cNvSpPr txBox="1"/>
          <p:nvPr>
            <p:ph type="title"/>
          </p:nvPr>
        </p:nvSpPr>
        <p:spPr>
          <a:xfrm>
            <a:off x="265500" y="1233175"/>
            <a:ext cx="4045200" cy="1482300"/>
          </a:xfrm>
          <a:prstGeom prst="rect">
            <a:avLst/>
          </a:prstGeom>
        </p:spPr>
        <p:txBody>
          <a:bodyPr anchorCtr="0" anchor="b" bIns="91425" lIns="91425" spcFirstLastPara="1" rIns="91425" wrap="square" tIns="91425">
            <a:normAutofit/>
          </a:bodyPr>
          <a:lstStyle>
            <a:lvl1pPr lvl="0" algn="ctr">
              <a:spcBef>
                <a:spcPts val="0"/>
              </a:spcBef>
              <a:spcAft>
                <a:spcPts val="0"/>
              </a:spcAft>
              <a:buSzPts val="4200"/>
              <a:buNone/>
              <a:defRPr sz="4200"/>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p:txBody>
      </p:sp>
      <p:sp>
        <p:nvSpPr>
          <p:cNvPr id="38" name="Google Shape;38;p9"/>
          <p:cNvSpPr txBox="1"/>
          <p:nvPr>
            <p:ph idx="1" type="subTitle"/>
          </p:nvPr>
        </p:nvSpPr>
        <p:spPr>
          <a:xfrm>
            <a:off x="265500" y="2803075"/>
            <a:ext cx="4045200" cy="12351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p:txBody>
      </p:sp>
      <p:sp>
        <p:nvSpPr>
          <p:cNvPr id="39" name="Google Shape;39;p9"/>
          <p:cNvSpPr txBox="1"/>
          <p:nvPr>
            <p:ph idx="2" type="body"/>
          </p:nvPr>
        </p:nvSpPr>
        <p:spPr>
          <a:xfrm>
            <a:off x="4939500" y="724075"/>
            <a:ext cx="3837000" cy="3695100"/>
          </a:xfrm>
          <a:prstGeom prst="rect">
            <a:avLst/>
          </a:prstGeom>
        </p:spPr>
        <p:txBody>
          <a:bodyPr anchorCtr="0" anchor="ctr"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40" name="Google Shape;40;p9"/>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ja"/>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41" name="Shape 41"/>
        <p:cNvGrpSpPr/>
        <p:nvPr/>
      </p:nvGrpSpPr>
      <p:grpSpPr>
        <a:xfrm>
          <a:off x="0" y="0"/>
          <a:ext cx="0" cy="0"/>
          <a:chOff x="0" y="0"/>
          <a:chExt cx="0" cy="0"/>
        </a:xfrm>
      </p:grpSpPr>
      <p:sp>
        <p:nvSpPr>
          <p:cNvPr id="42" name="Google Shape;42;p10"/>
          <p:cNvSpPr txBox="1"/>
          <p:nvPr>
            <p:ph idx="1" type="body"/>
          </p:nvPr>
        </p:nvSpPr>
        <p:spPr>
          <a:xfrm>
            <a:off x="311700" y="4230575"/>
            <a:ext cx="5998800" cy="605100"/>
          </a:xfrm>
          <a:prstGeom prst="rect">
            <a:avLst/>
          </a:prstGeom>
        </p:spPr>
        <p:txBody>
          <a:bodyPr anchorCtr="0" anchor="ctr" bIns="91425" lIns="91425" spcFirstLastPara="1" rIns="91425" wrap="square" tIns="91425">
            <a:normAutofit/>
          </a:bodyPr>
          <a:lstStyle>
            <a:lvl1pPr indent="-228600" lvl="0" marL="457200">
              <a:lnSpc>
                <a:spcPct val="100000"/>
              </a:lnSpc>
              <a:spcBef>
                <a:spcPts val="0"/>
              </a:spcBef>
              <a:spcAft>
                <a:spcPts val="0"/>
              </a:spcAft>
              <a:buSzPts val="1800"/>
              <a:buNone/>
              <a:defRPr/>
            </a:lvl1pPr>
          </a:lstStyle>
          <a:p/>
        </p:txBody>
      </p:sp>
      <p:sp>
        <p:nvSpPr>
          <p:cNvPr id="43" name="Google Shape;43;p10"/>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ja"/>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44" name="Shape 44"/>
        <p:cNvGrpSpPr/>
        <p:nvPr/>
      </p:nvGrpSpPr>
      <p:grpSpPr>
        <a:xfrm>
          <a:off x="0" y="0"/>
          <a:ext cx="0" cy="0"/>
          <a:chOff x="0" y="0"/>
          <a:chExt cx="0" cy="0"/>
        </a:xfrm>
      </p:grpSpPr>
      <p:sp>
        <p:nvSpPr>
          <p:cNvPr id="45" name="Google Shape;45;p11"/>
          <p:cNvSpPr txBox="1"/>
          <p:nvPr>
            <p:ph hasCustomPrompt="1" type="title"/>
          </p:nvPr>
        </p:nvSpPr>
        <p:spPr>
          <a:xfrm>
            <a:off x="311700" y="1106125"/>
            <a:ext cx="8520600" cy="1963500"/>
          </a:xfrm>
          <a:prstGeom prst="rect">
            <a:avLst/>
          </a:prstGeom>
        </p:spPr>
        <p:txBody>
          <a:bodyPr anchorCtr="0" anchor="b" bIns="91425" lIns="91425" spcFirstLastPara="1" rIns="91425" wrap="square" tIns="91425">
            <a:normAutofit/>
          </a:bodyPr>
          <a:lstStyle>
            <a:lvl1pPr lvl="0" algn="ctr">
              <a:spcBef>
                <a:spcPts val="0"/>
              </a:spcBef>
              <a:spcAft>
                <a:spcPts val="0"/>
              </a:spcAft>
              <a:buSzPts val="12000"/>
              <a:buNone/>
              <a:defRPr sz="12000"/>
            </a:lvl1pPr>
            <a:lvl2pPr lvl="1" algn="ctr">
              <a:spcBef>
                <a:spcPts val="0"/>
              </a:spcBef>
              <a:spcAft>
                <a:spcPts val="0"/>
              </a:spcAft>
              <a:buSzPts val="12000"/>
              <a:buNone/>
              <a:defRPr sz="12000"/>
            </a:lvl2pPr>
            <a:lvl3pPr lvl="2" algn="ctr">
              <a:spcBef>
                <a:spcPts val="0"/>
              </a:spcBef>
              <a:spcAft>
                <a:spcPts val="0"/>
              </a:spcAft>
              <a:buSzPts val="12000"/>
              <a:buNone/>
              <a:defRPr sz="12000"/>
            </a:lvl3pPr>
            <a:lvl4pPr lvl="3" algn="ctr">
              <a:spcBef>
                <a:spcPts val="0"/>
              </a:spcBef>
              <a:spcAft>
                <a:spcPts val="0"/>
              </a:spcAft>
              <a:buSzPts val="12000"/>
              <a:buNone/>
              <a:defRPr sz="12000"/>
            </a:lvl4pPr>
            <a:lvl5pPr lvl="4" algn="ctr">
              <a:spcBef>
                <a:spcPts val="0"/>
              </a:spcBef>
              <a:spcAft>
                <a:spcPts val="0"/>
              </a:spcAft>
              <a:buSzPts val="12000"/>
              <a:buNone/>
              <a:defRPr sz="12000"/>
            </a:lvl5pPr>
            <a:lvl6pPr lvl="5" algn="ctr">
              <a:spcBef>
                <a:spcPts val="0"/>
              </a:spcBef>
              <a:spcAft>
                <a:spcPts val="0"/>
              </a:spcAft>
              <a:buSzPts val="12000"/>
              <a:buNone/>
              <a:defRPr sz="12000"/>
            </a:lvl6pPr>
            <a:lvl7pPr lvl="6" algn="ctr">
              <a:spcBef>
                <a:spcPts val="0"/>
              </a:spcBef>
              <a:spcAft>
                <a:spcPts val="0"/>
              </a:spcAft>
              <a:buSzPts val="12000"/>
              <a:buNone/>
              <a:defRPr sz="12000"/>
            </a:lvl7pPr>
            <a:lvl8pPr lvl="7" algn="ctr">
              <a:spcBef>
                <a:spcPts val="0"/>
              </a:spcBef>
              <a:spcAft>
                <a:spcPts val="0"/>
              </a:spcAft>
              <a:buSzPts val="12000"/>
              <a:buNone/>
              <a:defRPr sz="12000"/>
            </a:lvl8pPr>
            <a:lvl9pPr lvl="8" algn="ctr">
              <a:spcBef>
                <a:spcPts val="0"/>
              </a:spcBef>
              <a:spcAft>
                <a:spcPts val="0"/>
              </a:spcAft>
              <a:buSzPts val="12000"/>
              <a:buNone/>
              <a:defRPr sz="12000"/>
            </a:lvl9pPr>
          </a:lstStyle>
          <a:p>
            <a:r>
              <a:t>xx%</a:t>
            </a:r>
          </a:p>
        </p:txBody>
      </p:sp>
      <p:sp>
        <p:nvSpPr>
          <p:cNvPr id="46" name="Google Shape;46;p11"/>
          <p:cNvSpPr txBox="1"/>
          <p:nvPr>
            <p:ph idx="1" type="body"/>
          </p:nvPr>
        </p:nvSpPr>
        <p:spPr>
          <a:xfrm>
            <a:off x="311700" y="3152225"/>
            <a:ext cx="8520600" cy="1300800"/>
          </a:xfrm>
          <a:prstGeom prst="rect">
            <a:avLst/>
          </a:prstGeom>
        </p:spPr>
        <p:txBody>
          <a:bodyPr anchorCtr="0" anchor="t" bIns="91425" lIns="91425" spcFirstLastPara="1" rIns="91425" wrap="square" tIns="91425">
            <a:normAutofit/>
          </a:bodyPr>
          <a:lstStyle>
            <a:lvl1pPr indent="-342900" lvl="0" marL="457200" algn="ctr">
              <a:spcBef>
                <a:spcPts val="0"/>
              </a:spcBef>
              <a:spcAft>
                <a:spcPts val="0"/>
              </a:spcAft>
              <a:buSzPts val="1800"/>
              <a:buChar char="●"/>
              <a:defRPr/>
            </a:lvl1pPr>
            <a:lvl2pPr indent="-317500" lvl="1" marL="914400" algn="ctr">
              <a:spcBef>
                <a:spcPts val="0"/>
              </a:spcBef>
              <a:spcAft>
                <a:spcPts val="0"/>
              </a:spcAft>
              <a:buSzPts val="1400"/>
              <a:buChar char="○"/>
              <a:defRPr/>
            </a:lvl2pPr>
            <a:lvl3pPr indent="-317500" lvl="2" marL="1371600" algn="ctr">
              <a:spcBef>
                <a:spcPts val="0"/>
              </a:spcBef>
              <a:spcAft>
                <a:spcPts val="0"/>
              </a:spcAft>
              <a:buSzPts val="1400"/>
              <a:buChar char="■"/>
              <a:defRPr/>
            </a:lvl3pPr>
            <a:lvl4pPr indent="-317500" lvl="3" marL="1828800" algn="ctr">
              <a:spcBef>
                <a:spcPts val="0"/>
              </a:spcBef>
              <a:spcAft>
                <a:spcPts val="0"/>
              </a:spcAft>
              <a:buSzPts val="1400"/>
              <a:buChar char="●"/>
              <a:defRPr/>
            </a:lvl4pPr>
            <a:lvl5pPr indent="-317500" lvl="4" marL="2286000" algn="ctr">
              <a:spcBef>
                <a:spcPts val="0"/>
              </a:spcBef>
              <a:spcAft>
                <a:spcPts val="0"/>
              </a:spcAft>
              <a:buSzPts val="1400"/>
              <a:buChar char="○"/>
              <a:defRPr/>
            </a:lvl5pPr>
            <a:lvl6pPr indent="-317500" lvl="5" marL="2743200" algn="ctr">
              <a:spcBef>
                <a:spcPts val="0"/>
              </a:spcBef>
              <a:spcAft>
                <a:spcPts val="0"/>
              </a:spcAft>
              <a:buSzPts val="1400"/>
              <a:buChar char="■"/>
              <a:defRPr/>
            </a:lvl6pPr>
            <a:lvl7pPr indent="-317500" lvl="6" marL="3200400" algn="ctr">
              <a:spcBef>
                <a:spcPts val="0"/>
              </a:spcBef>
              <a:spcAft>
                <a:spcPts val="0"/>
              </a:spcAft>
              <a:buSzPts val="1400"/>
              <a:buChar char="●"/>
              <a:defRPr/>
            </a:lvl7pPr>
            <a:lvl8pPr indent="-317500" lvl="7" marL="3657600" algn="ctr">
              <a:spcBef>
                <a:spcPts val="0"/>
              </a:spcBef>
              <a:spcAft>
                <a:spcPts val="0"/>
              </a:spcAft>
              <a:buSzPts val="1400"/>
              <a:buChar char="○"/>
              <a:defRPr/>
            </a:lvl8pPr>
            <a:lvl9pPr indent="-317500" lvl="8" marL="4114800" algn="ctr">
              <a:spcBef>
                <a:spcPts val="0"/>
              </a:spcBef>
              <a:spcAft>
                <a:spcPts val="0"/>
              </a:spcAft>
              <a:buSzPts val="1400"/>
              <a:buChar char="■"/>
              <a:defRPr/>
            </a:lvl9pPr>
          </a:lstStyle>
          <a:p/>
        </p:txBody>
      </p:sp>
      <p:sp>
        <p:nvSpPr>
          <p:cNvPr id="47" name="Google Shape;47;p11"/>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ja"/>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48" name="Shape 48"/>
        <p:cNvGrpSpPr/>
        <p:nvPr/>
      </p:nvGrpSpPr>
      <p:grpSpPr>
        <a:xfrm>
          <a:off x="0" y="0"/>
          <a:ext cx="0" cy="0"/>
          <a:chOff x="0" y="0"/>
          <a:chExt cx="0" cy="0"/>
        </a:xfrm>
      </p:grpSpPr>
      <p:sp>
        <p:nvSpPr>
          <p:cNvPr id="49" name="Google Shape;49;p1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ja"/>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1.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a:spcBef>
                <a:spcPts val="0"/>
              </a:spcBef>
              <a:spcAft>
                <a:spcPts val="0"/>
              </a:spcAft>
              <a:buClr>
                <a:schemeClr val="dk1"/>
              </a:buClr>
              <a:buSzPts val="2800"/>
              <a:buNone/>
              <a:defRPr sz="2800">
                <a:solidFill>
                  <a:schemeClr val="dk1"/>
                </a:solidFill>
              </a:defRPr>
            </a:lvl1pPr>
            <a:lvl2pPr lvl="1">
              <a:spcBef>
                <a:spcPts val="0"/>
              </a:spcBef>
              <a:spcAft>
                <a:spcPts val="0"/>
              </a:spcAft>
              <a:buClr>
                <a:schemeClr val="dk1"/>
              </a:buClr>
              <a:buSzPts val="2800"/>
              <a:buNone/>
              <a:defRPr sz="2800">
                <a:solidFill>
                  <a:schemeClr val="dk1"/>
                </a:solidFill>
              </a:defRPr>
            </a:lvl2pPr>
            <a:lvl3pPr lvl="2">
              <a:spcBef>
                <a:spcPts val="0"/>
              </a:spcBef>
              <a:spcAft>
                <a:spcPts val="0"/>
              </a:spcAft>
              <a:buClr>
                <a:schemeClr val="dk1"/>
              </a:buClr>
              <a:buSzPts val="2800"/>
              <a:buNone/>
              <a:defRPr sz="2800">
                <a:solidFill>
                  <a:schemeClr val="dk1"/>
                </a:solidFill>
              </a:defRPr>
            </a:lvl3pPr>
            <a:lvl4pPr lvl="3">
              <a:spcBef>
                <a:spcPts val="0"/>
              </a:spcBef>
              <a:spcAft>
                <a:spcPts val="0"/>
              </a:spcAft>
              <a:buClr>
                <a:schemeClr val="dk1"/>
              </a:buClr>
              <a:buSzPts val="2800"/>
              <a:buNone/>
              <a:defRPr sz="2800">
                <a:solidFill>
                  <a:schemeClr val="dk1"/>
                </a:solidFill>
              </a:defRPr>
            </a:lvl4pPr>
            <a:lvl5pPr lvl="4">
              <a:spcBef>
                <a:spcPts val="0"/>
              </a:spcBef>
              <a:spcAft>
                <a:spcPts val="0"/>
              </a:spcAft>
              <a:buClr>
                <a:schemeClr val="dk1"/>
              </a:buClr>
              <a:buSzPts val="2800"/>
              <a:buNone/>
              <a:defRPr sz="2800">
                <a:solidFill>
                  <a:schemeClr val="dk1"/>
                </a:solidFill>
              </a:defRPr>
            </a:lvl5pPr>
            <a:lvl6pPr lvl="5">
              <a:spcBef>
                <a:spcPts val="0"/>
              </a:spcBef>
              <a:spcAft>
                <a:spcPts val="0"/>
              </a:spcAft>
              <a:buClr>
                <a:schemeClr val="dk1"/>
              </a:buClr>
              <a:buSzPts val="2800"/>
              <a:buNone/>
              <a:defRPr sz="2800">
                <a:solidFill>
                  <a:schemeClr val="dk1"/>
                </a:solidFill>
              </a:defRPr>
            </a:lvl6pPr>
            <a:lvl7pPr lvl="6">
              <a:spcBef>
                <a:spcPts val="0"/>
              </a:spcBef>
              <a:spcAft>
                <a:spcPts val="0"/>
              </a:spcAft>
              <a:buClr>
                <a:schemeClr val="dk1"/>
              </a:buClr>
              <a:buSzPts val="2800"/>
              <a:buNone/>
              <a:defRPr sz="2800">
                <a:solidFill>
                  <a:schemeClr val="dk1"/>
                </a:solidFill>
              </a:defRPr>
            </a:lvl7pPr>
            <a:lvl8pPr lvl="7">
              <a:spcBef>
                <a:spcPts val="0"/>
              </a:spcBef>
              <a:spcAft>
                <a:spcPts val="0"/>
              </a:spcAft>
              <a:buClr>
                <a:schemeClr val="dk1"/>
              </a:buClr>
              <a:buSzPts val="2800"/>
              <a:buNone/>
              <a:defRPr sz="2800">
                <a:solidFill>
                  <a:schemeClr val="dk1"/>
                </a:solidFill>
              </a:defRPr>
            </a:lvl8pPr>
            <a:lvl9pPr lvl="8">
              <a:spcBef>
                <a:spcPts val="0"/>
              </a:spcBef>
              <a:spcAft>
                <a:spcPts val="0"/>
              </a:spcAft>
              <a:buClr>
                <a:schemeClr val="dk1"/>
              </a:buClr>
              <a:buSzPts val="2800"/>
              <a:buNone/>
              <a:defRPr sz="2800">
                <a:solidFill>
                  <a:schemeClr val="dk1"/>
                </a:solidFill>
              </a:defRPr>
            </a:lvl9pPr>
          </a:lstStyle>
          <a:p/>
        </p:txBody>
      </p:sp>
      <p:sp>
        <p:nvSpPr>
          <p:cNvPr id="7" name="Google Shape;7;p1"/>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a:bodyPr>
          <a:lstStyle>
            <a:lvl1pPr indent="-342900" lvl="0" marL="457200">
              <a:lnSpc>
                <a:spcPct val="115000"/>
              </a:lnSpc>
              <a:spcBef>
                <a:spcPts val="0"/>
              </a:spcBef>
              <a:spcAft>
                <a:spcPts val="0"/>
              </a:spcAft>
              <a:buClr>
                <a:schemeClr val="dk2"/>
              </a:buClr>
              <a:buSzPts val="1800"/>
              <a:buChar char="●"/>
              <a:defRPr sz="1800">
                <a:solidFill>
                  <a:schemeClr val="dk2"/>
                </a:solidFill>
              </a:defRPr>
            </a:lvl1pPr>
            <a:lvl2pPr indent="-317500" lvl="1" marL="914400">
              <a:lnSpc>
                <a:spcPct val="115000"/>
              </a:lnSpc>
              <a:spcBef>
                <a:spcPts val="0"/>
              </a:spcBef>
              <a:spcAft>
                <a:spcPts val="0"/>
              </a:spcAft>
              <a:buClr>
                <a:schemeClr val="dk2"/>
              </a:buClr>
              <a:buSzPts val="1400"/>
              <a:buChar char="○"/>
              <a:defRPr>
                <a:solidFill>
                  <a:schemeClr val="dk2"/>
                </a:solidFill>
              </a:defRPr>
            </a:lvl2pPr>
            <a:lvl3pPr indent="-317500" lvl="2" marL="1371600">
              <a:lnSpc>
                <a:spcPct val="115000"/>
              </a:lnSpc>
              <a:spcBef>
                <a:spcPts val="0"/>
              </a:spcBef>
              <a:spcAft>
                <a:spcPts val="0"/>
              </a:spcAft>
              <a:buClr>
                <a:schemeClr val="dk2"/>
              </a:buClr>
              <a:buSzPts val="1400"/>
              <a:buChar char="■"/>
              <a:defRPr>
                <a:solidFill>
                  <a:schemeClr val="dk2"/>
                </a:solidFill>
              </a:defRPr>
            </a:lvl3pPr>
            <a:lvl4pPr indent="-317500" lvl="3" marL="1828800">
              <a:lnSpc>
                <a:spcPct val="115000"/>
              </a:lnSpc>
              <a:spcBef>
                <a:spcPts val="0"/>
              </a:spcBef>
              <a:spcAft>
                <a:spcPts val="0"/>
              </a:spcAft>
              <a:buClr>
                <a:schemeClr val="dk2"/>
              </a:buClr>
              <a:buSzPts val="1400"/>
              <a:buChar char="●"/>
              <a:defRPr>
                <a:solidFill>
                  <a:schemeClr val="dk2"/>
                </a:solidFill>
              </a:defRPr>
            </a:lvl4pPr>
            <a:lvl5pPr indent="-317500" lvl="4" marL="2286000">
              <a:lnSpc>
                <a:spcPct val="115000"/>
              </a:lnSpc>
              <a:spcBef>
                <a:spcPts val="0"/>
              </a:spcBef>
              <a:spcAft>
                <a:spcPts val="0"/>
              </a:spcAft>
              <a:buClr>
                <a:schemeClr val="dk2"/>
              </a:buClr>
              <a:buSzPts val="1400"/>
              <a:buChar char="○"/>
              <a:defRPr>
                <a:solidFill>
                  <a:schemeClr val="dk2"/>
                </a:solidFill>
              </a:defRPr>
            </a:lvl5pPr>
            <a:lvl6pPr indent="-317500" lvl="5" marL="2743200">
              <a:lnSpc>
                <a:spcPct val="115000"/>
              </a:lnSpc>
              <a:spcBef>
                <a:spcPts val="0"/>
              </a:spcBef>
              <a:spcAft>
                <a:spcPts val="0"/>
              </a:spcAft>
              <a:buClr>
                <a:schemeClr val="dk2"/>
              </a:buClr>
              <a:buSzPts val="1400"/>
              <a:buChar char="■"/>
              <a:defRPr>
                <a:solidFill>
                  <a:schemeClr val="dk2"/>
                </a:solidFill>
              </a:defRPr>
            </a:lvl6pPr>
            <a:lvl7pPr indent="-317500" lvl="6" marL="3200400">
              <a:lnSpc>
                <a:spcPct val="115000"/>
              </a:lnSpc>
              <a:spcBef>
                <a:spcPts val="0"/>
              </a:spcBef>
              <a:spcAft>
                <a:spcPts val="0"/>
              </a:spcAft>
              <a:buClr>
                <a:schemeClr val="dk2"/>
              </a:buClr>
              <a:buSzPts val="1400"/>
              <a:buChar char="●"/>
              <a:defRPr>
                <a:solidFill>
                  <a:schemeClr val="dk2"/>
                </a:solidFill>
              </a:defRPr>
            </a:lvl7pPr>
            <a:lvl8pPr indent="-317500" lvl="7" marL="3657600">
              <a:lnSpc>
                <a:spcPct val="115000"/>
              </a:lnSpc>
              <a:spcBef>
                <a:spcPts val="0"/>
              </a:spcBef>
              <a:spcAft>
                <a:spcPts val="0"/>
              </a:spcAft>
              <a:buClr>
                <a:schemeClr val="dk2"/>
              </a:buClr>
              <a:buSzPts val="1400"/>
              <a:buChar char="○"/>
              <a:defRPr>
                <a:solidFill>
                  <a:schemeClr val="dk2"/>
                </a:solidFill>
              </a:defRPr>
            </a:lvl8pPr>
            <a:lvl9pPr indent="-317500" lvl="8" marL="4114800">
              <a:lnSpc>
                <a:spcPct val="115000"/>
              </a:lnSpc>
              <a:spcBef>
                <a:spcPts val="0"/>
              </a:spcBef>
              <a:spcAft>
                <a:spcPts val="0"/>
              </a:spcAft>
              <a:buClr>
                <a:schemeClr val="dk2"/>
              </a:buClr>
              <a:buSzPts val="1400"/>
              <a:buChar char="■"/>
              <a:defRPr>
                <a:solidFill>
                  <a:schemeClr val="dk2"/>
                </a:solidFill>
              </a:defRPr>
            </a:lvl9pPr>
          </a:lstStyle>
          <a:p/>
        </p:txBody>
      </p:sp>
      <p:sp>
        <p:nvSpPr>
          <p:cNvPr id="8" name="Google Shape;8;p1"/>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lvl="0" algn="r">
              <a:buNone/>
              <a:defRPr sz="1000">
                <a:solidFill>
                  <a:schemeClr val="dk2"/>
                </a:solidFill>
              </a:defRPr>
            </a:lvl1pPr>
            <a:lvl2pPr lvl="1" algn="r">
              <a:buNone/>
              <a:defRPr sz="1000">
                <a:solidFill>
                  <a:schemeClr val="dk2"/>
                </a:solidFill>
              </a:defRPr>
            </a:lvl2pPr>
            <a:lvl3pPr lvl="2" algn="r">
              <a:buNone/>
              <a:defRPr sz="1000">
                <a:solidFill>
                  <a:schemeClr val="dk2"/>
                </a:solidFill>
              </a:defRPr>
            </a:lvl3pPr>
            <a:lvl4pPr lvl="3" algn="r">
              <a:buNone/>
              <a:defRPr sz="1000">
                <a:solidFill>
                  <a:schemeClr val="dk2"/>
                </a:solidFill>
              </a:defRPr>
            </a:lvl4pPr>
            <a:lvl5pPr lvl="4" algn="r">
              <a:buNone/>
              <a:defRPr sz="1000">
                <a:solidFill>
                  <a:schemeClr val="dk2"/>
                </a:solidFill>
              </a:defRPr>
            </a:lvl5pPr>
            <a:lvl6pPr lvl="5" algn="r">
              <a:buNone/>
              <a:defRPr sz="1000">
                <a:solidFill>
                  <a:schemeClr val="dk2"/>
                </a:solidFill>
              </a:defRPr>
            </a:lvl6pPr>
            <a:lvl7pPr lvl="6" algn="r">
              <a:buNone/>
              <a:defRPr sz="1000">
                <a:solidFill>
                  <a:schemeClr val="dk2"/>
                </a:solidFill>
              </a:defRPr>
            </a:lvl7pPr>
            <a:lvl8pPr lvl="7" algn="r">
              <a:buNone/>
              <a:defRPr sz="1000">
                <a:solidFill>
                  <a:schemeClr val="dk2"/>
                </a:solidFill>
              </a:defRPr>
            </a:lvl8pPr>
            <a:lvl9pPr lvl="8" algn="r">
              <a:buNone/>
              <a:defRPr sz="1000">
                <a:solidFill>
                  <a:schemeClr val="dk2"/>
                </a:solidFill>
              </a:defRPr>
            </a:lvl9pPr>
          </a:lstStyle>
          <a:p>
            <a:pPr indent="0" lvl="0" marL="0" rtl="0" algn="r">
              <a:spcBef>
                <a:spcPts val="0"/>
              </a:spcBef>
              <a:spcAft>
                <a:spcPts val="0"/>
              </a:spcAft>
              <a:buNone/>
            </a:pPr>
            <a:fld id="{00000000-1234-1234-1234-123412341234}" type="slidenum">
              <a:rPr lang="ja"/>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1.xml"/><Relationship Id="rId3" Type="http://schemas.openxmlformats.org/officeDocument/2006/relationships/image" Target="../media/image1.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2.xml"/><Relationship Id="rId3" Type="http://schemas.openxmlformats.org/officeDocument/2006/relationships/image" Target="../media/image1.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4.xml"/><Relationship Id="rId3" Type="http://schemas.openxmlformats.org/officeDocument/2006/relationships/image" Target="../media/image1.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6.xml"/><Relationship Id="rId3" Type="http://schemas.openxmlformats.org/officeDocument/2006/relationships/image" Target="../media/image1.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7.xml"/><Relationship Id="rId3" Type="http://schemas.openxmlformats.org/officeDocument/2006/relationships/image" Target="../media/image1.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9.xml"/><Relationship Id="rId3" Type="http://schemas.openxmlformats.org/officeDocument/2006/relationships/image" Target="../media/image1.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11.xml"/><Relationship Id="rId3" Type="http://schemas.openxmlformats.org/officeDocument/2006/relationships/image" Target="../media/image1.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12.xml"/><Relationship Id="rId3" Type="http://schemas.openxmlformats.org/officeDocument/2006/relationships/image" Target="../media/image1.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13.xml"/><Relationship Id="rId3" Type="http://schemas.openxmlformats.org/officeDocument/2006/relationships/image" Target="../media/image1.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14.xml"/><Relationship Id="rId3" Type="http://schemas.openxmlformats.org/officeDocument/2006/relationships/image" Target="../media/image1.pn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53" name="Shape 53"/>
        <p:cNvGrpSpPr/>
        <p:nvPr/>
      </p:nvGrpSpPr>
      <p:grpSpPr>
        <a:xfrm>
          <a:off x="0" y="0"/>
          <a:ext cx="0" cy="0"/>
          <a:chOff x="0" y="0"/>
          <a:chExt cx="0" cy="0"/>
        </a:xfrm>
      </p:grpSpPr>
      <p:pic>
        <p:nvPicPr>
          <p:cNvPr id="54" name="Google Shape;54;p13"/>
          <p:cNvPicPr preferRelativeResize="0"/>
          <p:nvPr/>
        </p:nvPicPr>
        <p:blipFill>
          <a:blip r:embed="rId3">
            <a:alphaModFix/>
          </a:blip>
          <a:stretch>
            <a:fillRect/>
          </a:stretch>
        </p:blipFill>
        <p:spPr>
          <a:xfrm>
            <a:off x="523875" y="1000125"/>
            <a:ext cx="1285875" cy="435741"/>
          </a:xfrm>
          <a:prstGeom prst="rect">
            <a:avLst/>
          </a:prstGeom>
          <a:noFill/>
          <a:ln>
            <a:noFill/>
          </a:ln>
        </p:spPr>
      </p:pic>
      <p:sp>
        <p:nvSpPr>
          <p:cNvPr id="55" name="Google Shape;55;p13"/>
          <p:cNvSpPr txBox="1"/>
          <p:nvPr/>
        </p:nvSpPr>
        <p:spPr>
          <a:xfrm>
            <a:off x="476250" y="2190750"/>
            <a:ext cx="7620000" cy="8574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ja" sz="4500">
                <a:solidFill>
                  <a:srgbClr val="333333"/>
                </a:solidFill>
              </a:rPr>
              <a:t>Google「Gemini 2.5 Flash Image」を正式発表</a:t>
            </a:r>
            <a:endParaRPr b="1" sz="4500">
              <a:solidFill>
                <a:srgbClr val="333333"/>
              </a:solidFill>
            </a:endParaRPr>
          </a:p>
        </p:txBody>
      </p:sp>
      <p:sp>
        <p:nvSpPr>
          <p:cNvPr id="56" name="Google Shape;56;p13"/>
          <p:cNvSpPr txBox="1"/>
          <p:nvPr/>
        </p:nvSpPr>
        <p:spPr>
          <a:xfrm>
            <a:off x="476250" y="3238500"/>
            <a:ext cx="2381400" cy="3810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ja" sz="1600">
                <a:solidFill>
                  <a:srgbClr val="333333"/>
                </a:solidFill>
              </a:rPr>
              <a:t>2025.08.26</a:t>
            </a:r>
            <a:endParaRPr sz="1600">
              <a:solidFill>
                <a:srgbClr val="333333"/>
              </a:solidFill>
            </a:endParaRPr>
          </a:p>
        </p:txBody>
      </p:sp>
      <p:sp>
        <p:nvSpPr>
          <p:cNvPr id="57" name="Google Shape;57;p13"/>
          <p:cNvSpPr/>
          <p:nvPr/>
        </p:nvSpPr>
        <p:spPr>
          <a:xfrm>
            <a:off x="0" y="5086350"/>
            <a:ext cx="9144000" cy="57300"/>
          </a:xfrm>
          <a:prstGeom prst="rect">
            <a:avLst/>
          </a:prstGeom>
          <a:solidFill>
            <a:srgbClr val="4285F4"/>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61" name="Shape 61"/>
        <p:cNvGrpSpPr/>
        <p:nvPr/>
      </p:nvGrpSpPr>
      <p:grpSpPr>
        <a:xfrm>
          <a:off x="0" y="0"/>
          <a:ext cx="0" cy="0"/>
          <a:chOff x="0" y="0"/>
          <a:chExt cx="0" cy="0"/>
        </a:xfrm>
      </p:grpSpPr>
      <p:pic>
        <p:nvPicPr>
          <p:cNvPr id="62" name="Google Shape;62;p14"/>
          <p:cNvPicPr preferRelativeResize="0"/>
          <p:nvPr/>
        </p:nvPicPr>
        <p:blipFill>
          <a:blip r:embed="rId3">
            <a:alphaModFix/>
          </a:blip>
          <a:stretch>
            <a:fillRect/>
          </a:stretch>
        </p:blipFill>
        <p:spPr>
          <a:xfrm>
            <a:off x="8239125" y="190500"/>
            <a:ext cx="714376" cy="242078"/>
          </a:xfrm>
          <a:prstGeom prst="rect">
            <a:avLst/>
          </a:prstGeom>
          <a:noFill/>
          <a:ln>
            <a:noFill/>
          </a:ln>
        </p:spPr>
      </p:pic>
      <p:sp>
        <p:nvSpPr>
          <p:cNvPr id="63" name="Google Shape;63;p14"/>
          <p:cNvSpPr txBox="1"/>
          <p:nvPr/>
        </p:nvSpPr>
        <p:spPr>
          <a:xfrm>
            <a:off x="238125" y="571500"/>
            <a:ext cx="7905900" cy="6192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ja" sz="2800">
                <a:solidFill>
                  <a:srgbClr val="333333"/>
                </a:solidFill>
              </a:rPr>
              <a:t>Agenda: 本日お伝えすること</a:t>
            </a:r>
            <a:endParaRPr b="1" sz="2800">
              <a:solidFill>
                <a:srgbClr val="333333"/>
              </a:solidFill>
            </a:endParaRPr>
          </a:p>
        </p:txBody>
      </p:sp>
      <p:sp>
        <p:nvSpPr>
          <p:cNvPr id="64" name="Google Shape;64;p14"/>
          <p:cNvSpPr/>
          <p:nvPr/>
        </p:nvSpPr>
        <p:spPr>
          <a:xfrm>
            <a:off x="238125" y="1219200"/>
            <a:ext cx="2476500" cy="38100"/>
          </a:xfrm>
          <a:prstGeom prst="rect">
            <a:avLst/>
          </a:prstGeom>
          <a:solidFill>
            <a:srgbClr val="4285F4"/>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65" name="Google Shape;65;p14"/>
          <p:cNvSpPr txBox="1"/>
          <p:nvPr/>
        </p:nvSpPr>
        <p:spPr>
          <a:xfrm>
            <a:off x="238125" y="1638300"/>
            <a:ext cx="8667900" cy="28860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None/>
            </a:pPr>
            <a:r>
              <a:rPr lang="ja">
                <a:solidFill>
                  <a:srgbClr val="333333"/>
                </a:solidFill>
              </a:rPr>
              <a:t>• 発表の概要：何が起きたのか</a:t>
            </a:r>
            <a:endParaRPr>
              <a:solidFill>
                <a:srgbClr val="333333"/>
              </a:solidFill>
            </a:endParaRPr>
          </a:p>
          <a:p>
            <a:pPr indent="0" lvl="0" marL="0" rtl="0" algn="l">
              <a:lnSpc>
                <a:spcPct val="100000"/>
              </a:lnSpc>
              <a:spcBef>
                <a:spcPts val="600"/>
              </a:spcBef>
              <a:spcAft>
                <a:spcPts val="0"/>
              </a:spcAft>
              <a:buNone/>
            </a:pPr>
            <a:r>
              <a:t/>
            </a:r>
            <a:endParaRPr>
              <a:solidFill>
                <a:srgbClr val="333333"/>
              </a:solidFill>
            </a:endParaRPr>
          </a:p>
          <a:p>
            <a:pPr indent="0" lvl="0" marL="0" rtl="0" algn="l">
              <a:lnSpc>
                <a:spcPct val="100000"/>
              </a:lnSpc>
              <a:spcBef>
                <a:spcPts val="600"/>
              </a:spcBef>
              <a:spcAft>
                <a:spcPts val="0"/>
              </a:spcAft>
              <a:buNone/>
            </a:pPr>
            <a:r>
              <a:rPr lang="ja">
                <a:solidFill>
                  <a:srgbClr val="333333"/>
                </a:solidFill>
              </a:rPr>
              <a:t>• エンジニア／開発者への影響</a:t>
            </a:r>
            <a:endParaRPr>
              <a:solidFill>
                <a:srgbClr val="333333"/>
              </a:solidFill>
            </a:endParaRPr>
          </a:p>
          <a:p>
            <a:pPr indent="0" lvl="0" marL="0" rtl="0" algn="l">
              <a:lnSpc>
                <a:spcPct val="100000"/>
              </a:lnSpc>
              <a:spcBef>
                <a:spcPts val="600"/>
              </a:spcBef>
              <a:spcAft>
                <a:spcPts val="0"/>
              </a:spcAft>
              <a:buNone/>
            </a:pPr>
            <a:r>
              <a:t/>
            </a:r>
            <a:endParaRPr>
              <a:solidFill>
                <a:srgbClr val="333333"/>
              </a:solidFill>
            </a:endParaRPr>
          </a:p>
          <a:p>
            <a:pPr indent="0" lvl="0" marL="0" rtl="0" algn="l">
              <a:lnSpc>
                <a:spcPct val="100000"/>
              </a:lnSpc>
              <a:spcBef>
                <a:spcPts val="600"/>
              </a:spcBef>
              <a:spcAft>
                <a:spcPts val="0"/>
              </a:spcAft>
              <a:buNone/>
            </a:pPr>
            <a:r>
              <a:rPr lang="ja">
                <a:solidFill>
                  <a:srgbClr val="333333"/>
                </a:solidFill>
              </a:rPr>
              <a:t>• ビジネス／一般ユーザーへの影響</a:t>
            </a:r>
            <a:endParaRPr>
              <a:solidFill>
                <a:srgbClr val="333333"/>
              </a:solidFill>
            </a:endParaRPr>
          </a:p>
          <a:p>
            <a:pPr indent="0" lvl="0" marL="0" rtl="0" algn="l">
              <a:lnSpc>
                <a:spcPct val="100000"/>
              </a:lnSpc>
              <a:spcBef>
                <a:spcPts val="600"/>
              </a:spcBef>
              <a:spcAft>
                <a:spcPts val="0"/>
              </a:spcAft>
              <a:buNone/>
            </a:pPr>
            <a:r>
              <a:t/>
            </a:r>
            <a:endParaRPr>
              <a:solidFill>
                <a:srgbClr val="333333"/>
              </a:solidFill>
            </a:endParaRPr>
          </a:p>
          <a:p>
            <a:pPr indent="0" lvl="0" marL="0" rtl="0" algn="l">
              <a:lnSpc>
                <a:spcPct val="100000"/>
              </a:lnSpc>
              <a:spcBef>
                <a:spcPts val="600"/>
              </a:spcBef>
              <a:spcAft>
                <a:spcPts val="600"/>
              </a:spcAft>
              <a:buNone/>
            </a:pPr>
            <a:r>
              <a:rPr lang="ja">
                <a:solidFill>
                  <a:srgbClr val="333333"/>
                </a:solidFill>
              </a:rPr>
              <a:t>• 総括と次のアクション</a:t>
            </a:r>
            <a:endParaRPr>
              <a:solidFill>
                <a:srgbClr val="333333"/>
              </a:solidFill>
            </a:endParaRPr>
          </a:p>
        </p:txBody>
      </p:sp>
      <p:sp>
        <p:nvSpPr>
          <p:cNvPr id="66" name="Google Shape;66;p14"/>
          <p:cNvSpPr/>
          <p:nvPr/>
        </p:nvSpPr>
        <p:spPr>
          <a:xfrm>
            <a:off x="0" y="5086350"/>
            <a:ext cx="9144000" cy="57300"/>
          </a:xfrm>
          <a:prstGeom prst="rect">
            <a:avLst/>
          </a:prstGeom>
          <a:solidFill>
            <a:srgbClr val="4285F4"/>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67" name="Google Shape;67;p14"/>
          <p:cNvSpPr txBox="1"/>
          <p:nvPr/>
        </p:nvSpPr>
        <p:spPr>
          <a:xfrm>
            <a:off x="142875" y="4810125"/>
            <a:ext cx="2381400" cy="1905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ja" sz="900">
                <a:solidFill>
                  <a:srgbClr val="333333"/>
                </a:solidFill>
              </a:rPr>
              <a:t>© 2025 Your Organization</a:t>
            </a:r>
            <a:endParaRPr sz="900">
              <a:solidFill>
                <a:srgbClr val="333333"/>
              </a:solidFill>
            </a:endParaRPr>
          </a:p>
        </p:txBody>
      </p:sp>
      <p:sp>
        <p:nvSpPr>
          <p:cNvPr id="68" name="Google Shape;68;p14"/>
          <p:cNvSpPr txBox="1"/>
          <p:nvPr/>
        </p:nvSpPr>
        <p:spPr>
          <a:xfrm>
            <a:off x="8524875" y="4810125"/>
            <a:ext cx="476400" cy="190500"/>
          </a:xfrm>
          <a:prstGeom prst="rect">
            <a:avLst/>
          </a:prstGeom>
          <a:noFill/>
          <a:ln>
            <a:noFill/>
          </a:ln>
        </p:spPr>
        <p:txBody>
          <a:bodyPr anchorCtr="0" anchor="t" bIns="91425" lIns="91425" spcFirstLastPara="1" rIns="91425" wrap="square" tIns="91425">
            <a:noAutofit/>
          </a:bodyPr>
          <a:lstStyle/>
          <a:p>
            <a:pPr indent="0" lvl="0" marL="0" rtl="0" algn="r">
              <a:spcBef>
                <a:spcPts val="0"/>
              </a:spcBef>
              <a:spcAft>
                <a:spcPts val="0"/>
              </a:spcAft>
              <a:buNone/>
            </a:pPr>
            <a:r>
              <a:rPr lang="ja" sz="900">
                <a:solidFill>
                  <a:srgbClr val="4285F4"/>
                </a:solidFill>
              </a:rPr>
              <a:t>1</a:t>
            </a:r>
            <a:endParaRPr sz="900">
              <a:solidFill>
                <a:srgbClr val="4285F4"/>
              </a:solidFill>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8F9FA"/>
        </a:solidFill>
      </p:bgPr>
    </p:bg>
    <p:spTree>
      <p:nvGrpSpPr>
        <p:cNvPr id="72" name="Shape 72"/>
        <p:cNvGrpSpPr/>
        <p:nvPr/>
      </p:nvGrpSpPr>
      <p:grpSpPr>
        <a:xfrm>
          <a:off x="0" y="0"/>
          <a:ext cx="0" cy="0"/>
          <a:chOff x="0" y="0"/>
          <a:chExt cx="0" cy="0"/>
        </a:xfrm>
      </p:grpSpPr>
      <p:sp>
        <p:nvSpPr>
          <p:cNvPr id="73" name="Google Shape;73;p15"/>
          <p:cNvSpPr txBox="1"/>
          <p:nvPr/>
        </p:nvSpPr>
        <p:spPr>
          <a:xfrm>
            <a:off x="333375" y="1143000"/>
            <a:ext cx="2857500" cy="19050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rPr b="1" lang="ja" sz="18000">
                <a:solidFill>
                  <a:srgbClr val="EFEFED"/>
                </a:solidFill>
              </a:rPr>
              <a:t>01</a:t>
            </a:r>
            <a:endParaRPr b="1" sz="18000">
              <a:solidFill>
                <a:srgbClr val="EFEFED"/>
              </a:solidFill>
            </a:endParaRPr>
          </a:p>
        </p:txBody>
      </p:sp>
      <p:sp>
        <p:nvSpPr>
          <p:cNvPr id="74" name="Google Shape;74;p15"/>
          <p:cNvSpPr txBox="1"/>
          <p:nvPr/>
        </p:nvSpPr>
        <p:spPr>
          <a:xfrm>
            <a:off x="523875" y="2190750"/>
            <a:ext cx="8001000" cy="7620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b="1" lang="ja" sz="3800">
                <a:solidFill>
                  <a:srgbClr val="333333"/>
                </a:solidFill>
              </a:rPr>
              <a:t>1. 何が起きたか (発表の概要)</a:t>
            </a:r>
            <a:endParaRPr b="1" sz="3800">
              <a:solidFill>
                <a:srgbClr val="333333"/>
              </a:solidFill>
            </a:endParaRPr>
          </a:p>
        </p:txBody>
      </p:sp>
      <p:sp>
        <p:nvSpPr>
          <p:cNvPr id="75" name="Google Shape;75;p15"/>
          <p:cNvSpPr txBox="1"/>
          <p:nvPr/>
        </p:nvSpPr>
        <p:spPr>
          <a:xfrm>
            <a:off x="142875" y="4810125"/>
            <a:ext cx="2381400" cy="1905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ja" sz="900">
                <a:solidFill>
                  <a:srgbClr val="333333"/>
                </a:solidFill>
              </a:rPr>
              <a:t>© 2025 Your Organization</a:t>
            </a:r>
            <a:endParaRPr sz="900">
              <a:solidFill>
                <a:srgbClr val="333333"/>
              </a:solidFill>
            </a:endParaRPr>
          </a:p>
        </p:txBody>
      </p:sp>
      <p:sp>
        <p:nvSpPr>
          <p:cNvPr id="76" name="Google Shape;76;p15"/>
          <p:cNvSpPr txBox="1"/>
          <p:nvPr/>
        </p:nvSpPr>
        <p:spPr>
          <a:xfrm>
            <a:off x="8524875" y="4810125"/>
            <a:ext cx="476400" cy="190500"/>
          </a:xfrm>
          <a:prstGeom prst="rect">
            <a:avLst/>
          </a:prstGeom>
          <a:noFill/>
          <a:ln>
            <a:noFill/>
          </a:ln>
        </p:spPr>
        <p:txBody>
          <a:bodyPr anchorCtr="0" anchor="t" bIns="91425" lIns="91425" spcFirstLastPara="1" rIns="91425" wrap="square" tIns="91425">
            <a:noAutofit/>
          </a:bodyPr>
          <a:lstStyle/>
          <a:p>
            <a:pPr indent="0" lvl="0" marL="0" rtl="0" algn="r">
              <a:spcBef>
                <a:spcPts val="0"/>
              </a:spcBef>
              <a:spcAft>
                <a:spcPts val="0"/>
              </a:spcAft>
              <a:buNone/>
            </a:pPr>
            <a:r>
              <a:rPr lang="ja" sz="900">
                <a:solidFill>
                  <a:srgbClr val="4285F4"/>
                </a:solidFill>
              </a:rPr>
              <a:t>2</a:t>
            </a:r>
            <a:endParaRPr sz="900">
              <a:solidFill>
                <a:srgbClr val="4285F4"/>
              </a:solidFill>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80" name="Shape 80"/>
        <p:cNvGrpSpPr/>
        <p:nvPr/>
      </p:nvGrpSpPr>
      <p:grpSpPr>
        <a:xfrm>
          <a:off x="0" y="0"/>
          <a:ext cx="0" cy="0"/>
          <a:chOff x="0" y="0"/>
          <a:chExt cx="0" cy="0"/>
        </a:xfrm>
      </p:grpSpPr>
      <p:pic>
        <p:nvPicPr>
          <p:cNvPr id="81" name="Google Shape;81;p16"/>
          <p:cNvPicPr preferRelativeResize="0"/>
          <p:nvPr/>
        </p:nvPicPr>
        <p:blipFill>
          <a:blip r:embed="rId3">
            <a:alphaModFix/>
          </a:blip>
          <a:stretch>
            <a:fillRect/>
          </a:stretch>
        </p:blipFill>
        <p:spPr>
          <a:xfrm>
            <a:off x="8239125" y="190500"/>
            <a:ext cx="714376" cy="242078"/>
          </a:xfrm>
          <a:prstGeom prst="rect">
            <a:avLst/>
          </a:prstGeom>
          <a:noFill/>
          <a:ln>
            <a:noFill/>
          </a:ln>
        </p:spPr>
      </p:pic>
      <p:sp>
        <p:nvSpPr>
          <p:cNvPr id="82" name="Google Shape;82;p16"/>
          <p:cNvSpPr txBox="1"/>
          <p:nvPr/>
        </p:nvSpPr>
        <p:spPr>
          <a:xfrm>
            <a:off x="238125" y="571500"/>
            <a:ext cx="7905900" cy="6192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ja" sz="2800">
                <a:solidFill>
                  <a:srgbClr val="333333"/>
                </a:solidFill>
              </a:rPr>
              <a:t>発表の主要ポイント：多角的な同時リリース</a:t>
            </a:r>
            <a:endParaRPr b="1" sz="2800">
              <a:solidFill>
                <a:srgbClr val="333333"/>
              </a:solidFill>
            </a:endParaRPr>
          </a:p>
        </p:txBody>
      </p:sp>
      <p:sp>
        <p:nvSpPr>
          <p:cNvPr id="83" name="Google Shape;83;p16"/>
          <p:cNvSpPr/>
          <p:nvPr/>
        </p:nvSpPr>
        <p:spPr>
          <a:xfrm>
            <a:off x="238125" y="1219200"/>
            <a:ext cx="2476500" cy="38100"/>
          </a:xfrm>
          <a:prstGeom prst="rect">
            <a:avLst/>
          </a:prstGeom>
          <a:solidFill>
            <a:srgbClr val="4285F4"/>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84" name="Google Shape;84;p16"/>
          <p:cNvSpPr txBox="1"/>
          <p:nvPr/>
        </p:nvSpPr>
        <p:spPr>
          <a:xfrm>
            <a:off x="238125" y="1333500"/>
            <a:ext cx="7905900" cy="2859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ja" sz="1800">
                <a:solidFill>
                  <a:srgbClr val="333333"/>
                </a:solidFill>
              </a:rPr>
              <a:t>一般ユーザーから開発者、企業向けまで、エコシステム全体を巻き込む形で一斉に提供開始</a:t>
            </a:r>
            <a:endParaRPr sz="1800">
              <a:solidFill>
                <a:srgbClr val="333333"/>
              </a:solidFill>
            </a:endParaRPr>
          </a:p>
        </p:txBody>
      </p:sp>
      <p:sp>
        <p:nvSpPr>
          <p:cNvPr id="85" name="Google Shape;85;p16"/>
          <p:cNvSpPr/>
          <p:nvPr/>
        </p:nvSpPr>
        <p:spPr>
          <a:xfrm>
            <a:off x="238125" y="1981200"/>
            <a:ext cx="2787600" cy="1366800"/>
          </a:xfrm>
          <a:prstGeom prst="roundRect">
            <a:avLst>
              <a:gd fmla="val 16667" name="adj"/>
            </a:avLst>
          </a:prstGeom>
          <a:solidFill>
            <a:srgbClr val="FFFFFF"/>
          </a:solidFill>
          <a:ln cap="flat" cmpd="sng" w="12700">
            <a:solidFill>
              <a:srgbClr val="DADCE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b="1" lang="ja">
                <a:solidFill>
                  <a:srgbClr val="333333"/>
                </a:solidFill>
              </a:rPr>
              <a:t>新モデル公開</a:t>
            </a:r>
            <a:endParaRPr b="1">
              <a:solidFill>
                <a:srgbClr val="333333"/>
              </a:solidFill>
            </a:endParaRPr>
          </a:p>
          <a:p>
            <a:pPr indent="0" lvl="0" marL="0" rtl="0" algn="ctr">
              <a:spcBef>
                <a:spcPts val="0"/>
              </a:spcBef>
              <a:spcAft>
                <a:spcPts val="0"/>
              </a:spcAft>
              <a:buNone/>
            </a:pPr>
            <a:r>
              <a:rPr b="1" lang="ja">
                <a:solidFill>
                  <a:srgbClr val="4285F4"/>
                </a:solidFill>
              </a:rPr>
              <a:t>精密編集</a:t>
            </a:r>
            <a:r>
              <a:rPr lang="ja">
                <a:solidFill>
                  <a:srgbClr val="333333"/>
                </a:solidFill>
              </a:rPr>
              <a:t>と</a:t>
            </a:r>
            <a:r>
              <a:rPr b="1" lang="ja">
                <a:solidFill>
                  <a:srgbClr val="4285F4"/>
                </a:solidFill>
              </a:rPr>
              <a:t>キャラ一貫性</a:t>
            </a:r>
            <a:r>
              <a:rPr lang="ja">
                <a:solidFill>
                  <a:srgbClr val="333333"/>
                </a:solidFill>
              </a:rPr>
              <a:t>を両立するGemini 2.5 Flash Imageを公開</a:t>
            </a:r>
            <a:endParaRPr>
              <a:solidFill>
                <a:srgbClr val="333333"/>
              </a:solidFill>
            </a:endParaRPr>
          </a:p>
        </p:txBody>
      </p:sp>
      <p:sp>
        <p:nvSpPr>
          <p:cNvPr id="86" name="Google Shape;86;p16"/>
          <p:cNvSpPr/>
          <p:nvPr/>
        </p:nvSpPr>
        <p:spPr>
          <a:xfrm>
            <a:off x="3178175" y="1981200"/>
            <a:ext cx="2787600" cy="1366800"/>
          </a:xfrm>
          <a:prstGeom prst="roundRect">
            <a:avLst>
              <a:gd fmla="val 16667" name="adj"/>
            </a:avLst>
          </a:prstGeom>
          <a:solidFill>
            <a:srgbClr val="FFFFFF"/>
          </a:solidFill>
          <a:ln cap="flat" cmpd="sng" w="12700">
            <a:solidFill>
              <a:srgbClr val="DADCE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b="1" lang="ja">
                <a:solidFill>
                  <a:srgbClr val="333333"/>
                </a:solidFill>
              </a:rPr>
              <a:t>API/SDKを即日提供</a:t>
            </a:r>
            <a:endParaRPr b="1">
              <a:solidFill>
                <a:srgbClr val="333333"/>
              </a:solidFill>
            </a:endParaRPr>
          </a:p>
          <a:p>
            <a:pPr indent="0" lvl="0" marL="0" rtl="0" algn="ctr">
              <a:spcBef>
                <a:spcPts val="0"/>
              </a:spcBef>
              <a:spcAft>
                <a:spcPts val="0"/>
              </a:spcAft>
              <a:buNone/>
            </a:pPr>
            <a:r>
              <a:rPr lang="ja">
                <a:solidFill>
                  <a:srgbClr val="333333"/>
                </a:solidFill>
              </a:rPr>
              <a:t>開発者が本日から利用可能 (gemini-2.5-flash-image-preview)</a:t>
            </a:r>
            <a:endParaRPr>
              <a:solidFill>
                <a:srgbClr val="333333"/>
              </a:solidFill>
            </a:endParaRPr>
          </a:p>
        </p:txBody>
      </p:sp>
      <p:sp>
        <p:nvSpPr>
          <p:cNvPr id="87" name="Google Shape;87;p16"/>
          <p:cNvSpPr/>
          <p:nvPr/>
        </p:nvSpPr>
        <p:spPr>
          <a:xfrm>
            <a:off x="6118225" y="1981200"/>
            <a:ext cx="2787600" cy="1366800"/>
          </a:xfrm>
          <a:prstGeom prst="roundRect">
            <a:avLst>
              <a:gd fmla="val 16667" name="adj"/>
            </a:avLst>
          </a:prstGeom>
          <a:solidFill>
            <a:srgbClr val="FFFFFF"/>
          </a:solidFill>
          <a:ln cap="flat" cmpd="sng" w="12700">
            <a:solidFill>
              <a:srgbClr val="DADCE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b="1" lang="ja">
                <a:solidFill>
                  <a:srgbClr val="333333"/>
                </a:solidFill>
              </a:rPr>
              <a:t>明確な価格設定</a:t>
            </a:r>
            <a:endParaRPr b="1">
              <a:solidFill>
                <a:srgbClr val="333333"/>
              </a:solidFill>
            </a:endParaRPr>
          </a:p>
          <a:p>
            <a:pPr indent="0" lvl="0" marL="0" rtl="0" algn="ctr">
              <a:spcBef>
                <a:spcPts val="0"/>
              </a:spcBef>
              <a:spcAft>
                <a:spcPts val="0"/>
              </a:spcAft>
              <a:buNone/>
            </a:pPr>
            <a:r>
              <a:rPr b="1" lang="ja">
                <a:solidFill>
                  <a:srgbClr val="333333"/>
                </a:solidFill>
              </a:rPr>
              <a:t>1画像あたり約$0.039</a:t>
            </a:r>
            <a:r>
              <a:rPr lang="ja">
                <a:solidFill>
                  <a:srgbClr val="333333"/>
                </a:solidFill>
              </a:rPr>
              <a:t> という、導入しやすい価格を提示</a:t>
            </a:r>
            <a:endParaRPr>
              <a:solidFill>
                <a:srgbClr val="333333"/>
              </a:solidFill>
            </a:endParaRPr>
          </a:p>
        </p:txBody>
      </p:sp>
      <p:sp>
        <p:nvSpPr>
          <p:cNvPr id="88" name="Google Shape;88;p16"/>
          <p:cNvSpPr/>
          <p:nvPr/>
        </p:nvSpPr>
        <p:spPr>
          <a:xfrm>
            <a:off x="238125" y="3500438"/>
            <a:ext cx="2787600" cy="1366800"/>
          </a:xfrm>
          <a:prstGeom prst="roundRect">
            <a:avLst>
              <a:gd fmla="val 16667" name="adj"/>
            </a:avLst>
          </a:prstGeom>
          <a:solidFill>
            <a:srgbClr val="FFFFFF"/>
          </a:solidFill>
          <a:ln cap="flat" cmpd="sng" w="12700">
            <a:solidFill>
              <a:srgbClr val="DADCE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b="1" lang="ja">
                <a:solidFill>
                  <a:srgbClr val="333333"/>
                </a:solidFill>
              </a:rPr>
              <a:t>Geminiアプリも強化</a:t>
            </a:r>
            <a:endParaRPr b="1">
              <a:solidFill>
                <a:srgbClr val="333333"/>
              </a:solidFill>
            </a:endParaRPr>
          </a:p>
          <a:p>
            <a:pPr indent="0" lvl="0" marL="0" rtl="0" algn="ctr">
              <a:spcBef>
                <a:spcPts val="0"/>
              </a:spcBef>
              <a:spcAft>
                <a:spcPts val="0"/>
              </a:spcAft>
              <a:buNone/>
            </a:pPr>
            <a:r>
              <a:rPr lang="ja">
                <a:solidFill>
                  <a:srgbClr val="333333"/>
                </a:solidFill>
              </a:rPr>
              <a:t>一般ユーザーも</a:t>
            </a:r>
            <a:r>
              <a:rPr b="1" lang="ja">
                <a:solidFill>
                  <a:srgbClr val="333333"/>
                </a:solidFill>
              </a:rPr>
              <a:t>ノーコード</a:t>
            </a:r>
            <a:r>
              <a:rPr lang="ja">
                <a:solidFill>
                  <a:srgbClr val="333333"/>
                </a:solidFill>
              </a:rPr>
              <a:t>で高度な画像編集・合成が即日可能に</a:t>
            </a:r>
            <a:endParaRPr>
              <a:solidFill>
                <a:srgbClr val="333333"/>
              </a:solidFill>
            </a:endParaRPr>
          </a:p>
        </p:txBody>
      </p:sp>
      <p:sp>
        <p:nvSpPr>
          <p:cNvPr id="89" name="Google Shape;89;p16"/>
          <p:cNvSpPr/>
          <p:nvPr/>
        </p:nvSpPr>
        <p:spPr>
          <a:xfrm>
            <a:off x="3178175" y="3500438"/>
            <a:ext cx="2787600" cy="1366800"/>
          </a:xfrm>
          <a:prstGeom prst="roundRect">
            <a:avLst>
              <a:gd fmla="val 16667" name="adj"/>
            </a:avLst>
          </a:prstGeom>
          <a:solidFill>
            <a:srgbClr val="FFFFFF"/>
          </a:solidFill>
          <a:ln cap="flat" cmpd="sng" w="12700">
            <a:solidFill>
              <a:srgbClr val="DADCE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b="1" lang="ja">
                <a:solidFill>
                  <a:srgbClr val="333333"/>
                </a:solidFill>
              </a:rPr>
              <a:t>SynthID透かし</a:t>
            </a:r>
            <a:endParaRPr b="1">
              <a:solidFill>
                <a:srgbClr val="333333"/>
              </a:solidFill>
            </a:endParaRPr>
          </a:p>
          <a:p>
            <a:pPr indent="0" lvl="0" marL="0" rtl="0" algn="ctr">
              <a:spcBef>
                <a:spcPts val="0"/>
              </a:spcBef>
              <a:spcAft>
                <a:spcPts val="0"/>
              </a:spcAft>
              <a:buNone/>
            </a:pPr>
            <a:r>
              <a:rPr lang="ja">
                <a:solidFill>
                  <a:srgbClr val="333333"/>
                </a:solidFill>
              </a:rPr>
              <a:t>生成・編集された全ての画像に</a:t>
            </a:r>
            <a:r>
              <a:rPr b="1" lang="ja">
                <a:solidFill>
                  <a:srgbClr val="333333"/>
                </a:solidFill>
              </a:rPr>
              <a:t>不可視透かし</a:t>
            </a:r>
            <a:r>
              <a:rPr lang="ja">
                <a:solidFill>
                  <a:srgbClr val="333333"/>
                </a:solidFill>
              </a:rPr>
              <a:t>を標準付与し、透明性を確保</a:t>
            </a:r>
            <a:endParaRPr>
              <a:solidFill>
                <a:srgbClr val="333333"/>
              </a:solidFill>
            </a:endParaRPr>
          </a:p>
        </p:txBody>
      </p:sp>
      <p:sp>
        <p:nvSpPr>
          <p:cNvPr id="90" name="Google Shape;90;p16"/>
          <p:cNvSpPr/>
          <p:nvPr/>
        </p:nvSpPr>
        <p:spPr>
          <a:xfrm>
            <a:off x="6118225" y="3500438"/>
            <a:ext cx="2787600" cy="1366800"/>
          </a:xfrm>
          <a:prstGeom prst="roundRect">
            <a:avLst>
              <a:gd fmla="val 16667" name="adj"/>
            </a:avLst>
          </a:prstGeom>
          <a:solidFill>
            <a:srgbClr val="FFFFFF"/>
          </a:solidFill>
          <a:ln cap="flat" cmpd="sng" w="12700">
            <a:solidFill>
              <a:srgbClr val="DADCE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b="1" lang="ja">
                <a:solidFill>
                  <a:srgbClr val="333333"/>
                </a:solidFill>
              </a:rPr>
              <a:t>Adobeとの当日連携</a:t>
            </a:r>
            <a:endParaRPr b="1">
              <a:solidFill>
                <a:srgbClr val="333333"/>
              </a:solidFill>
            </a:endParaRPr>
          </a:p>
          <a:p>
            <a:pPr indent="0" lvl="0" marL="0" rtl="0" algn="ctr">
              <a:spcBef>
                <a:spcPts val="0"/>
              </a:spcBef>
              <a:spcAft>
                <a:spcPts val="0"/>
              </a:spcAft>
              <a:buNone/>
            </a:pPr>
            <a:r>
              <a:rPr lang="ja">
                <a:solidFill>
                  <a:srgbClr val="333333"/>
                </a:solidFill>
              </a:rPr>
              <a:t>Adobe Firefly/Expressで本日から利用可能。</a:t>
            </a:r>
            <a:r>
              <a:rPr b="1" lang="ja">
                <a:solidFill>
                  <a:srgbClr val="333333"/>
                </a:solidFill>
              </a:rPr>
              <a:t>既存ワークフローに直結</a:t>
            </a:r>
            <a:endParaRPr b="1">
              <a:solidFill>
                <a:srgbClr val="333333"/>
              </a:solidFill>
            </a:endParaRPr>
          </a:p>
        </p:txBody>
      </p:sp>
      <p:sp>
        <p:nvSpPr>
          <p:cNvPr id="91" name="Google Shape;91;p16"/>
          <p:cNvSpPr/>
          <p:nvPr/>
        </p:nvSpPr>
        <p:spPr>
          <a:xfrm>
            <a:off x="0" y="5086350"/>
            <a:ext cx="9144000" cy="57300"/>
          </a:xfrm>
          <a:prstGeom prst="rect">
            <a:avLst/>
          </a:prstGeom>
          <a:solidFill>
            <a:srgbClr val="4285F4"/>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92" name="Google Shape;92;p16"/>
          <p:cNvSpPr txBox="1"/>
          <p:nvPr/>
        </p:nvSpPr>
        <p:spPr>
          <a:xfrm>
            <a:off x="142875" y="4810125"/>
            <a:ext cx="2381400" cy="1905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ja" sz="900">
                <a:solidFill>
                  <a:srgbClr val="333333"/>
                </a:solidFill>
              </a:rPr>
              <a:t>© 2025 Your Organization</a:t>
            </a:r>
            <a:endParaRPr sz="900">
              <a:solidFill>
                <a:srgbClr val="333333"/>
              </a:solidFill>
            </a:endParaRPr>
          </a:p>
        </p:txBody>
      </p:sp>
      <p:sp>
        <p:nvSpPr>
          <p:cNvPr id="93" name="Google Shape;93;p16"/>
          <p:cNvSpPr txBox="1"/>
          <p:nvPr/>
        </p:nvSpPr>
        <p:spPr>
          <a:xfrm>
            <a:off x="8524875" y="4810125"/>
            <a:ext cx="476400" cy="190500"/>
          </a:xfrm>
          <a:prstGeom prst="rect">
            <a:avLst/>
          </a:prstGeom>
          <a:noFill/>
          <a:ln>
            <a:noFill/>
          </a:ln>
        </p:spPr>
        <p:txBody>
          <a:bodyPr anchorCtr="0" anchor="t" bIns="91425" lIns="91425" spcFirstLastPara="1" rIns="91425" wrap="square" tIns="91425">
            <a:noAutofit/>
          </a:bodyPr>
          <a:lstStyle/>
          <a:p>
            <a:pPr indent="0" lvl="0" marL="0" rtl="0" algn="r">
              <a:spcBef>
                <a:spcPts val="0"/>
              </a:spcBef>
              <a:spcAft>
                <a:spcPts val="0"/>
              </a:spcAft>
              <a:buNone/>
            </a:pPr>
            <a:r>
              <a:rPr lang="ja" sz="900">
                <a:solidFill>
                  <a:srgbClr val="4285F4"/>
                </a:solidFill>
              </a:rPr>
              <a:t>3</a:t>
            </a:r>
            <a:endParaRPr sz="900">
              <a:solidFill>
                <a:srgbClr val="4285F4"/>
              </a:solidFill>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8F9FA"/>
        </a:solidFill>
      </p:bgPr>
    </p:bg>
    <p:spTree>
      <p:nvGrpSpPr>
        <p:cNvPr id="97" name="Shape 97"/>
        <p:cNvGrpSpPr/>
        <p:nvPr/>
      </p:nvGrpSpPr>
      <p:grpSpPr>
        <a:xfrm>
          <a:off x="0" y="0"/>
          <a:ext cx="0" cy="0"/>
          <a:chOff x="0" y="0"/>
          <a:chExt cx="0" cy="0"/>
        </a:xfrm>
      </p:grpSpPr>
      <p:sp>
        <p:nvSpPr>
          <p:cNvPr id="98" name="Google Shape;98;p17"/>
          <p:cNvSpPr txBox="1"/>
          <p:nvPr/>
        </p:nvSpPr>
        <p:spPr>
          <a:xfrm>
            <a:off x="333375" y="1143000"/>
            <a:ext cx="2857500" cy="19050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rPr b="1" lang="ja" sz="18000">
                <a:solidFill>
                  <a:srgbClr val="EFEFED"/>
                </a:solidFill>
              </a:rPr>
              <a:t>02</a:t>
            </a:r>
            <a:endParaRPr b="1" sz="18000">
              <a:solidFill>
                <a:srgbClr val="EFEFED"/>
              </a:solidFill>
            </a:endParaRPr>
          </a:p>
        </p:txBody>
      </p:sp>
      <p:sp>
        <p:nvSpPr>
          <p:cNvPr id="99" name="Google Shape;99;p17"/>
          <p:cNvSpPr txBox="1"/>
          <p:nvPr/>
        </p:nvSpPr>
        <p:spPr>
          <a:xfrm>
            <a:off x="523875" y="2190750"/>
            <a:ext cx="8001000" cy="7620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b="1" lang="ja" sz="3800">
                <a:solidFill>
                  <a:srgbClr val="333333"/>
                </a:solidFill>
              </a:rPr>
              <a:t>2. エンジニア／開発者への影響</a:t>
            </a:r>
            <a:endParaRPr b="1" sz="3800">
              <a:solidFill>
                <a:srgbClr val="333333"/>
              </a:solidFill>
            </a:endParaRPr>
          </a:p>
        </p:txBody>
      </p:sp>
      <p:sp>
        <p:nvSpPr>
          <p:cNvPr id="100" name="Google Shape;100;p17"/>
          <p:cNvSpPr txBox="1"/>
          <p:nvPr/>
        </p:nvSpPr>
        <p:spPr>
          <a:xfrm>
            <a:off x="142875" y="4810125"/>
            <a:ext cx="2381400" cy="1905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ja" sz="900">
                <a:solidFill>
                  <a:srgbClr val="333333"/>
                </a:solidFill>
              </a:rPr>
              <a:t>© 2025 Your Organization</a:t>
            </a:r>
            <a:endParaRPr sz="900">
              <a:solidFill>
                <a:srgbClr val="333333"/>
              </a:solidFill>
            </a:endParaRPr>
          </a:p>
        </p:txBody>
      </p:sp>
      <p:sp>
        <p:nvSpPr>
          <p:cNvPr id="101" name="Google Shape;101;p17"/>
          <p:cNvSpPr txBox="1"/>
          <p:nvPr/>
        </p:nvSpPr>
        <p:spPr>
          <a:xfrm>
            <a:off x="8524875" y="4810125"/>
            <a:ext cx="476400" cy="190500"/>
          </a:xfrm>
          <a:prstGeom prst="rect">
            <a:avLst/>
          </a:prstGeom>
          <a:noFill/>
          <a:ln>
            <a:noFill/>
          </a:ln>
        </p:spPr>
        <p:txBody>
          <a:bodyPr anchorCtr="0" anchor="t" bIns="91425" lIns="91425" spcFirstLastPara="1" rIns="91425" wrap="square" tIns="91425">
            <a:noAutofit/>
          </a:bodyPr>
          <a:lstStyle/>
          <a:p>
            <a:pPr indent="0" lvl="0" marL="0" rtl="0" algn="r">
              <a:spcBef>
                <a:spcPts val="0"/>
              </a:spcBef>
              <a:spcAft>
                <a:spcPts val="0"/>
              </a:spcAft>
              <a:buNone/>
            </a:pPr>
            <a:r>
              <a:rPr lang="ja" sz="900">
                <a:solidFill>
                  <a:srgbClr val="4285F4"/>
                </a:solidFill>
              </a:rPr>
              <a:t>4</a:t>
            </a:r>
            <a:endParaRPr sz="900">
              <a:solidFill>
                <a:srgbClr val="4285F4"/>
              </a:solidFill>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105" name="Shape 105"/>
        <p:cNvGrpSpPr/>
        <p:nvPr/>
      </p:nvGrpSpPr>
      <p:grpSpPr>
        <a:xfrm>
          <a:off x="0" y="0"/>
          <a:ext cx="0" cy="0"/>
          <a:chOff x="0" y="0"/>
          <a:chExt cx="0" cy="0"/>
        </a:xfrm>
      </p:grpSpPr>
      <p:pic>
        <p:nvPicPr>
          <p:cNvPr id="106" name="Google Shape;106;p18"/>
          <p:cNvPicPr preferRelativeResize="0"/>
          <p:nvPr/>
        </p:nvPicPr>
        <p:blipFill>
          <a:blip r:embed="rId3">
            <a:alphaModFix/>
          </a:blip>
          <a:stretch>
            <a:fillRect/>
          </a:stretch>
        </p:blipFill>
        <p:spPr>
          <a:xfrm>
            <a:off x="8239125" y="190500"/>
            <a:ext cx="714376" cy="242078"/>
          </a:xfrm>
          <a:prstGeom prst="rect">
            <a:avLst/>
          </a:prstGeom>
          <a:noFill/>
          <a:ln>
            <a:noFill/>
          </a:ln>
        </p:spPr>
      </p:pic>
      <p:sp>
        <p:nvSpPr>
          <p:cNvPr id="107" name="Google Shape;107;p18"/>
          <p:cNvSpPr txBox="1"/>
          <p:nvPr/>
        </p:nvSpPr>
        <p:spPr>
          <a:xfrm>
            <a:off x="238125" y="571500"/>
            <a:ext cx="7905900" cy="6192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ja" sz="2800">
                <a:solidFill>
                  <a:srgbClr val="333333"/>
                </a:solidFill>
              </a:rPr>
              <a:t>エンジニアから見た評価：ツールとしての完成度</a:t>
            </a:r>
            <a:endParaRPr b="1" sz="2800">
              <a:solidFill>
                <a:srgbClr val="333333"/>
              </a:solidFill>
            </a:endParaRPr>
          </a:p>
        </p:txBody>
      </p:sp>
      <p:sp>
        <p:nvSpPr>
          <p:cNvPr id="108" name="Google Shape;108;p18"/>
          <p:cNvSpPr/>
          <p:nvPr/>
        </p:nvSpPr>
        <p:spPr>
          <a:xfrm>
            <a:off x="238125" y="1219200"/>
            <a:ext cx="2476500" cy="38100"/>
          </a:xfrm>
          <a:prstGeom prst="rect">
            <a:avLst/>
          </a:prstGeom>
          <a:solidFill>
            <a:srgbClr val="4285F4"/>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09" name="Google Shape;109;p18"/>
          <p:cNvSpPr txBox="1"/>
          <p:nvPr/>
        </p:nvSpPr>
        <p:spPr>
          <a:xfrm>
            <a:off x="238125" y="1333500"/>
            <a:ext cx="7905900" cy="2859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ja" sz="1800">
                <a:solidFill>
                  <a:srgbClr val="333333"/>
                </a:solidFill>
              </a:rPr>
              <a:t>PoCから本番運用までを見据えた、開発者に優しい設計</a:t>
            </a:r>
            <a:endParaRPr sz="1800">
              <a:solidFill>
                <a:srgbClr val="333333"/>
              </a:solidFill>
            </a:endParaRPr>
          </a:p>
        </p:txBody>
      </p:sp>
      <p:sp>
        <p:nvSpPr>
          <p:cNvPr id="110" name="Google Shape;110;p18"/>
          <p:cNvSpPr/>
          <p:nvPr/>
        </p:nvSpPr>
        <p:spPr>
          <a:xfrm>
            <a:off x="238125" y="1981200"/>
            <a:ext cx="4095900" cy="2886000"/>
          </a:xfrm>
          <a:prstGeom prst="rect">
            <a:avLst/>
          </a:prstGeom>
          <a:solidFill>
            <a:srgbClr val="F5F5F3"/>
          </a:solidFill>
          <a:ln cap="flat" cmpd="sng" w="12700">
            <a:solidFill>
              <a:srgbClr val="DADCE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11" name="Google Shape;111;p18"/>
          <p:cNvSpPr/>
          <p:nvPr/>
        </p:nvSpPr>
        <p:spPr>
          <a:xfrm>
            <a:off x="238125" y="1981200"/>
            <a:ext cx="4095900" cy="381000"/>
          </a:xfrm>
          <a:prstGeom prst="rect">
            <a:avLst/>
          </a:prstGeom>
          <a:solidFill>
            <a:srgbClr val="4285F4"/>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b="1" lang="ja" sz="1300">
                <a:solidFill>
                  <a:srgbClr val="FFFFFF"/>
                </a:solidFill>
              </a:rPr>
              <a:t>高く評価する点</a:t>
            </a:r>
            <a:endParaRPr b="1" sz="1300">
              <a:solidFill>
                <a:srgbClr val="FFFFFF"/>
              </a:solidFill>
            </a:endParaRPr>
          </a:p>
        </p:txBody>
      </p:sp>
      <p:sp>
        <p:nvSpPr>
          <p:cNvPr id="112" name="Google Shape;112;p18"/>
          <p:cNvSpPr txBox="1"/>
          <p:nvPr/>
        </p:nvSpPr>
        <p:spPr>
          <a:xfrm>
            <a:off x="352425" y="2476500"/>
            <a:ext cx="3867300" cy="22764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None/>
            </a:pPr>
            <a:r>
              <a:rPr lang="ja">
                <a:solidFill>
                  <a:srgbClr val="333333"/>
                </a:solidFill>
              </a:rPr>
              <a:t>• API/SDKが即日公開</a:t>
            </a:r>
            <a:endParaRPr>
              <a:solidFill>
                <a:srgbClr val="333333"/>
              </a:solidFill>
            </a:endParaRPr>
          </a:p>
          <a:p>
            <a:pPr indent="0" lvl="0" marL="0" rtl="0" algn="l">
              <a:lnSpc>
                <a:spcPct val="100000"/>
              </a:lnSpc>
              <a:spcBef>
                <a:spcPts val="600"/>
              </a:spcBef>
              <a:spcAft>
                <a:spcPts val="0"/>
              </a:spcAft>
              <a:buNone/>
            </a:pPr>
            <a:r>
              <a:t/>
            </a:r>
            <a:endParaRPr>
              <a:solidFill>
                <a:srgbClr val="333333"/>
              </a:solidFill>
            </a:endParaRPr>
          </a:p>
          <a:p>
            <a:pPr indent="0" lvl="0" marL="0" rtl="0" algn="l">
              <a:lnSpc>
                <a:spcPct val="100000"/>
              </a:lnSpc>
              <a:spcBef>
                <a:spcPts val="600"/>
              </a:spcBef>
              <a:spcAft>
                <a:spcPts val="0"/>
              </a:spcAft>
              <a:buNone/>
            </a:pPr>
            <a:r>
              <a:rPr lang="ja">
                <a:solidFill>
                  <a:srgbClr val="333333"/>
                </a:solidFill>
              </a:rPr>
              <a:t>• 明確かつ安価な価格設定</a:t>
            </a:r>
            <a:endParaRPr>
              <a:solidFill>
                <a:srgbClr val="333333"/>
              </a:solidFill>
            </a:endParaRPr>
          </a:p>
          <a:p>
            <a:pPr indent="0" lvl="0" marL="0" rtl="0" algn="l">
              <a:lnSpc>
                <a:spcPct val="100000"/>
              </a:lnSpc>
              <a:spcBef>
                <a:spcPts val="600"/>
              </a:spcBef>
              <a:spcAft>
                <a:spcPts val="0"/>
              </a:spcAft>
              <a:buNone/>
            </a:pPr>
            <a:r>
              <a:t/>
            </a:r>
            <a:endParaRPr>
              <a:solidFill>
                <a:srgbClr val="333333"/>
              </a:solidFill>
            </a:endParaRPr>
          </a:p>
          <a:p>
            <a:pPr indent="0" lvl="0" marL="0" rtl="0" algn="l">
              <a:lnSpc>
                <a:spcPct val="100000"/>
              </a:lnSpc>
              <a:spcBef>
                <a:spcPts val="600"/>
              </a:spcBef>
              <a:spcAft>
                <a:spcPts val="0"/>
              </a:spcAft>
              <a:buNone/>
            </a:pPr>
            <a:r>
              <a:rPr lang="ja">
                <a:solidFill>
                  <a:srgbClr val="333333"/>
                </a:solidFill>
              </a:rPr>
              <a:t>• エンタープライズ対応</a:t>
            </a:r>
            <a:endParaRPr>
              <a:solidFill>
                <a:srgbClr val="333333"/>
              </a:solidFill>
            </a:endParaRPr>
          </a:p>
          <a:p>
            <a:pPr indent="0" lvl="0" marL="0" rtl="0" algn="l">
              <a:lnSpc>
                <a:spcPct val="100000"/>
              </a:lnSpc>
              <a:spcBef>
                <a:spcPts val="600"/>
              </a:spcBef>
              <a:spcAft>
                <a:spcPts val="0"/>
              </a:spcAft>
              <a:buNone/>
            </a:pPr>
            <a:r>
              <a:t/>
            </a:r>
            <a:endParaRPr>
              <a:solidFill>
                <a:srgbClr val="333333"/>
              </a:solidFill>
            </a:endParaRPr>
          </a:p>
          <a:p>
            <a:pPr indent="0" lvl="0" marL="0" rtl="0" algn="l">
              <a:lnSpc>
                <a:spcPct val="100000"/>
              </a:lnSpc>
              <a:spcBef>
                <a:spcPts val="600"/>
              </a:spcBef>
              <a:spcAft>
                <a:spcPts val="600"/>
              </a:spcAft>
              <a:buNone/>
            </a:pPr>
            <a:r>
              <a:rPr lang="ja">
                <a:solidFill>
                  <a:srgbClr val="333333"/>
                </a:solidFill>
              </a:rPr>
              <a:t>• 責任あるAI利用への配慮</a:t>
            </a:r>
            <a:endParaRPr>
              <a:solidFill>
                <a:srgbClr val="333333"/>
              </a:solidFill>
            </a:endParaRPr>
          </a:p>
        </p:txBody>
      </p:sp>
      <p:sp>
        <p:nvSpPr>
          <p:cNvPr id="113" name="Google Shape;113;p18"/>
          <p:cNvSpPr/>
          <p:nvPr/>
        </p:nvSpPr>
        <p:spPr>
          <a:xfrm>
            <a:off x="4810125" y="1981200"/>
            <a:ext cx="4095900" cy="2886000"/>
          </a:xfrm>
          <a:prstGeom prst="rect">
            <a:avLst/>
          </a:prstGeom>
          <a:solidFill>
            <a:srgbClr val="F5F5F3"/>
          </a:solidFill>
          <a:ln cap="flat" cmpd="sng" w="12700">
            <a:solidFill>
              <a:srgbClr val="DADCE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14" name="Google Shape;114;p18"/>
          <p:cNvSpPr/>
          <p:nvPr/>
        </p:nvSpPr>
        <p:spPr>
          <a:xfrm>
            <a:off x="4810125" y="1981200"/>
            <a:ext cx="4095900" cy="381000"/>
          </a:xfrm>
          <a:prstGeom prst="rect">
            <a:avLst/>
          </a:prstGeom>
          <a:solidFill>
            <a:srgbClr val="4285F4"/>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b="1" lang="ja" sz="1300">
                <a:solidFill>
                  <a:srgbClr val="FFFFFF"/>
                </a:solidFill>
              </a:rPr>
              <a:t>具体的なメリット</a:t>
            </a:r>
            <a:endParaRPr b="1" sz="1300">
              <a:solidFill>
                <a:srgbClr val="FFFFFF"/>
              </a:solidFill>
            </a:endParaRPr>
          </a:p>
        </p:txBody>
      </p:sp>
      <p:sp>
        <p:nvSpPr>
          <p:cNvPr id="115" name="Google Shape;115;p18"/>
          <p:cNvSpPr txBox="1"/>
          <p:nvPr/>
        </p:nvSpPr>
        <p:spPr>
          <a:xfrm>
            <a:off x="4924425" y="2476500"/>
            <a:ext cx="3867300" cy="22764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None/>
            </a:pPr>
            <a:r>
              <a:rPr lang="ja">
                <a:solidFill>
                  <a:srgbClr val="333333"/>
                </a:solidFill>
              </a:rPr>
              <a:t>• モデル名 `gemini-2.5-flash-image-preview` ですぐに試せる</a:t>
            </a:r>
            <a:endParaRPr>
              <a:solidFill>
                <a:srgbClr val="333333"/>
              </a:solidFill>
            </a:endParaRPr>
          </a:p>
          <a:p>
            <a:pPr indent="0" lvl="0" marL="0" rtl="0" algn="l">
              <a:lnSpc>
                <a:spcPct val="100000"/>
              </a:lnSpc>
              <a:spcBef>
                <a:spcPts val="600"/>
              </a:spcBef>
              <a:spcAft>
                <a:spcPts val="0"/>
              </a:spcAft>
              <a:buNone/>
            </a:pPr>
            <a:r>
              <a:t/>
            </a:r>
            <a:endParaRPr>
              <a:solidFill>
                <a:srgbClr val="333333"/>
              </a:solidFill>
            </a:endParaRPr>
          </a:p>
          <a:p>
            <a:pPr indent="0" lvl="0" marL="0" rtl="0" algn="l">
              <a:lnSpc>
                <a:spcPct val="100000"/>
              </a:lnSpc>
              <a:spcBef>
                <a:spcPts val="600"/>
              </a:spcBef>
              <a:spcAft>
                <a:spcPts val="0"/>
              </a:spcAft>
              <a:buNone/>
            </a:pPr>
            <a:r>
              <a:rPr lang="ja">
                <a:solidFill>
                  <a:srgbClr val="333333"/>
                </a:solidFill>
              </a:rPr>
              <a:t>• </a:t>
            </a:r>
            <a:r>
              <a:rPr b="1" lang="ja">
                <a:solidFill>
                  <a:srgbClr val="4285F4"/>
                </a:solidFill>
              </a:rPr>
              <a:t>1枚あたり約$0.039</a:t>
            </a:r>
            <a:r>
              <a:rPr lang="ja">
                <a:solidFill>
                  <a:srgbClr val="333333"/>
                </a:solidFill>
              </a:rPr>
              <a:t>でPoCから本番移行まで見通し良好</a:t>
            </a:r>
            <a:endParaRPr>
              <a:solidFill>
                <a:srgbClr val="333333"/>
              </a:solidFill>
            </a:endParaRPr>
          </a:p>
          <a:p>
            <a:pPr indent="0" lvl="0" marL="0" rtl="0" algn="l">
              <a:lnSpc>
                <a:spcPct val="100000"/>
              </a:lnSpc>
              <a:spcBef>
                <a:spcPts val="600"/>
              </a:spcBef>
              <a:spcAft>
                <a:spcPts val="0"/>
              </a:spcAft>
              <a:buNone/>
            </a:pPr>
            <a:r>
              <a:t/>
            </a:r>
            <a:endParaRPr>
              <a:solidFill>
                <a:srgbClr val="333333"/>
              </a:solidFill>
            </a:endParaRPr>
          </a:p>
          <a:p>
            <a:pPr indent="0" lvl="0" marL="0" rtl="0" algn="l">
              <a:lnSpc>
                <a:spcPct val="100000"/>
              </a:lnSpc>
              <a:spcBef>
                <a:spcPts val="600"/>
              </a:spcBef>
              <a:spcAft>
                <a:spcPts val="0"/>
              </a:spcAft>
              <a:buNone/>
            </a:pPr>
            <a:r>
              <a:rPr lang="ja">
                <a:solidFill>
                  <a:srgbClr val="333333"/>
                </a:solidFill>
              </a:rPr>
              <a:t>• </a:t>
            </a:r>
            <a:r>
              <a:rPr b="1" lang="ja">
                <a:solidFill>
                  <a:srgbClr val="333333"/>
                </a:solidFill>
              </a:rPr>
              <a:t>Vertex AI</a:t>
            </a:r>
            <a:r>
              <a:rPr lang="ja">
                <a:solidFill>
                  <a:srgbClr val="333333"/>
                </a:solidFill>
              </a:rPr>
              <a:t>での提供により、既存のMLOpsや請求基盤に統合可能</a:t>
            </a:r>
            <a:endParaRPr>
              <a:solidFill>
                <a:srgbClr val="333333"/>
              </a:solidFill>
            </a:endParaRPr>
          </a:p>
          <a:p>
            <a:pPr indent="0" lvl="0" marL="0" rtl="0" algn="l">
              <a:lnSpc>
                <a:spcPct val="100000"/>
              </a:lnSpc>
              <a:spcBef>
                <a:spcPts val="600"/>
              </a:spcBef>
              <a:spcAft>
                <a:spcPts val="0"/>
              </a:spcAft>
              <a:buNone/>
            </a:pPr>
            <a:r>
              <a:t/>
            </a:r>
            <a:endParaRPr>
              <a:solidFill>
                <a:srgbClr val="333333"/>
              </a:solidFill>
            </a:endParaRPr>
          </a:p>
          <a:p>
            <a:pPr indent="0" lvl="0" marL="0" rtl="0" algn="l">
              <a:lnSpc>
                <a:spcPct val="100000"/>
              </a:lnSpc>
              <a:spcBef>
                <a:spcPts val="600"/>
              </a:spcBef>
              <a:spcAft>
                <a:spcPts val="600"/>
              </a:spcAft>
              <a:buNone/>
            </a:pPr>
            <a:r>
              <a:rPr lang="ja">
                <a:solidFill>
                  <a:srgbClr val="333333"/>
                </a:solidFill>
              </a:rPr>
              <a:t>• </a:t>
            </a:r>
            <a:r>
              <a:rPr b="1" lang="ja">
                <a:solidFill>
                  <a:srgbClr val="333333"/>
                </a:solidFill>
              </a:rPr>
              <a:t>SynthID透かし</a:t>
            </a:r>
            <a:r>
              <a:rPr lang="ja">
                <a:solidFill>
                  <a:srgbClr val="333333"/>
                </a:solidFill>
              </a:rPr>
              <a:t>が標準付与され、生成コンテンツのリスク管理が容易</a:t>
            </a:r>
            <a:endParaRPr>
              <a:solidFill>
                <a:srgbClr val="333333"/>
              </a:solidFill>
            </a:endParaRPr>
          </a:p>
        </p:txBody>
      </p:sp>
      <p:sp>
        <p:nvSpPr>
          <p:cNvPr id="116" name="Google Shape;116;p18"/>
          <p:cNvSpPr/>
          <p:nvPr/>
        </p:nvSpPr>
        <p:spPr>
          <a:xfrm>
            <a:off x="0" y="5086350"/>
            <a:ext cx="9144000" cy="57300"/>
          </a:xfrm>
          <a:prstGeom prst="rect">
            <a:avLst/>
          </a:prstGeom>
          <a:solidFill>
            <a:srgbClr val="4285F4"/>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17" name="Google Shape;117;p18"/>
          <p:cNvSpPr txBox="1"/>
          <p:nvPr/>
        </p:nvSpPr>
        <p:spPr>
          <a:xfrm>
            <a:off x="142875" y="4810125"/>
            <a:ext cx="2381400" cy="1905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ja" sz="900">
                <a:solidFill>
                  <a:srgbClr val="333333"/>
                </a:solidFill>
              </a:rPr>
              <a:t>© 2025 Your Organization</a:t>
            </a:r>
            <a:endParaRPr sz="900">
              <a:solidFill>
                <a:srgbClr val="333333"/>
              </a:solidFill>
            </a:endParaRPr>
          </a:p>
        </p:txBody>
      </p:sp>
      <p:sp>
        <p:nvSpPr>
          <p:cNvPr id="118" name="Google Shape;118;p18"/>
          <p:cNvSpPr txBox="1"/>
          <p:nvPr/>
        </p:nvSpPr>
        <p:spPr>
          <a:xfrm>
            <a:off x="8524875" y="4810125"/>
            <a:ext cx="476400" cy="190500"/>
          </a:xfrm>
          <a:prstGeom prst="rect">
            <a:avLst/>
          </a:prstGeom>
          <a:noFill/>
          <a:ln>
            <a:noFill/>
          </a:ln>
        </p:spPr>
        <p:txBody>
          <a:bodyPr anchorCtr="0" anchor="t" bIns="91425" lIns="91425" spcFirstLastPara="1" rIns="91425" wrap="square" tIns="91425">
            <a:noAutofit/>
          </a:bodyPr>
          <a:lstStyle/>
          <a:p>
            <a:pPr indent="0" lvl="0" marL="0" rtl="0" algn="r">
              <a:spcBef>
                <a:spcPts val="0"/>
              </a:spcBef>
              <a:spcAft>
                <a:spcPts val="0"/>
              </a:spcAft>
              <a:buNone/>
            </a:pPr>
            <a:r>
              <a:rPr lang="ja" sz="900">
                <a:solidFill>
                  <a:srgbClr val="4285F4"/>
                </a:solidFill>
              </a:rPr>
              <a:t>5</a:t>
            </a:r>
            <a:endParaRPr sz="900">
              <a:solidFill>
                <a:srgbClr val="4285F4"/>
              </a:solidFill>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122" name="Shape 122"/>
        <p:cNvGrpSpPr/>
        <p:nvPr/>
      </p:nvGrpSpPr>
      <p:grpSpPr>
        <a:xfrm>
          <a:off x="0" y="0"/>
          <a:ext cx="0" cy="0"/>
          <a:chOff x="0" y="0"/>
          <a:chExt cx="0" cy="0"/>
        </a:xfrm>
      </p:grpSpPr>
      <p:pic>
        <p:nvPicPr>
          <p:cNvPr id="123" name="Google Shape;123;p19"/>
          <p:cNvPicPr preferRelativeResize="0"/>
          <p:nvPr/>
        </p:nvPicPr>
        <p:blipFill>
          <a:blip r:embed="rId3">
            <a:alphaModFix/>
          </a:blip>
          <a:stretch>
            <a:fillRect/>
          </a:stretch>
        </p:blipFill>
        <p:spPr>
          <a:xfrm>
            <a:off x="8239125" y="190500"/>
            <a:ext cx="714376" cy="242078"/>
          </a:xfrm>
          <a:prstGeom prst="rect">
            <a:avLst/>
          </a:prstGeom>
          <a:noFill/>
          <a:ln>
            <a:noFill/>
          </a:ln>
        </p:spPr>
      </p:pic>
      <p:sp>
        <p:nvSpPr>
          <p:cNvPr id="124" name="Google Shape;124;p19"/>
          <p:cNvSpPr txBox="1"/>
          <p:nvPr/>
        </p:nvSpPr>
        <p:spPr>
          <a:xfrm>
            <a:off x="238125" y="571500"/>
            <a:ext cx="7905900" cy="6192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ja" sz="2800">
                <a:solidFill>
                  <a:srgbClr val="333333"/>
                </a:solidFill>
              </a:rPr>
              <a:t>最小実装コード (Python) とクイック検証手順</a:t>
            </a:r>
            <a:endParaRPr b="1" sz="2800">
              <a:solidFill>
                <a:srgbClr val="333333"/>
              </a:solidFill>
            </a:endParaRPr>
          </a:p>
        </p:txBody>
      </p:sp>
      <p:sp>
        <p:nvSpPr>
          <p:cNvPr id="125" name="Google Shape;125;p19"/>
          <p:cNvSpPr/>
          <p:nvPr/>
        </p:nvSpPr>
        <p:spPr>
          <a:xfrm>
            <a:off x="238125" y="1219200"/>
            <a:ext cx="2476500" cy="38100"/>
          </a:xfrm>
          <a:prstGeom prst="rect">
            <a:avLst/>
          </a:prstGeom>
          <a:solidFill>
            <a:srgbClr val="4285F4"/>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26" name="Google Shape;126;p19"/>
          <p:cNvSpPr txBox="1"/>
          <p:nvPr/>
        </p:nvSpPr>
        <p:spPr>
          <a:xfrm>
            <a:off x="238125" y="1333500"/>
            <a:ext cx="7905900" cy="2859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ja" sz="1800">
                <a:solidFill>
                  <a:srgbClr val="333333"/>
                </a:solidFill>
              </a:rPr>
              <a:t>公式ドキュメント準拠のサンプルで、すぐに動作確認が可能</a:t>
            </a:r>
            <a:endParaRPr sz="1800">
              <a:solidFill>
                <a:srgbClr val="333333"/>
              </a:solidFill>
            </a:endParaRPr>
          </a:p>
        </p:txBody>
      </p:sp>
      <p:sp>
        <p:nvSpPr>
          <p:cNvPr id="127" name="Google Shape;127;p19"/>
          <p:cNvSpPr txBox="1"/>
          <p:nvPr/>
        </p:nvSpPr>
        <p:spPr>
          <a:xfrm>
            <a:off x="238125" y="1981200"/>
            <a:ext cx="8667900" cy="28860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None/>
            </a:pPr>
            <a:r>
              <a:rPr lang="ja">
                <a:solidFill>
                  <a:srgbClr val="333333"/>
                </a:solidFill>
              </a:rPr>
              <a:t>• </a:t>
            </a:r>
            <a:r>
              <a:rPr b="1" lang="ja">
                <a:solidFill>
                  <a:srgbClr val="333333"/>
                </a:solidFill>
              </a:rPr>
              <a:t>ステップ1:</a:t>
            </a:r>
            <a:r>
              <a:rPr lang="ja">
                <a:solidFill>
                  <a:srgbClr val="333333"/>
                </a:solidFill>
              </a:rPr>
              <a:t> `pip install google-genai pillow` を実行しライブラリを導入</a:t>
            </a:r>
            <a:endParaRPr>
              <a:solidFill>
                <a:srgbClr val="333333"/>
              </a:solidFill>
            </a:endParaRPr>
          </a:p>
          <a:p>
            <a:pPr indent="0" lvl="0" marL="0" rtl="0" algn="l">
              <a:lnSpc>
                <a:spcPct val="100000"/>
              </a:lnSpc>
              <a:spcBef>
                <a:spcPts val="600"/>
              </a:spcBef>
              <a:spcAft>
                <a:spcPts val="0"/>
              </a:spcAft>
              <a:buNone/>
            </a:pPr>
            <a:r>
              <a:t/>
            </a:r>
            <a:endParaRPr>
              <a:solidFill>
                <a:srgbClr val="333333"/>
              </a:solidFill>
            </a:endParaRPr>
          </a:p>
          <a:p>
            <a:pPr indent="0" lvl="0" marL="0" rtl="0" algn="l">
              <a:lnSpc>
                <a:spcPct val="100000"/>
              </a:lnSpc>
              <a:spcBef>
                <a:spcPts val="600"/>
              </a:spcBef>
              <a:spcAft>
                <a:spcPts val="0"/>
              </a:spcAft>
              <a:buNone/>
            </a:pPr>
            <a:r>
              <a:rPr lang="ja">
                <a:solidFill>
                  <a:srgbClr val="333333"/>
                </a:solidFill>
              </a:rPr>
              <a:t>• </a:t>
            </a:r>
            <a:r>
              <a:rPr b="1" lang="ja">
                <a:solidFill>
                  <a:srgbClr val="333333"/>
                </a:solidFill>
              </a:rPr>
              <a:t>ステップ2:</a:t>
            </a:r>
            <a:r>
              <a:rPr lang="ja">
                <a:solidFill>
                  <a:srgbClr val="333333"/>
                </a:solidFill>
              </a:rPr>
              <a:t> `GOOGLE_API_KEY` 環境変数を設定</a:t>
            </a:r>
            <a:endParaRPr>
              <a:solidFill>
                <a:srgbClr val="333333"/>
              </a:solidFill>
            </a:endParaRPr>
          </a:p>
          <a:p>
            <a:pPr indent="0" lvl="0" marL="0" rtl="0" algn="l">
              <a:lnSpc>
                <a:spcPct val="100000"/>
              </a:lnSpc>
              <a:spcBef>
                <a:spcPts val="600"/>
              </a:spcBef>
              <a:spcAft>
                <a:spcPts val="0"/>
              </a:spcAft>
              <a:buNone/>
            </a:pPr>
            <a:r>
              <a:t/>
            </a:r>
            <a:endParaRPr>
              <a:solidFill>
                <a:srgbClr val="333333"/>
              </a:solidFill>
            </a:endParaRPr>
          </a:p>
          <a:p>
            <a:pPr indent="0" lvl="0" marL="0" rtl="0" algn="l">
              <a:lnSpc>
                <a:spcPct val="100000"/>
              </a:lnSpc>
              <a:spcBef>
                <a:spcPts val="600"/>
              </a:spcBef>
              <a:spcAft>
                <a:spcPts val="0"/>
              </a:spcAft>
              <a:buNone/>
            </a:pPr>
            <a:r>
              <a:rPr lang="ja">
                <a:solidFill>
                  <a:srgbClr val="333333"/>
                </a:solidFill>
              </a:rPr>
              <a:t>• </a:t>
            </a:r>
            <a:r>
              <a:rPr b="1" lang="ja">
                <a:solidFill>
                  <a:srgbClr val="333333"/>
                </a:solidFill>
              </a:rPr>
              <a:t>ステップ3:</a:t>
            </a:r>
            <a:r>
              <a:rPr lang="ja">
                <a:solidFill>
                  <a:srgbClr val="333333"/>
                </a:solidFill>
              </a:rPr>
              <a:t> 公式サンプルコードを実行し、`output.jpg`が生成されることを確認</a:t>
            </a:r>
            <a:endParaRPr>
              <a:solidFill>
                <a:srgbClr val="333333"/>
              </a:solidFill>
            </a:endParaRPr>
          </a:p>
          <a:p>
            <a:pPr indent="0" lvl="0" marL="0" rtl="0" algn="l">
              <a:lnSpc>
                <a:spcPct val="100000"/>
              </a:lnSpc>
              <a:spcBef>
                <a:spcPts val="600"/>
              </a:spcBef>
              <a:spcAft>
                <a:spcPts val="0"/>
              </a:spcAft>
              <a:buNone/>
            </a:pPr>
            <a:r>
              <a:t/>
            </a:r>
            <a:endParaRPr>
              <a:solidFill>
                <a:srgbClr val="333333"/>
              </a:solidFill>
            </a:endParaRPr>
          </a:p>
          <a:p>
            <a:pPr indent="0" lvl="0" marL="0" rtl="0" algn="l">
              <a:lnSpc>
                <a:spcPct val="100000"/>
              </a:lnSpc>
              <a:spcBef>
                <a:spcPts val="600"/>
              </a:spcBef>
              <a:spcAft>
                <a:spcPts val="600"/>
              </a:spcAft>
              <a:buNone/>
            </a:pPr>
            <a:r>
              <a:rPr lang="ja">
                <a:solidFill>
                  <a:srgbClr val="333333"/>
                </a:solidFill>
              </a:rPr>
              <a:t>• </a:t>
            </a:r>
            <a:r>
              <a:rPr b="1" lang="ja">
                <a:solidFill>
                  <a:srgbClr val="333333"/>
                </a:solidFill>
              </a:rPr>
              <a:t>（任意）ステップ4:</a:t>
            </a:r>
            <a:r>
              <a:rPr lang="ja">
                <a:solidFill>
                  <a:srgbClr val="333333"/>
                </a:solidFill>
              </a:rPr>
              <a:t> 生成画像を</a:t>
            </a:r>
            <a:r>
              <a:rPr b="1" lang="ja">
                <a:solidFill>
                  <a:srgbClr val="333333"/>
                </a:solidFill>
              </a:rPr>
              <a:t>SynthID Detector</a:t>
            </a:r>
            <a:r>
              <a:rPr lang="ja">
                <a:solidFill>
                  <a:srgbClr val="333333"/>
                </a:solidFill>
              </a:rPr>
              <a:t>にアップロードし、透かしが検出されるか検証</a:t>
            </a:r>
            <a:endParaRPr>
              <a:solidFill>
                <a:srgbClr val="333333"/>
              </a:solidFill>
            </a:endParaRPr>
          </a:p>
        </p:txBody>
      </p:sp>
      <p:sp>
        <p:nvSpPr>
          <p:cNvPr id="128" name="Google Shape;128;p19"/>
          <p:cNvSpPr/>
          <p:nvPr/>
        </p:nvSpPr>
        <p:spPr>
          <a:xfrm>
            <a:off x="0" y="5086350"/>
            <a:ext cx="9144000" cy="57300"/>
          </a:xfrm>
          <a:prstGeom prst="rect">
            <a:avLst/>
          </a:prstGeom>
          <a:solidFill>
            <a:srgbClr val="4285F4"/>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29" name="Google Shape;129;p19"/>
          <p:cNvSpPr txBox="1"/>
          <p:nvPr/>
        </p:nvSpPr>
        <p:spPr>
          <a:xfrm>
            <a:off x="142875" y="4810125"/>
            <a:ext cx="2381400" cy="1905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ja" sz="900">
                <a:solidFill>
                  <a:srgbClr val="333333"/>
                </a:solidFill>
              </a:rPr>
              <a:t>© 2025 Your Organization</a:t>
            </a:r>
            <a:endParaRPr sz="900">
              <a:solidFill>
                <a:srgbClr val="333333"/>
              </a:solidFill>
            </a:endParaRPr>
          </a:p>
        </p:txBody>
      </p:sp>
      <p:sp>
        <p:nvSpPr>
          <p:cNvPr id="130" name="Google Shape;130;p19"/>
          <p:cNvSpPr txBox="1"/>
          <p:nvPr/>
        </p:nvSpPr>
        <p:spPr>
          <a:xfrm>
            <a:off x="8524875" y="4810125"/>
            <a:ext cx="476400" cy="190500"/>
          </a:xfrm>
          <a:prstGeom prst="rect">
            <a:avLst/>
          </a:prstGeom>
          <a:noFill/>
          <a:ln>
            <a:noFill/>
          </a:ln>
        </p:spPr>
        <p:txBody>
          <a:bodyPr anchorCtr="0" anchor="t" bIns="91425" lIns="91425" spcFirstLastPara="1" rIns="91425" wrap="square" tIns="91425">
            <a:noAutofit/>
          </a:bodyPr>
          <a:lstStyle/>
          <a:p>
            <a:pPr indent="0" lvl="0" marL="0" rtl="0" algn="r">
              <a:spcBef>
                <a:spcPts val="0"/>
              </a:spcBef>
              <a:spcAft>
                <a:spcPts val="0"/>
              </a:spcAft>
              <a:buNone/>
            </a:pPr>
            <a:r>
              <a:rPr lang="ja" sz="900">
                <a:solidFill>
                  <a:srgbClr val="4285F4"/>
                </a:solidFill>
              </a:rPr>
              <a:t>6</a:t>
            </a:r>
            <a:endParaRPr sz="900">
              <a:solidFill>
                <a:srgbClr val="4285F4"/>
              </a:solidFill>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8F9FA"/>
        </a:solidFill>
      </p:bgPr>
    </p:bg>
    <p:spTree>
      <p:nvGrpSpPr>
        <p:cNvPr id="134" name="Shape 134"/>
        <p:cNvGrpSpPr/>
        <p:nvPr/>
      </p:nvGrpSpPr>
      <p:grpSpPr>
        <a:xfrm>
          <a:off x="0" y="0"/>
          <a:ext cx="0" cy="0"/>
          <a:chOff x="0" y="0"/>
          <a:chExt cx="0" cy="0"/>
        </a:xfrm>
      </p:grpSpPr>
      <p:sp>
        <p:nvSpPr>
          <p:cNvPr id="135" name="Google Shape;135;p20"/>
          <p:cNvSpPr txBox="1"/>
          <p:nvPr/>
        </p:nvSpPr>
        <p:spPr>
          <a:xfrm>
            <a:off x="333375" y="1143000"/>
            <a:ext cx="2857500" cy="19050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rPr b="1" lang="ja" sz="18000">
                <a:solidFill>
                  <a:srgbClr val="EFEFED"/>
                </a:solidFill>
              </a:rPr>
              <a:t>03</a:t>
            </a:r>
            <a:endParaRPr b="1" sz="18000">
              <a:solidFill>
                <a:srgbClr val="EFEFED"/>
              </a:solidFill>
            </a:endParaRPr>
          </a:p>
        </p:txBody>
      </p:sp>
      <p:sp>
        <p:nvSpPr>
          <p:cNvPr id="136" name="Google Shape;136;p20"/>
          <p:cNvSpPr txBox="1"/>
          <p:nvPr/>
        </p:nvSpPr>
        <p:spPr>
          <a:xfrm>
            <a:off x="523875" y="2190750"/>
            <a:ext cx="8001000" cy="7620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b="1" lang="ja" sz="3800">
                <a:solidFill>
                  <a:srgbClr val="333333"/>
                </a:solidFill>
              </a:rPr>
              <a:t>3. ビジネス／一般ユーザーへの影響</a:t>
            </a:r>
            <a:endParaRPr b="1" sz="3800">
              <a:solidFill>
                <a:srgbClr val="333333"/>
              </a:solidFill>
            </a:endParaRPr>
          </a:p>
        </p:txBody>
      </p:sp>
      <p:sp>
        <p:nvSpPr>
          <p:cNvPr id="137" name="Google Shape;137;p20"/>
          <p:cNvSpPr txBox="1"/>
          <p:nvPr/>
        </p:nvSpPr>
        <p:spPr>
          <a:xfrm>
            <a:off x="142875" y="4810125"/>
            <a:ext cx="2381400" cy="1905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ja" sz="900">
                <a:solidFill>
                  <a:srgbClr val="333333"/>
                </a:solidFill>
              </a:rPr>
              <a:t>© 2025 Your Organization</a:t>
            </a:r>
            <a:endParaRPr sz="900">
              <a:solidFill>
                <a:srgbClr val="333333"/>
              </a:solidFill>
            </a:endParaRPr>
          </a:p>
        </p:txBody>
      </p:sp>
      <p:sp>
        <p:nvSpPr>
          <p:cNvPr id="138" name="Google Shape;138;p20"/>
          <p:cNvSpPr txBox="1"/>
          <p:nvPr/>
        </p:nvSpPr>
        <p:spPr>
          <a:xfrm>
            <a:off x="8524875" y="4810125"/>
            <a:ext cx="476400" cy="190500"/>
          </a:xfrm>
          <a:prstGeom prst="rect">
            <a:avLst/>
          </a:prstGeom>
          <a:noFill/>
          <a:ln>
            <a:noFill/>
          </a:ln>
        </p:spPr>
        <p:txBody>
          <a:bodyPr anchorCtr="0" anchor="t" bIns="91425" lIns="91425" spcFirstLastPara="1" rIns="91425" wrap="square" tIns="91425">
            <a:noAutofit/>
          </a:bodyPr>
          <a:lstStyle/>
          <a:p>
            <a:pPr indent="0" lvl="0" marL="0" rtl="0" algn="r">
              <a:spcBef>
                <a:spcPts val="0"/>
              </a:spcBef>
              <a:spcAft>
                <a:spcPts val="0"/>
              </a:spcAft>
              <a:buNone/>
            </a:pPr>
            <a:r>
              <a:rPr lang="ja" sz="900">
                <a:solidFill>
                  <a:srgbClr val="4285F4"/>
                </a:solidFill>
              </a:rPr>
              <a:t>7</a:t>
            </a:r>
            <a:endParaRPr sz="900">
              <a:solidFill>
                <a:srgbClr val="4285F4"/>
              </a:solidFill>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142" name="Shape 142"/>
        <p:cNvGrpSpPr/>
        <p:nvPr/>
      </p:nvGrpSpPr>
      <p:grpSpPr>
        <a:xfrm>
          <a:off x="0" y="0"/>
          <a:ext cx="0" cy="0"/>
          <a:chOff x="0" y="0"/>
          <a:chExt cx="0" cy="0"/>
        </a:xfrm>
      </p:grpSpPr>
      <p:pic>
        <p:nvPicPr>
          <p:cNvPr id="143" name="Google Shape;143;p21"/>
          <p:cNvPicPr preferRelativeResize="0"/>
          <p:nvPr/>
        </p:nvPicPr>
        <p:blipFill>
          <a:blip r:embed="rId3">
            <a:alphaModFix/>
          </a:blip>
          <a:stretch>
            <a:fillRect/>
          </a:stretch>
        </p:blipFill>
        <p:spPr>
          <a:xfrm>
            <a:off x="8239125" y="190500"/>
            <a:ext cx="714376" cy="242078"/>
          </a:xfrm>
          <a:prstGeom prst="rect">
            <a:avLst/>
          </a:prstGeom>
          <a:noFill/>
          <a:ln>
            <a:noFill/>
          </a:ln>
        </p:spPr>
      </p:pic>
      <p:sp>
        <p:nvSpPr>
          <p:cNvPr id="144" name="Google Shape;144;p21"/>
          <p:cNvSpPr txBox="1"/>
          <p:nvPr/>
        </p:nvSpPr>
        <p:spPr>
          <a:xfrm>
            <a:off x="238125" y="571500"/>
            <a:ext cx="7905900" cy="6192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ja" sz="2800">
                <a:solidFill>
                  <a:srgbClr val="333333"/>
                </a:solidFill>
              </a:rPr>
              <a:t>ビジネス効率化への貢献度：高</a:t>
            </a:r>
            <a:endParaRPr b="1" sz="2800">
              <a:solidFill>
                <a:srgbClr val="333333"/>
              </a:solidFill>
            </a:endParaRPr>
          </a:p>
        </p:txBody>
      </p:sp>
      <p:sp>
        <p:nvSpPr>
          <p:cNvPr id="145" name="Google Shape;145;p21"/>
          <p:cNvSpPr/>
          <p:nvPr/>
        </p:nvSpPr>
        <p:spPr>
          <a:xfrm>
            <a:off x="238125" y="1219200"/>
            <a:ext cx="2476500" cy="38100"/>
          </a:xfrm>
          <a:prstGeom prst="rect">
            <a:avLst/>
          </a:prstGeom>
          <a:solidFill>
            <a:srgbClr val="4285F4"/>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46" name="Google Shape;146;p21"/>
          <p:cNvSpPr txBox="1"/>
          <p:nvPr/>
        </p:nvSpPr>
        <p:spPr>
          <a:xfrm>
            <a:off x="238125" y="1333500"/>
            <a:ext cx="7905900" cy="2859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ja" sz="1800">
                <a:solidFill>
                  <a:srgbClr val="333333"/>
                </a:solidFill>
              </a:rPr>
              <a:t>ノーコードでの画像編集と既存ワークフローへの直接的なインパクト</a:t>
            </a:r>
            <a:endParaRPr sz="1800">
              <a:solidFill>
                <a:srgbClr val="333333"/>
              </a:solidFill>
            </a:endParaRPr>
          </a:p>
        </p:txBody>
      </p:sp>
      <p:sp>
        <p:nvSpPr>
          <p:cNvPr id="147" name="Google Shape;147;p21"/>
          <p:cNvSpPr txBox="1"/>
          <p:nvPr/>
        </p:nvSpPr>
        <p:spPr>
          <a:xfrm>
            <a:off x="238125" y="1981200"/>
            <a:ext cx="8667900" cy="28860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None/>
            </a:pPr>
            <a:r>
              <a:rPr lang="ja">
                <a:solidFill>
                  <a:srgbClr val="333333"/>
                </a:solidFill>
              </a:rPr>
              <a:t>• </a:t>
            </a:r>
            <a:r>
              <a:rPr b="1" lang="ja">
                <a:solidFill>
                  <a:srgbClr val="333333"/>
                </a:solidFill>
              </a:rPr>
              <a:t>Geminiアプリで誰でもプロ並み編集</a:t>
            </a:r>
            <a:r>
              <a:rPr lang="ja">
                <a:solidFill>
                  <a:srgbClr val="333333"/>
                </a:solidFill>
              </a:rPr>
              <a:t>: 背景差替え、服装変更、複数画像の合成などを</a:t>
            </a:r>
            <a:r>
              <a:rPr b="1" lang="ja">
                <a:solidFill>
                  <a:srgbClr val="4285F4"/>
                </a:solidFill>
              </a:rPr>
              <a:t>自然言語の指示だけ</a:t>
            </a:r>
            <a:r>
              <a:rPr lang="ja">
                <a:solidFill>
                  <a:srgbClr val="333333"/>
                </a:solidFill>
              </a:rPr>
              <a:t>で実現</a:t>
            </a:r>
            <a:endParaRPr>
              <a:solidFill>
                <a:srgbClr val="333333"/>
              </a:solidFill>
            </a:endParaRPr>
          </a:p>
          <a:p>
            <a:pPr indent="0" lvl="0" marL="0" rtl="0" algn="l">
              <a:lnSpc>
                <a:spcPct val="100000"/>
              </a:lnSpc>
              <a:spcBef>
                <a:spcPts val="600"/>
              </a:spcBef>
              <a:spcAft>
                <a:spcPts val="0"/>
              </a:spcAft>
              <a:buNone/>
            </a:pPr>
            <a:r>
              <a:t/>
            </a:r>
            <a:endParaRPr>
              <a:solidFill>
                <a:srgbClr val="333333"/>
              </a:solidFill>
            </a:endParaRPr>
          </a:p>
          <a:p>
            <a:pPr indent="0" lvl="0" marL="0" rtl="0" algn="l">
              <a:lnSpc>
                <a:spcPct val="100000"/>
              </a:lnSpc>
              <a:spcBef>
                <a:spcPts val="600"/>
              </a:spcBef>
              <a:spcAft>
                <a:spcPts val="0"/>
              </a:spcAft>
              <a:buNone/>
            </a:pPr>
            <a:r>
              <a:rPr lang="ja">
                <a:solidFill>
                  <a:srgbClr val="333333"/>
                </a:solidFill>
              </a:rPr>
              <a:t>• </a:t>
            </a:r>
            <a:r>
              <a:rPr b="1" lang="ja">
                <a:solidFill>
                  <a:srgbClr val="333333"/>
                </a:solidFill>
              </a:rPr>
              <a:t>Adobeワークフローに即接続</a:t>
            </a:r>
            <a:r>
              <a:rPr lang="ja">
                <a:solidFill>
                  <a:srgbClr val="333333"/>
                </a:solidFill>
              </a:rPr>
              <a:t>: Firefly/Express上で直接利用可能。SNS素材や提案書の</a:t>
            </a:r>
            <a:r>
              <a:rPr b="1" lang="ja">
                <a:solidFill>
                  <a:srgbClr val="4285F4"/>
                </a:solidFill>
              </a:rPr>
              <a:t>A/Bテスト用画像を高速量産</a:t>
            </a:r>
            <a:endParaRPr b="1">
              <a:solidFill>
                <a:srgbClr val="4285F4"/>
              </a:solidFill>
            </a:endParaRPr>
          </a:p>
          <a:p>
            <a:pPr indent="0" lvl="0" marL="0" rtl="0" algn="l">
              <a:lnSpc>
                <a:spcPct val="100000"/>
              </a:lnSpc>
              <a:spcBef>
                <a:spcPts val="600"/>
              </a:spcBef>
              <a:spcAft>
                <a:spcPts val="0"/>
              </a:spcAft>
              <a:buNone/>
            </a:pPr>
            <a:r>
              <a:t/>
            </a:r>
            <a:endParaRPr>
              <a:solidFill>
                <a:srgbClr val="333333"/>
              </a:solidFill>
            </a:endParaRPr>
          </a:p>
          <a:p>
            <a:pPr indent="0" lvl="0" marL="0" rtl="0" algn="l">
              <a:lnSpc>
                <a:spcPct val="100000"/>
              </a:lnSpc>
              <a:spcBef>
                <a:spcPts val="600"/>
              </a:spcBef>
              <a:spcAft>
                <a:spcPts val="600"/>
              </a:spcAft>
              <a:buNone/>
            </a:pPr>
            <a:r>
              <a:rPr lang="ja">
                <a:solidFill>
                  <a:srgbClr val="333333"/>
                </a:solidFill>
              </a:rPr>
              <a:t>• </a:t>
            </a:r>
            <a:r>
              <a:rPr b="1" lang="ja">
                <a:solidFill>
                  <a:srgbClr val="333333"/>
                </a:solidFill>
              </a:rPr>
              <a:t>ガバナンスと透明性</a:t>
            </a:r>
            <a:r>
              <a:rPr lang="ja">
                <a:solidFill>
                  <a:srgbClr val="333333"/>
                </a:solidFill>
              </a:rPr>
              <a:t>: </a:t>
            </a:r>
            <a:r>
              <a:rPr b="1" lang="ja">
                <a:solidFill>
                  <a:srgbClr val="333333"/>
                </a:solidFill>
              </a:rPr>
              <a:t>可視・不可視のダブル透かし</a:t>
            </a:r>
            <a:r>
              <a:rPr lang="ja">
                <a:solidFill>
                  <a:srgbClr val="333333"/>
                </a:solidFill>
              </a:rPr>
              <a:t>（Geminiアプリ）により、生成AI利用に関する対外的な説明責任を果たしやすい</a:t>
            </a:r>
            <a:endParaRPr>
              <a:solidFill>
                <a:srgbClr val="333333"/>
              </a:solidFill>
            </a:endParaRPr>
          </a:p>
        </p:txBody>
      </p:sp>
      <p:sp>
        <p:nvSpPr>
          <p:cNvPr id="148" name="Google Shape;148;p21"/>
          <p:cNvSpPr/>
          <p:nvPr/>
        </p:nvSpPr>
        <p:spPr>
          <a:xfrm>
            <a:off x="0" y="5086350"/>
            <a:ext cx="9144000" cy="57300"/>
          </a:xfrm>
          <a:prstGeom prst="rect">
            <a:avLst/>
          </a:prstGeom>
          <a:solidFill>
            <a:srgbClr val="4285F4"/>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49" name="Google Shape;149;p21"/>
          <p:cNvSpPr txBox="1"/>
          <p:nvPr/>
        </p:nvSpPr>
        <p:spPr>
          <a:xfrm>
            <a:off x="142875" y="4810125"/>
            <a:ext cx="2381400" cy="1905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ja" sz="900">
                <a:solidFill>
                  <a:srgbClr val="333333"/>
                </a:solidFill>
              </a:rPr>
              <a:t>© 2025 Your Organization</a:t>
            </a:r>
            <a:endParaRPr sz="900">
              <a:solidFill>
                <a:srgbClr val="333333"/>
              </a:solidFill>
            </a:endParaRPr>
          </a:p>
        </p:txBody>
      </p:sp>
      <p:sp>
        <p:nvSpPr>
          <p:cNvPr id="150" name="Google Shape;150;p21"/>
          <p:cNvSpPr txBox="1"/>
          <p:nvPr/>
        </p:nvSpPr>
        <p:spPr>
          <a:xfrm>
            <a:off x="8524875" y="4810125"/>
            <a:ext cx="476400" cy="190500"/>
          </a:xfrm>
          <a:prstGeom prst="rect">
            <a:avLst/>
          </a:prstGeom>
          <a:noFill/>
          <a:ln>
            <a:noFill/>
          </a:ln>
        </p:spPr>
        <p:txBody>
          <a:bodyPr anchorCtr="0" anchor="t" bIns="91425" lIns="91425" spcFirstLastPara="1" rIns="91425" wrap="square" tIns="91425">
            <a:noAutofit/>
          </a:bodyPr>
          <a:lstStyle/>
          <a:p>
            <a:pPr indent="0" lvl="0" marL="0" rtl="0" algn="r">
              <a:spcBef>
                <a:spcPts val="0"/>
              </a:spcBef>
              <a:spcAft>
                <a:spcPts val="0"/>
              </a:spcAft>
              <a:buNone/>
            </a:pPr>
            <a:r>
              <a:rPr lang="ja" sz="900">
                <a:solidFill>
                  <a:srgbClr val="4285F4"/>
                </a:solidFill>
              </a:rPr>
              <a:t>8</a:t>
            </a:r>
            <a:endParaRPr sz="900">
              <a:solidFill>
                <a:srgbClr val="4285F4"/>
              </a:solidFill>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8F9FA"/>
        </a:solidFill>
      </p:bgPr>
    </p:bg>
    <p:spTree>
      <p:nvGrpSpPr>
        <p:cNvPr id="154" name="Shape 154"/>
        <p:cNvGrpSpPr/>
        <p:nvPr/>
      </p:nvGrpSpPr>
      <p:grpSpPr>
        <a:xfrm>
          <a:off x="0" y="0"/>
          <a:ext cx="0" cy="0"/>
          <a:chOff x="0" y="0"/>
          <a:chExt cx="0" cy="0"/>
        </a:xfrm>
      </p:grpSpPr>
      <p:sp>
        <p:nvSpPr>
          <p:cNvPr id="155" name="Google Shape;155;p22"/>
          <p:cNvSpPr txBox="1"/>
          <p:nvPr/>
        </p:nvSpPr>
        <p:spPr>
          <a:xfrm>
            <a:off x="333375" y="1143000"/>
            <a:ext cx="2857500" cy="19050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rPr b="1" lang="ja" sz="18000">
                <a:solidFill>
                  <a:srgbClr val="EFEFED"/>
                </a:solidFill>
              </a:rPr>
              <a:t>04</a:t>
            </a:r>
            <a:endParaRPr b="1" sz="18000">
              <a:solidFill>
                <a:srgbClr val="EFEFED"/>
              </a:solidFill>
            </a:endParaRPr>
          </a:p>
        </p:txBody>
      </p:sp>
      <p:sp>
        <p:nvSpPr>
          <p:cNvPr id="156" name="Google Shape;156;p22"/>
          <p:cNvSpPr txBox="1"/>
          <p:nvPr/>
        </p:nvSpPr>
        <p:spPr>
          <a:xfrm>
            <a:off x="523875" y="2190750"/>
            <a:ext cx="8001000" cy="7620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b="1" lang="ja" sz="3800">
                <a:solidFill>
                  <a:srgbClr val="333333"/>
                </a:solidFill>
              </a:rPr>
              <a:t>4. 総括と次のアクション</a:t>
            </a:r>
            <a:endParaRPr b="1" sz="3800">
              <a:solidFill>
                <a:srgbClr val="333333"/>
              </a:solidFill>
            </a:endParaRPr>
          </a:p>
        </p:txBody>
      </p:sp>
      <p:sp>
        <p:nvSpPr>
          <p:cNvPr id="157" name="Google Shape;157;p22"/>
          <p:cNvSpPr txBox="1"/>
          <p:nvPr/>
        </p:nvSpPr>
        <p:spPr>
          <a:xfrm>
            <a:off x="142875" y="4810125"/>
            <a:ext cx="2381400" cy="1905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ja" sz="900">
                <a:solidFill>
                  <a:srgbClr val="333333"/>
                </a:solidFill>
              </a:rPr>
              <a:t>© 2025 Your Organization</a:t>
            </a:r>
            <a:endParaRPr sz="900">
              <a:solidFill>
                <a:srgbClr val="333333"/>
              </a:solidFill>
            </a:endParaRPr>
          </a:p>
        </p:txBody>
      </p:sp>
      <p:sp>
        <p:nvSpPr>
          <p:cNvPr id="158" name="Google Shape;158;p22"/>
          <p:cNvSpPr txBox="1"/>
          <p:nvPr/>
        </p:nvSpPr>
        <p:spPr>
          <a:xfrm>
            <a:off x="8524875" y="4810125"/>
            <a:ext cx="476400" cy="190500"/>
          </a:xfrm>
          <a:prstGeom prst="rect">
            <a:avLst/>
          </a:prstGeom>
          <a:noFill/>
          <a:ln>
            <a:noFill/>
          </a:ln>
        </p:spPr>
        <p:txBody>
          <a:bodyPr anchorCtr="0" anchor="t" bIns="91425" lIns="91425" spcFirstLastPara="1" rIns="91425" wrap="square" tIns="91425">
            <a:noAutofit/>
          </a:bodyPr>
          <a:lstStyle/>
          <a:p>
            <a:pPr indent="0" lvl="0" marL="0" rtl="0" algn="r">
              <a:spcBef>
                <a:spcPts val="0"/>
              </a:spcBef>
              <a:spcAft>
                <a:spcPts val="0"/>
              </a:spcAft>
              <a:buNone/>
            </a:pPr>
            <a:r>
              <a:rPr lang="ja" sz="900">
                <a:solidFill>
                  <a:srgbClr val="4285F4"/>
                </a:solidFill>
              </a:rPr>
              <a:t>9</a:t>
            </a:r>
            <a:endParaRPr sz="900">
              <a:solidFill>
                <a:srgbClr val="4285F4"/>
              </a:solidFill>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162" name="Shape 162"/>
        <p:cNvGrpSpPr/>
        <p:nvPr/>
      </p:nvGrpSpPr>
      <p:grpSpPr>
        <a:xfrm>
          <a:off x="0" y="0"/>
          <a:ext cx="0" cy="0"/>
          <a:chOff x="0" y="0"/>
          <a:chExt cx="0" cy="0"/>
        </a:xfrm>
      </p:grpSpPr>
      <p:pic>
        <p:nvPicPr>
          <p:cNvPr id="163" name="Google Shape;163;p23"/>
          <p:cNvPicPr preferRelativeResize="0"/>
          <p:nvPr/>
        </p:nvPicPr>
        <p:blipFill>
          <a:blip r:embed="rId3">
            <a:alphaModFix/>
          </a:blip>
          <a:stretch>
            <a:fillRect/>
          </a:stretch>
        </p:blipFill>
        <p:spPr>
          <a:xfrm>
            <a:off x="8239125" y="190500"/>
            <a:ext cx="714376" cy="242078"/>
          </a:xfrm>
          <a:prstGeom prst="rect">
            <a:avLst/>
          </a:prstGeom>
          <a:noFill/>
          <a:ln>
            <a:noFill/>
          </a:ln>
        </p:spPr>
      </p:pic>
      <p:sp>
        <p:nvSpPr>
          <p:cNvPr id="164" name="Google Shape;164;p23"/>
          <p:cNvSpPr txBox="1"/>
          <p:nvPr/>
        </p:nvSpPr>
        <p:spPr>
          <a:xfrm>
            <a:off x="238125" y="571500"/>
            <a:ext cx="7905900" cy="6192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ja" sz="2800">
                <a:solidFill>
                  <a:srgbClr val="333333"/>
                </a:solidFill>
              </a:rPr>
              <a:t>なぜ「一番のニュース」なのか？</a:t>
            </a:r>
            <a:endParaRPr b="1" sz="2800">
              <a:solidFill>
                <a:srgbClr val="333333"/>
              </a:solidFill>
            </a:endParaRPr>
          </a:p>
        </p:txBody>
      </p:sp>
      <p:sp>
        <p:nvSpPr>
          <p:cNvPr id="165" name="Google Shape;165;p23"/>
          <p:cNvSpPr/>
          <p:nvPr/>
        </p:nvSpPr>
        <p:spPr>
          <a:xfrm>
            <a:off x="238125" y="1219200"/>
            <a:ext cx="2476500" cy="38100"/>
          </a:xfrm>
          <a:prstGeom prst="rect">
            <a:avLst/>
          </a:prstGeom>
          <a:solidFill>
            <a:srgbClr val="4285F4"/>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66" name="Google Shape;166;p23"/>
          <p:cNvSpPr txBox="1"/>
          <p:nvPr/>
        </p:nvSpPr>
        <p:spPr>
          <a:xfrm>
            <a:off x="238125" y="1333500"/>
            <a:ext cx="7905900" cy="2859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ja" sz="1800">
                <a:solidFill>
                  <a:srgbClr val="333333"/>
                </a:solidFill>
              </a:rPr>
              <a:t>導入の摩擦を極小化し、即時の価値提供を実現した点</a:t>
            </a:r>
            <a:endParaRPr sz="1800">
              <a:solidFill>
                <a:srgbClr val="333333"/>
              </a:solidFill>
            </a:endParaRPr>
          </a:p>
        </p:txBody>
      </p:sp>
      <p:sp>
        <p:nvSpPr>
          <p:cNvPr id="167" name="Google Shape;167;p23"/>
          <p:cNvSpPr txBox="1"/>
          <p:nvPr/>
        </p:nvSpPr>
        <p:spPr>
          <a:xfrm>
            <a:off x="238125" y="1981200"/>
            <a:ext cx="8667900" cy="28860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None/>
            </a:pPr>
            <a:r>
              <a:rPr lang="ja">
                <a:solidFill>
                  <a:srgbClr val="333333"/>
                </a:solidFill>
              </a:rPr>
              <a:t>• </a:t>
            </a:r>
            <a:r>
              <a:rPr b="1" lang="ja">
                <a:solidFill>
                  <a:srgbClr val="333333"/>
                </a:solidFill>
              </a:rPr>
              <a:t>全方位での同時解放</a:t>
            </a:r>
            <a:r>
              <a:rPr lang="ja">
                <a:solidFill>
                  <a:srgbClr val="333333"/>
                </a:solidFill>
              </a:rPr>
              <a:t>: </a:t>
            </a:r>
            <a:r>
              <a:rPr b="1" lang="ja">
                <a:solidFill>
                  <a:srgbClr val="4285F4"/>
                </a:solidFill>
              </a:rPr>
              <a:t>一般ユーザー・開発者・企業の3者</a:t>
            </a:r>
            <a:r>
              <a:rPr lang="ja">
                <a:solidFill>
                  <a:srgbClr val="333333"/>
                </a:solidFill>
              </a:rPr>
              <a:t>が同じ日に利用開始でき、評価から導入までの時間が最短に</a:t>
            </a:r>
            <a:endParaRPr>
              <a:solidFill>
                <a:srgbClr val="333333"/>
              </a:solidFill>
            </a:endParaRPr>
          </a:p>
          <a:p>
            <a:pPr indent="0" lvl="0" marL="0" rtl="0" algn="l">
              <a:lnSpc>
                <a:spcPct val="100000"/>
              </a:lnSpc>
              <a:spcBef>
                <a:spcPts val="600"/>
              </a:spcBef>
              <a:spcAft>
                <a:spcPts val="0"/>
              </a:spcAft>
              <a:buNone/>
            </a:pPr>
            <a:r>
              <a:t/>
            </a:r>
            <a:endParaRPr>
              <a:solidFill>
                <a:srgbClr val="333333"/>
              </a:solidFill>
            </a:endParaRPr>
          </a:p>
          <a:p>
            <a:pPr indent="0" lvl="0" marL="0" rtl="0" algn="l">
              <a:lnSpc>
                <a:spcPct val="100000"/>
              </a:lnSpc>
              <a:spcBef>
                <a:spcPts val="600"/>
              </a:spcBef>
              <a:spcAft>
                <a:spcPts val="0"/>
              </a:spcAft>
              <a:buNone/>
            </a:pPr>
            <a:r>
              <a:rPr lang="ja">
                <a:solidFill>
                  <a:srgbClr val="333333"/>
                </a:solidFill>
              </a:rPr>
              <a:t>• </a:t>
            </a:r>
            <a:r>
              <a:rPr b="1" lang="ja">
                <a:solidFill>
                  <a:srgbClr val="333333"/>
                </a:solidFill>
              </a:rPr>
              <a:t>品質が実用域に到達</a:t>
            </a:r>
            <a:r>
              <a:rPr lang="ja">
                <a:solidFill>
                  <a:srgbClr val="333333"/>
                </a:solidFill>
              </a:rPr>
              <a:t>: キャラの一貫性維持や局所編集により、</a:t>
            </a:r>
            <a:r>
              <a:rPr b="1" lang="ja">
                <a:solidFill>
                  <a:srgbClr val="333333"/>
                </a:solidFill>
              </a:rPr>
              <a:t>人手による修正作業（手戻り）</a:t>
            </a:r>
            <a:r>
              <a:rPr lang="ja">
                <a:solidFill>
                  <a:srgbClr val="333333"/>
                </a:solidFill>
              </a:rPr>
              <a:t>を大幅に削減</a:t>
            </a:r>
            <a:endParaRPr>
              <a:solidFill>
                <a:srgbClr val="333333"/>
              </a:solidFill>
            </a:endParaRPr>
          </a:p>
          <a:p>
            <a:pPr indent="0" lvl="0" marL="0" rtl="0" algn="l">
              <a:lnSpc>
                <a:spcPct val="100000"/>
              </a:lnSpc>
              <a:spcBef>
                <a:spcPts val="600"/>
              </a:spcBef>
              <a:spcAft>
                <a:spcPts val="0"/>
              </a:spcAft>
              <a:buNone/>
            </a:pPr>
            <a:r>
              <a:t/>
            </a:r>
            <a:endParaRPr>
              <a:solidFill>
                <a:srgbClr val="333333"/>
              </a:solidFill>
            </a:endParaRPr>
          </a:p>
          <a:p>
            <a:pPr indent="0" lvl="0" marL="0" rtl="0" algn="l">
              <a:lnSpc>
                <a:spcPct val="100000"/>
              </a:lnSpc>
              <a:spcBef>
                <a:spcPts val="600"/>
              </a:spcBef>
              <a:spcAft>
                <a:spcPts val="600"/>
              </a:spcAft>
              <a:buNone/>
            </a:pPr>
            <a:r>
              <a:rPr lang="ja">
                <a:solidFill>
                  <a:srgbClr val="333333"/>
                </a:solidFill>
              </a:rPr>
              <a:t>• </a:t>
            </a:r>
            <a:r>
              <a:rPr b="1" lang="ja">
                <a:solidFill>
                  <a:srgbClr val="333333"/>
                </a:solidFill>
              </a:rPr>
              <a:t>エコシステムとの当日連携</a:t>
            </a:r>
            <a:r>
              <a:rPr lang="ja">
                <a:solidFill>
                  <a:srgbClr val="333333"/>
                </a:solidFill>
              </a:rPr>
              <a:t>: Adobeとの連携が初日から可能であり、既存業務の</a:t>
            </a:r>
            <a:r>
              <a:rPr b="1" lang="ja">
                <a:solidFill>
                  <a:srgbClr val="4285F4"/>
                </a:solidFill>
              </a:rPr>
              <a:t>時間短縮KPIに直結</a:t>
            </a:r>
            <a:endParaRPr b="1">
              <a:solidFill>
                <a:srgbClr val="4285F4"/>
              </a:solidFill>
            </a:endParaRPr>
          </a:p>
        </p:txBody>
      </p:sp>
      <p:sp>
        <p:nvSpPr>
          <p:cNvPr id="168" name="Google Shape;168;p23"/>
          <p:cNvSpPr/>
          <p:nvPr/>
        </p:nvSpPr>
        <p:spPr>
          <a:xfrm>
            <a:off x="0" y="5086350"/>
            <a:ext cx="9144000" cy="57300"/>
          </a:xfrm>
          <a:prstGeom prst="rect">
            <a:avLst/>
          </a:prstGeom>
          <a:solidFill>
            <a:srgbClr val="4285F4"/>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69" name="Google Shape;169;p23"/>
          <p:cNvSpPr txBox="1"/>
          <p:nvPr/>
        </p:nvSpPr>
        <p:spPr>
          <a:xfrm>
            <a:off x="142875" y="4810125"/>
            <a:ext cx="2381400" cy="1905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ja" sz="900">
                <a:solidFill>
                  <a:srgbClr val="333333"/>
                </a:solidFill>
              </a:rPr>
              <a:t>© 2025 Your Organization</a:t>
            </a:r>
            <a:endParaRPr sz="900">
              <a:solidFill>
                <a:srgbClr val="333333"/>
              </a:solidFill>
            </a:endParaRPr>
          </a:p>
        </p:txBody>
      </p:sp>
      <p:sp>
        <p:nvSpPr>
          <p:cNvPr id="170" name="Google Shape;170;p23"/>
          <p:cNvSpPr txBox="1"/>
          <p:nvPr/>
        </p:nvSpPr>
        <p:spPr>
          <a:xfrm>
            <a:off x="8524875" y="4810125"/>
            <a:ext cx="476400" cy="190500"/>
          </a:xfrm>
          <a:prstGeom prst="rect">
            <a:avLst/>
          </a:prstGeom>
          <a:noFill/>
          <a:ln>
            <a:noFill/>
          </a:ln>
        </p:spPr>
        <p:txBody>
          <a:bodyPr anchorCtr="0" anchor="t" bIns="91425" lIns="91425" spcFirstLastPara="1" rIns="91425" wrap="square" tIns="91425">
            <a:noAutofit/>
          </a:bodyPr>
          <a:lstStyle/>
          <a:p>
            <a:pPr indent="0" lvl="0" marL="0" rtl="0" algn="r">
              <a:spcBef>
                <a:spcPts val="0"/>
              </a:spcBef>
              <a:spcAft>
                <a:spcPts val="0"/>
              </a:spcAft>
              <a:buNone/>
            </a:pPr>
            <a:r>
              <a:rPr lang="ja" sz="900">
                <a:solidFill>
                  <a:srgbClr val="4285F4"/>
                </a:solidFill>
              </a:rPr>
              <a:t>10</a:t>
            </a:r>
            <a:endParaRPr sz="900">
              <a:solidFill>
                <a:srgbClr val="4285F4"/>
              </a:solidFill>
            </a:endParaRPr>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174" name="Shape 174"/>
        <p:cNvGrpSpPr/>
        <p:nvPr/>
      </p:nvGrpSpPr>
      <p:grpSpPr>
        <a:xfrm>
          <a:off x="0" y="0"/>
          <a:ext cx="0" cy="0"/>
          <a:chOff x="0" y="0"/>
          <a:chExt cx="0" cy="0"/>
        </a:xfrm>
      </p:grpSpPr>
      <p:pic>
        <p:nvPicPr>
          <p:cNvPr id="175" name="Google Shape;175;p24"/>
          <p:cNvPicPr preferRelativeResize="0"/>
          <p:nvPr/>
        </p:nvPicPr>
        <p:blipFill>
          <a:blip r:embed="rId3">
            <a:alphaModFix/>
          </a:blip>
          <a:stretch>
            <a:fillRect/>
          </a:stretch>
        </p:blipFill>
        <p:spPr>
          <a:xfrm>
            <a:off x="8239125" y="190500"/>
            <a:ext cx="714376" cy="242078"/>
          </a:xfrm>
          <a:prstGeom prst="rect">
            <a:avLst/>
          </a:prstGeom>
          <a:noFill/>
          <a:ln>
            <a:noFill/>
          </a:ln>
        </p:spPr>
      </p:pic>
      <p:sp>
        <p:nvSpPr>
          <p:cNvPr id="176" name="Google Shape;176;p24"/>
          <p:cNvSpPr txBox="1"/>
          <p:nvPr/>
        </p:nvSpPr>
        <p:spPr>
          <a:xfrm>
            <a:off x="238125" y="571500"/>
            <a:ext cx="7905900" cy="6192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ja" sz="2800">
                <a:solidFill>
                  <a:srgbClr val="333333"/>
                </a:solidFill>
              </a:rPr>
              <a:t>すぐに始めるための最短レシピ</a:t>
            </a:r>
            <a:endParaRPr b="1" sz="2800">
              <a:solidFill>
                <a:srgbClr val="333333"/>
              </a:solidFill>
            </a:endParaRPr>
          </a:p>
        </p:txBody>
      </p:sp>
      <p:sp>
        <p:nvSpPr>
          <p:cNvPr id="177" name="Google Shape;177;p24"/>
          <p:cNvSpPr/>
          <p:nvPr/>
        </p:nvSpPr>
        <p:spPr>
          <a:xfrm>
            <a:off x="238125" y="1219200"/>
            <a:ext cx="2476500" cy="38100"/>
          </a:xfrm>
          <a:prstGeom prst="rect">
            <a:avLst/>
          </a:prstGeom>
          <a:solidFill>
            <a:srgbClr val="4285F4"/>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78" name="Google Shape;178;p24"/>
          <p:cNvSpPr txBox="1"/>
          <p:nvPr/>
        </p:nvSpPr>
        <p:spPr>
          <a:xfrm>
            <a:off x="238125" y="1333500"/>
            <a:ext cx="7905900" cy="2859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ja" sz="1800">
                <a:solidFill>
                  <a:srgbClr val="333333"/>
                </a:solidFill>
              </a:rPr>
              <a:t>立場に応じた最適なファーストステップ</a:t>
            </a:r>
            <a:endParaRPr sz="1800">
              <a:solidFill>
                <a:srgbClr val="333333"/>
              </a:solidFill>
            </a:endParaRPr>
          </a:p>
        </p:txBody>
      </p:sp>
      <p:sp>
        <p:nvSpPr>
          <p:cNvPr id="179" name="Google Shape;179;p24"/>
          <p:cNvSpPr/>
          <p:nvPr/>
        </p:nvSpPr>
        <p:spPr>
          <a:xfrm>
            <a:off x="238125" y="1981200"/>
            <a:ext cx="2736900" cy="285900"/>
          </a:xfrm>
          <a:prstGeom prst="rect">
            <a:avLst/>
          </a:prstGeom>
          <a:solidFill>
            <a:srgbClr val="F5F5F3"/>
          </a:solidFill>
          <a:ln cap="flat" cmpd="sng" w="12700">
            <a:solidFill>
              <a:srgbClr val="DADCE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b="1" lang="ja" sz="1300">
                <a:solidFill>
                  <a:srgbClr val="333333"/>
                </a:solidFill>
              </a:rPr>
              <a:t>個人 / ビジネスユーザー</a:t>
            </a:r>
            <a:endParaRPr b="1" sz="1300">
              <a:solidFill>
                <a:srgbClr val="333333"/>
              </a:solidFill>
            </a:endParaRPr>
          </a:p>
        </p:txBody>
      </p:sp>
      <p:sp>
        <p:nvSpPr>
          <p:cNvPr id="180" name="Google Shape;180;p24"/>
          <p:cNvSpPr/>
          <p:nvPr/>
        </p:nvSpPr>
        <p:spPr>
          <a:xfrm>
            <a:off x="333375" y="2452688"/>
            <a:ext cx="2546400" cy="666900"/>
          </a:xfrm>
          <a:prstGeom prst="roundRect">
            <a:avLst>
              <a:gd fmla="val 16667" name="adj"/>
            </a:avLst>
          </a:prstGeom>
          <a:solidFill>
            <a:srgbClr val="FFFFFF"/>
          </a:solidFill>
          <a:ln cap="flat" cmpd="sng" w="12700">
            <a:solidFill>
              <a:srgbClr val="DADCE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ja">
                <a:solidFill>
                  <a:srgbClr val="333333"/>
                </a:solidFill>
              </a:rPr>
              <a:t>1. Geminiアプリを試す</a:t>
            </a:r>
            <a:endParaRPr>
              <a:solidFill>
                <a:srgbClr val="333333"/>
              </a:solidFill>
            </a:endParaRPr>
          </a:p>
        </p:txBody>
      </p:sp>
      <p:sp>
        <p:nvSpPr>
          <p:cNvPr id="181" name="Google Shape;181;p24"/>
          <p:cNvSpPr/>
          <p:nvPr/>
        </p:nvSpPr>
        <p:spPr>
          <a:xfrm>
            <a:off x="333375" y="3233738"/>
            <a:ext cx="2546400" cy="666900"/>
          </a:xfrm>
          <a:prstGeom prst="roundRect">
            <a:avLst>
              <a:gd fmla="val 16667" name="adj"/>
            </a:avLst>
          </a:prstGeom>
          <a:solidFill>
            <a:srgbClr val="FFFFFF"/>
          </a:solidFill>
          <a:ln cap="flat" cmpd="sng" w="12700">
            <a:solidFill>
              <a:srgbClr val="DADCE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ja">
                <a:solidFill>
                  <a:srgbClr val="333333"/>
                </a:solidFill>
              </a:rPr>
              <a:t>2. 写真をアップし「背景を〇〇に」など自然言語で指示</a:t>
            </a:r>
            <a:endParaRPr>
              <a:solidFill>
                <a:srgbClr val="333333"/>
              </a:solidFill>
            </a:endParaRPr>
          </a:p>
        </p:txBody>
      </p:sp>
      <p:sp>
        <p:nvSpPr>
          <p:cNvPr id="182" name="Google Shape;182;p24"/>
          <p:cNvSpPr/>
          <p:nvPr/>
        </p:nvSpPr>
        <p:spPr>
          <a:xfrm>
            <a:off x="333375" y="4014788"/>
            <a:ext cx="2546400" cy="666900"/>
          </a:xfrm>
          <a:prstGeom prst="roundRect">
            <a:avLst>
              <a:gd fmla="val 16667" name="adj"/>
            </a:avLst>
          </a:prstGeom>
          <a:solidFill>
            <a:srgbClr val="FFFFFF"/>
          </a:solidFill>
          <a:ln cap="flat" cmpd="sng" w="12700">
            <a:solidFill>
              <a:srgbClr val="DADCE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ja">
                <a:solidFill>
                  <a:srgbClr val="333333"/>
                </a:solidFill>
              </a:rPr>
              <a:t>3. 透かし付きでエクスポートし、効果を実感</a:t>
            </a:r>
            <a:endParaRPr>
              <a:solidFill>
                <a:srgbClr val="333333"/>
              </a:solidFill>
            </a:endParaRPr>
          </a:p>
        </p:txBody>
      </p:sp>
      <p:sp>
        <p:nvSpPr>
          <p:cNvPr id="183" name="Google Shape;183;p24"/>
          <p:cNvSpPr/>
          <p:nvPr/>
        </p:nvSpPr>
        <p:spPr>
          <a:xfrm>
            <a:off x="3203575" y="1981200"/>
            <a:ext cx="2736900" cy="285900"/>
          </a:xfrm>
          <a:prstGeom prst="rect">
            <a:avLst/>
          </a:prstGeom>
          <a:solidFill>
            <a:srgbClr val="F5F5F3"/>
          </a:solidFill>
          <a:ln cap="flat" cmpd="sng" w="12700">
            <a:solidFill>
              <a:srgbClr val="DADCE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b="1" lang="ja" sz="1300">
                <a:solidFill>
                  <a:srgbClr val="333333"/>
                </a:solidFill>
              </a:rPr>
              <a:t>開発者 (PoC)</a:t>
            </a:r>
            <a:endParaRPr b="1" sz="1300">
              <a:solidFill>
                <a:srgbClr val="333333"/>
              </a:solidFill>
            </a:endParaRPr>
          </a:p>
        </p:txBody>
      </p:sp>
      <p:sp>
        <p:nvSpPr>
          <p:cNvPr id="184" name="Google Shape;184;p24"/>
          <p:cNvSpPr/>
          <p:nvPr/>
        </p:nvSpPr>
        <p:spPr>
          <a:xfrm>
            <a:off x="3298825" y="2452688"/>
            <a:ext cx="2546400" cy="666900"/>
          </a:xfrm>
          <a:prstGeom prst="roundRect">
            <a:avLst>
              <a:gd fmla="val 16667" name="adj"/>
            </a:avLst>
          </a:prstGeom>
          <a:solidFill>
            <a:srgbClr val="FFFFFF"/>
          </a:solidFill>
          <a:ln cap="flat" cmpd="sng" w="12700">
            <a:solidFill>
              <a:srgbClr val="DADCE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ja">
                <a:solidFill>
                  <a:srgbClr val="333333"/>
                </a:solidFill>
              </a:rPr>
              <a:t>1. Gemini APIを叩く</a:t>
            </a:r>
            <a:endParaRPr>
              <a:solidFill>
                <a:srgbClr val="333333"/>
              </a:solidFill>
            </a:endParaRPr>
          </a:p>
        </p:txBody>
      </p:sp>
      <p:sp>
        <p:nvSpPr>
          <p:cNvPr id="185" name="Google Shape;185;p24"/>
          <p:cNvSpPr/>
          <p:nvPr/>
        </p:nvSpPr>
        <p:spPr>
          <a:xfrm>
            <a:off x="3298825" y="3233738"/>
            <a:ext cx="2546400" cy="666900"/>
          </a:xfrm>
          <a:prstGeom prst="roundRect">
            <a:avLst>
              <a:gd fmla="val 16667" name="adj"/>
            </a:avLst>
          </a:prstGeom>
          <a:solidFill>
            <a:srgbClr val="FFFFFF"/>
          </a:solidFill>
          <a:ln cap="flat" cmpd="sng" w="12700">
            <a:solidFill>
              <a:srgbClr val="DADCE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ja">
                <a:solidFill>
                  <a:srgbClr val="333333"/>
                </a:solidFill>
              </a:rPr>
              <a:t>2. `gemini-2.5-flash-image-preview` を使用</a:t>
            </a:r>
            <a:endParaRPr>
              <a:solidFill>
                <a:srgbClr val="333333"/>
              </a:solidFill>
            </a:endParaRPr>
          </a:p>
        </p:txBody>
      </p:sp>
      <p:sp>
        <p:nvSpPr>
          <p:cNvPr id="186" name="Google Shape;186;p24"/>
          <p:cNvSpPr/>
          <p:nvPr/>
        </p:nvSpPr>
        <p:spPr>
          <a:xfrm>
            <a:off x="3298825" y="4014788"/>
            <a:ext cx="2546400" cy="666900"/>
          </a:xfrm>
          <a:prstGeom prst="roundRect">
            <a:avLst>
              <a:gd fmla="val 16667" name="adj"/>
            </a:avLst>
          </a:prstGeom>
          <a:solidFill>
            <a:srgbClr val="FFFFFF"/>
          </a:solidFill>
          <a:ln cap="flat" cmpd="sng" w="12700">
            <a:solidFill>
              <a:srgbClr val="DADCE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ja">
                <a:solidFill>
                  <a:srgbClr val="333333"/>
                </a:solidFill>
              </a:rPr>
              <a:t>3. 社内CMS等への組み込みを検討</a:t>
            </a:r>
            <a:endParaRPr>
              <a:solidFill>
                <a:srgbClr val="333333"/>
              </a:solidFill>
            </a:endParaRPr>
          </a:p>
        </p:txBody>
      </p:sp>
      <p:sp>
        <p:nvSpPr>
          <p:cNvPr id="187" name="Google Shape;187;p24"/>
          <p:cNvSpPr/>
          <p:nvPr/>
        </p:nvSpPr>
        <p:spPr>
          <a:xfrm>
            <a:off x="6169025" y="1981200"/>
            <a:ext cx="2736900" cy="285900"/>
          </a:xfrm>
          <a:prstGeom prst="rect">
            <a:avLst/>
          </a:prstGeom>
          <a:solidFill>
            <a:srgbClr val="F5F5F3"/>
          </a:solidFill>
          <a:ln cap="flat" cmpd="sng" w="12700">
            <a:solidFill>
              <a:srgbClr val="DADCE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b="1" lang="ja" sz="1300">
                <a:solidFill>
                  <a:srgbClr val="333333"/>
                </a:solidFill>
              </a:rPr>
              <a:t>企業 (本格導入)</a:t>
            </a:r>
            <a:endParaRPr b="1" sz="1300">
              <a:solidFill>
                <a:srgbClr val="333333"/>
              </a:solidFill>
            </a:endParaRPr>
          </a:p>
        </p:txBody>
      </p:sp>
      <p:sp>
        <p:nvSpPr>
          <p:cNvPr id="188" name="Google Shape;188;p24"/>
          <p:cNvSpPr/>
          <p:nvPr/>
        </p:nvSpPr>
        <p:spPr>
          <a:xfrm>
            <a:off x="6264275" y="2452688"/>
            <a:ext cx="2546400" cy="666900"/>
          </a:xfrm>
          <a:prstGeom prst="roundRect">
            <a:avLst>
              <a:gd fmla="val 16667" name="adj"/>
            </a:avLst>
          </a:prstGeom>
          <a:solidFill>
            <a:srgbClr val="FFFFFF"/>
          </a:solidFill>
          <a:ln cap="flat" cmpd="sng" w="12700">
            <a:solidFill>
              <a:srgbClr val="DADCE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ja">
                <a:solidFill>
                  <a:srgbClr val="333333"/>
                </a:solidFill>
              </a:rPr>
              <a:t>1. Vertex AIに切り替え</a:t>
            </a:r>
            <a:endParaRPr>
              <a:solidFill>
                <a:srgbClr val="333333"/>
              </a:solidFill>
            </a:endParaRPr>
          </a:p>
        </p:txBody>
      </p:sp>
      <p:sp>
        <p:nvSpPr>
          <p:cNvPr id="189" name="Google Shape;189;p24"/>
          <p:cNvSpPr/>
          <p:nvPr/>
        </p:nvSpPr>
        <p:spPr>
          <a:xfrm>
            <a:off x="6264275" y="3233738"/>
            <a:ext cx="2546400" cy="666900"/>
          </a:xfrm>
          <a:prstGeom prst="roundRect">
            <a:avLst>
              <a:gd fmla="val 16667" name="adj"/>
            </a:avLst>
          </a:prstGeom>
          <a:solidFill>
            <a:srgbClr val="FFFFFF"/>
          </a:solidFill>
          <a:ln cap="flat" cmpd="sng" w="12700">
            <a:solidFill>
              <a:srgbClr val="DADCE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ja">
                <a:solidFill>
                  <a:srgbClr val="333333"/>
                </a:solidFill>
              </a:rPr>
              <a:t>2. 権限・請求・監査ログを一元管理</a:t>
            </a:r>
            <a:endParaRPr>
              <a:solidFill>
                <a:srgbClr val="333333"/>
              </a:solidFill>
            </a:endParaRPr>
          </a:p>
        </p:txBody>
      </p:sp>
      <p:sp>
        <p:nvSpPr>
          <p:cNvPr id="190" name="Google Shape;190;p24"/>
          <p:cNvSpPr/>
          <p:nvPr/>
        </p:nvSpPr>
        <p:spPr>
          <a:xfrm>
            <a:off x="6264275" y="4014788"/>
            <a:ext cx="2546400" cy="666900"/>
          </a:xfrm>
          <a:prstGeom prst="roundRect">
            <a:avLst>
              <a:gd fmla="val 16667" name="adj"/>
            </a:avLst>
          </a:prstGeom>
          <a:solidFill>
            <a:srgbClr val="FFFFFF"/>
          </a:solidFill>
          <a:ln cap="flat" cmpd="sng" w="12700">
            <a:solidFill>
              <a:srgbClr val="DADCE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ja">
                <a:solidFill>
                  <a:srgbClr val="333333"/>
                </a:solidFill>
              </a:rPr>
              <a:t>3. 安定版への移行計画を策定</a:t>
            </a:r>
            <a:endParaRPr>
              <a:solidFill>
                <a:srgbClr val="333333"/>
              </a:solidFill>
            </a:endParaRPr>
          </a:p>
        </p:txBody>
      </p:sp>
      <p:sp>
        <p:nvSpPr>
          <p:cNvPr id="191" name="Google Shape;191;p24"/>
          <p:cNvSpPr/>
          <p:nvPr/>
        </p:nvSpPr>
        <p:spPr>
          <a:xfrm>
            <a:off x="2955925" y="2738438"/>
            <a:ext cx="266700" cy="95400"/>
          </a:xfrm>
          <a:prstGeom prst="rightArrow">
            <a:avLst>
              <a:gd fmla="val 50000" name="adj1"/>
              <a:gd fmla="val 50000" name="adj2"/>
            </a:avLst>
          </a:prstGeom>
          <a:solidFill>
            <a:srgbClr val="4285F4"/>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92" name="Google Shape;192;p24"/>
          <p:cNvSpPr/>
          <p:nvPr/>
        </p:nvSpPr>
        <p:spPr>
          <a:xfrm>
            <a:off x="2955925" y="3519488"/>
            <a:ext cx="266700" cy="95400"/>
          </a:xfrm>
          <a:prstGeom prst="rightArrow">
            <a:avLst>
              <a:gd fmla="val 50000" name="adj1"/>
              <a:gd fmla="val 50000" name="adj2"/>
            </a:avLst>
          </a:prstGeom>
          <a:solidFill>
            <a:srgbClr val="4285F4"/>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93" name="Google Shape;193;p24"/>
          <p:cNvSpPr/>
          <p:nvPr/>
        </p:nvSpPr>
        <p:spPr>
          <a:xfrm>
            <a:off x="2955925" y="4300538"/>
            <a:ext cx="266700" cy="95400"/>
          </a:xfrm>
          <a:prstGeom prst="rightArrow">
            <a:avLst>
              <a:gd fmla="val 50000" name="adj1"/>
              <a:gd fmla="val 50000" name="adj2"/>
            </a:avLst>
          </a:prstGeom>
          <a:solidFill>
            <a:srgbClr val="4285F4"/>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94" name="Google Shape;194;p24"/>
          <p:cNvSpPr/>
          <p:nvPr/>
        </p:nvSpPr>
        <p:spPr>
          <a:xfrm>
            <a:off x="5921375" y="2738438"/>
            <a:ext cx="266700" cy="95400"/>
          </a:xfrm>
          <a:prstGeom prst="rightArrow">
            <a:avLst>
              <a:gd fmla="val 50000" name="adj1"/>
              <a:gd fmla="val 50000" name="adj2"/>
            </a:avLst>
          </a:prstGeom>
          <a:solidFill>
            <a:srgbClr val="4285F4"/>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95" name="Google Shape;195;p24"/>
          <p:cNvSpPr/>
          <p:nvPr/>
        </p:nvSpPr>
        <p:spPr>
          <a:xfrm>
            <a:off x="5921375" y="3519488"/>
            <a:ext cx="266700" cy="95400"/>
          </a:xfrm>
          <a:prstGeom prst="rightArrow">
            <a:avLst>
              <a:gd fmla="val 50000" name="adj1"/>
              <a:gd fmla="val 50000" name="adj2"/>
            </a:avLst>
          </a:prstGeom>
          <a:solidFill>
            <a:srgbClr val="4285F4"/>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96" name="Google Shape;196;p24"/>
          <p:cNvSpPr/>
          <p:nvPr/>
        </p:nvSpPr>
        <p:spPr>
          <a:xfrm>
            <a:off x="5921375" y="4300538"/>
            <a:ext cx="266700" cy="95400"/>
          </a:xfrm>
          <a:prstGeom prst="rightArrow">
            <a:avLst>
              <a:gd fmla="val 50000" name="adj1"/>
              <a:gd fmla="val 50000" name="adj2"/>
            </a:avLst>
          </a:prstGeom>
          <a:solidFill>
            <a:srgbClr val="4285F4"/>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97" name="Google Shape;197;p24"/>
          <p:cNvSpPr/>
          <p:nvPr/>
        </p:nvSpPr>
        <p:spPr>
          <a:xfrm>
            <a:off x="0" y="5086350"/>
            <a:ext cx="9144000" cy="57300"/>
          </a:xfrm>
          <a:prstGeom prst="rect">
            <a:avLst/>
          </a:prstGeom>
          <a:solidFill>
            <a:srgbClr val="4285F4"/>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98" name="Google Shape;198;p24"/>
          <p:cNvSpPr txBox="1"/>
          <p:nvPr/>
        </p:nvSpPr>
        <p:spPr>
          <a:xfrm>
            <a:off x="142875" y="4810125"/>
            <a:ext cx="2381400" cy="1905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ja" sz="900">
                <a:solidFill>
                  <a:srgbClr val="333333"/>
                </a:solidFill>
              </a:rPr>
              <a:t>© 2025 Your Organization</a:t>
            </a:r>
            <a:endParaRPr sz="900">
              <a:solidFill>
                <a:srgbClr val="333333"/>
              </a:solidFill>
            </a:endParaRPr>
          </a:p>
        </p:txBody>
      </p:sp>
      <p:sp>
        <p:nvSpPr>
          <p:cNvPr id="199" name="Google Shape;199;p24"/>
          <p:cNvSpPr txBox="1"/>
          <p:nvPr/>
        </p:nvSpPr>
        <p:spPr>
          <a:xfrm>
            <a:off x="8524875" y="4810125"/>
            <a:ext cx="476400" cy="190500"/>
          </a:xfrm>
          <a:prstGeom prst="rect">
            <a:avLst/>
          </a:prstGeom>
          <a:noFill/>
          <a:ln>
            <a:noFill/>
          </a:ln>
        </p:spPr>
        <p:txBody>
          <a:bodyPr anchorCtr="0" anchor="t" bIns="91425" lIns="91425" spcFirstLastPara="1" rIns="91425" wrap="square" tIns="91425">
            <a:noAutofit/>
          </a:bodyPr>
          <a:lstStyle/>
          <a:p>
            <a:pPr indent="0" lvl="0" marL="0" rtl="0" algn="r">
              <a:spcBef>
                <a:spcPts val="0"/>
              </a:spcBef>
              <a:spcAft>
                <a:spcPts val="0"/>
              </a:spcAft>
              <a:buNone/>
            </a:pPr>
            <a:r>
              <a:rPr lang="ja" sz="900">
                <a:solidFill>
                  <a:srgbClr val="4285F4"/>
                </a:solidFill>
              </a:rPr>
              <a:t>11</a:t>
            </a:r>
            <a:endParaRPr sz="900">
              <a:solidFill>
                <a:srgbClr val="4285F4"/>
              </a:solidFill>
            </a:endParaRPr>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203" name="Shape 203"/>
        <p:cNvGrpSpPr/>
        <p:nvPr/>
      </p:nvGrpSpPr>
      <p:grpSpPr>
        <a:xfrm>
          <a:off x="0" y="0"/>
          <a:ext cx="0" cy="0"/>
          <a:chOff x="0" y="0"/>
          <a:chExt cx="0" cy="0"/>
        </a:xfrm>
      </p:grpSpPr>
      <p:pic>
        <p:nvPicPr>
          <p:cNvPr id="204" name="Google Shape;204;p25"/>
          <p:cNvPicPr preferRelativeResize="0"/>
          <p:nvPr/>
        </p:nvPicPr>
        <p:blipFill>
          <a:blip r:embed="rId3">
            <a:alphaModFix/>
          </a:blip>
          <a:stretch>
            <a:fillRect/>
          </a:stretch>
        </p:blipFill>
        <p:spPr>
          <a:xfrm>
            <a:off x="8239125" y="190500"/>
            <a:ext cx="714376" cy="242078"/>
          </a:xfrm>
          <a:prstGeom prst="rect">
            <a:avLst/>
          </a:prstGeom>
          <a:noFill/>
          <a:ln>
            <a:noFill/>
          </a:ln>
        </p:spPr>
      </p:pic>
      <p:sp>
        <p:nvSpPr>
          <p:cNvPr id="205" name="Google Shape;205;p25"/>
          <p:cNvSpPr txBox="1"/>
          <p:nvPr/>
        </p:nvSpPr>
        <p:spPr>
          <a:xfrm>
            <a:off x="238125" y="571500"/>
            <a:ext cx="7905900" cy="6192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ja" sz="2800">
                <a:solidFill>
                  <a:srgbClr val="333333"/>
                </a:solidFill>
              </a:rPr>
              <a:t>留意点 (リスクと対策)</a:t>
            </a:r>
            <a:endParaRPr b="1" sz="2800">
              <a:solidFill>
                <a:srgbClr val="333333"/>
              </a:solidFill>
            </a:endParaRPr>
          </a:p>
        </p:txBody>
      </p:sp>
      <p:sp>
        <p:nvSpPr>
          <p:cNvPr id="206" name="Google Shape;206;p25"/>
          <p:cNvSpPr/>
          <p:nvPr/>
        </p:nvSpPr>
        <p:spPr>
          <a:xfrm>
            <a:off x="238125" y="1219200"/>
            <a:ext cx="2476500" cy="38100"/>
          </a:xfrm>
          <a:prstGeom prst="rect">
            <a:avLst/>
          </a:prstGeom>
          <a:solidFill>
            <a:srgbClr val="4285F4"/>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207" name="Google Shape;207;p25"/>
          <p:cNvSpPr txBox="1"/>
          <p:nvPr/>
        </p:nvSpPr>
        <p:spPr>
          <a:xfrm>
            <a:off x="238125" y="1333500"/>
            <a:ext cx="7905900" cy="2859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ja" sz="1800">
                <a:solidFill>
                  <a:srgbClr val="333333"/>
                </a:solidFill>
              </a:rPr>
              <a:t>導入を検討する上で考慮すべきポイント</a:t>
            </a:r>
            <a:endParaRPr sz="1800">
              <a:solidFill>
                <a:srgbClr val="333333"/>
              </a:solidFill>
            </a:endParaRPr>
          </a:p>
        </p:txBody>
      </p:sp>
      <p:sp>
        <p:nvSpPr>
          <p:cNvPr id="208" name="Google Shape;208;p25"/>
          <p:cNvSpPr txBox="1"/>
          <p:nvPr/>
        </p:nvSpPr>
        <p:spPr>
          <a:xfrm>
            <a:off x="238125" y="1981200"/>
            <a:ext cx="8667900" cy="28860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None/>
            </a:pPr>
            <a:r>
              <a:rPr lang="ja">
                <a:solidFill>
                  <a:srgbClr val="333333"/>
                </a:solidFill>
              </a:rPr>
              <a:t>• </a:t>
            </a:r>
            <a:r>
              <a:rPr b="1" lang="ja">
                <a:solidFill>
                  <a:srgbClr val="333333"/>
                </a:solidFill>
              </a:rPr>
              <a:t>プレビュー段階であること</a:t>
            </a:r>
            <a:r>
              <a:rPr lang="ja">
                <a:solidFill>
                  <a:srgbClr val="333333"/>
                </a:solidFill>
              </a:rPr>
              <a:t>: API仕様や品質は、</a:t>
            </a:r>
            <a:r>
              <a:rPr b="1" lang="ja">
                <a:solidFill>
                  <a:srgbClr val="333333"/>
                </a:solidFill>
              </a:rPr>
              <a:t>数週間以内</a:t>
            </a:r>
            <a:r>
              <a:rPr lang="ja">
                <a:solidFill>
                  <a:srgbClr val="333333"/>
                </a:solidFill>
              </a:rPr>
              <a:t>に公開予定の安定版で軽微な変更がありうる</a:t>
            </a:r>
            <a:endParaRPr>
              <a:solidFill>
                <a:srgbClr val="333333"/>
              </a:solidFill>
            </a:endParaRPr>
          </a:p>
          <a:p>
            <a:pPr indent="0" lvl="0" marL="0" rtl="0" algn="l">
              <a:lnSpc>
                <a:spcPct val="100000"/>
              </a:lnSpc>
              <a:spcBef>
                <a:spcPts val="600"/>
              </a:spcBef>
              <a:spcAft>
                <a:spcPts val="0"/>
              </a:spcAft>
              <a:buNone/>
            </a:pPr>
            <a:r>
              <a:t/>
            </a:r>
            <a:endParaRPr>
              <a:solidFill>
                <a:srgbClr val="333333"/>
              </a:solidFill>
            </a:endParaRPr>
          </a:p>
          <a:p>
            <a:pPr indent="0" lvl="0" marL="0" rtl="0" algn="l">
              <a:lnSpc>
                <a:spcPct val="100000"/>
              </a:lnSpc>
              <a:spcBef>
                <a:spcPts val="600"/>
              </a:spcBef>
              <a:spcAft>
                <a:spcPts val="0"/>
              </a:spcAft>
              <a:buNone/>
            </a:pPr>
            <a:r>
              <a:rPr lang="ja">
                <a:solidFill>
                  <a:srgbClr val="333333"/>
                </a:solidFill>
              </a:rPr>
              <a:t>• </a:t>
            </a:r>
            <a:r>
              <a:rPr b="1" lang="ja">
                <a:solidFill>
                  <a:srgbClr val="333333"/>
                </a:solidFill>
              </a:rPr>
              <a:t>透かしは万能ではない</a:t>
            </a:r>
            <a:r>
              <a:rPr lang="ja">
                <a:solidFill>
                  <a:srgbClr val="333333"/>
                </a:solidFill>
              </a:rPr>
              <a:t>: SynthIDは強力だが、</a:t>
            </a:r>
            <a:r>
              <a:rPr b="1" lang="ja">
                <a:solidFill>
                  <a:srgbClr val="333333"/>
                </a:solidFill>
              </a:rPr>
              <a:t>検出は条件に依存</a:t>
            </a:r>
            <a:r>
              <a:rPr lang="ja">
                <a:solidFill>
                  <a:srgbClr val="333333"/>
                </a:solidFill>
              </a:rPr>
              <a:t>。Content Credentials(C2PA)等との併用を検討</a:t>
            </a:r>
            <a:endParaRPr>
              <a:solidFill>
                <a:srgbClr val="333333"/>
              </a:solidFill>
            </a:endParaRPr>
          </a:p>
          <a:p>
            <a:pPr indent="0" lvl="0" marL="0" rtl="0" algn="l">
              <a:lnSpc>
                <a:spcPct val="100000"/>
              </a:lnSpc>
              <a:spcBef>
                <a:spcPts val="600"/>
              </a:spcBef>
              <a:spcAft>
                <a:spcPts val="0"/>
              </a:spcAft>
              <a:buNone/>
            </a:pPr>
            <a:r>
              <a:t/>
            </a:r>
            <a:endParaRPr>
              <a:solidFill>
                <a:srgbClr val="333333"/>
              </a:solidFill>
            </a:endParaRPr>
          </a:p>
          <a:p>
            <a:pPr indent="0" lvl="0" marL="0" rtl="0" algn="l">
              <a:lnSpc>
                <a:spcPct val="100000"/>
              </a:lnSpc>
              <a:spcBef>
                <a:spcPts val="600"/>
              </a:spcBef>
              <a:spcAft>
                <a:spcPts val="600"/>
              </a:spcAft>
              <a:buNone/>
            </a:pPr>
            <a:r>
              <a:rPr lang="ja">
                <a:solidFill>
                  <a:srgbClr val="333333"/>
                </a:solidFill>
              </a:rPr>
              <a:t>• </a:t>
            </a:r>
            <a:r>
              <a:rPr b="1" lang="ja">
                <a:solidFill>
                  <a:srgbClr val="333333"/>
                </a:solidFill>
              </a:rPr>
              <a:t>権利への配慮は必須</a:t>
            </a:r>
            <a:r>
              <a:rPr lang="ja">
                <a:solidFill>
                  <a:srgbClr val="333333"/>
                </a:solidFill>
              </a:rPr>
              <a:t>: 他者の肖像権や著作物を扱う際は、利用ポリシーを遵守し、社内ガイドラインを整備</a:t>
            </a:r>
            <a:endParaRPr>
              <a:solidFill>
                <a:srgbClr val="333333"/>
              </a:solidFill>
            </a:endParaRPr>
          </a:p>
        </p:txBody>
      </p:sp>
      <p:sp>
        <p:nvSpPr>
          <p:cNvPr id="209" name="Google Shape;209;p25"/>
          <p:cNvSpPr/>
          <p:nvPr/>
        </p:nvSpPr>
        <p:spPr>
          <a:xfrm>
            <a:off x="0" y="5086350"/>
            <a:ext cx="9144000" cy="57300"/>
          </a:xfrm>
          <a:prstGeom prst="rect">
            <a:avLst/>
          </a:prstGeom>
          <a:solidFill>
            <a:srgbClr val="4285F4"/>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210" name="Google Shape;210;p25"/>
          <p:cNvSpPr txBox="1"/>
          <p:nvPr/>
        </p:nvSpPr>
        <p:spPr>
          <a:xfrm>
            <a:off x="142875" y="4810125"/>
            <a:ext cx="2381400" cy="1905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ja" sz="900">
                <a:solidFill>
                  <a:srgbClr val="333333"/>
                </a:solidFill>
              </a:rPr>
              <a:t>© 2025 Your Organization</a:t>
            </a:r>
            <a:endParaRPr sz="900">
              <a:solidFill>
                <a:srgbClr val="333333"/>
              </a:solidFill>
            </a:endParaRPr>
          </a:p>
        </p:txBody>
      </p:sp>
      <p:sp>
        <p:nvSpPr>
          <p:cNvPr id="211" name="Google Shape;211;p25"/>
          <p:cNvSpPr txBox="1"/>
          <p:nvPr/>
        </p:nvSpPr>
        <p:spPr>
          <a:xfrm>
            <a:off x="8524875" y="4810125"/>
            <a:ext cx="476400" cy="190500"/>
          </a:xfrm>
          <a:prstGeom prst="rect">
            <a:avLst/>
          </a:prstGeom>
          <a:noFill/>
          <a:ln>
            <a:noFill/>
          </a:ln>
        </p:spPr>
        <p:txBody>
          <a:bodyPr anchorCtr="0" anchor="t" bIns="91425" lIns="91425" spcFirstLastPara="1" rIns="91425" wrap="square" tIns="91425">
            <a:noAutofit/>
          </a:bodyPr>
          <a:lstStyle/>
          <a:p>
            <a:pPr indent="0" lvl="0" marL="0" rtl="0" algn="r">
              <a:spcBef>
                <a:spcPts val="0"/>
              </a:spcBef>
              <a:spcAft>
                <a:spcPts val="0"/>
              </a:spcAft>
              <a:buNone/>
            </a:pPr>
            <a:r>
              <a:rPr lang="ja" sz="900">
                <a:solidFill>
                  <a:srgbClr val="4285F4"/>
                </a:solidFill>
              </a:rPr>
              <a:t>12</a:t>
            </a:r>
            <a:endParaRPr sz="900">
              <a:solidFill>
                <a:srgbClr val="4285F4"/>
              </a:solidFill>
            </a:endParaRPr>
          </a:p>
        </p:txBody>
      </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215" name="Shape 215"/>
        <p:cNvGrpSpPr/>
        <p:nvPr/>
      </p:nvGrpSpPr>
      <p:grpSpPr>
        <a:xfrm>
          <a:off x="0" y="0"/>
          <a:ext cx="0" cy="0"/>
          <a:chOff x="0" y="0"/>
          <a:chExt cx="0" cy="0"/>
        </a:xfrm>
      </p:grpSpPr>
      <p:pic>
        <p:nvPicPr>
          <p:cNvPr id="216" name="Google Shape;216;p26"/>
          <p:cNvPicPr preferRelativeResize="0"/>
          <p:nvPr/>
        </p:nvPicPr>
        <p:blipFill>
          <a:blip r:embed="rId3">
            <a:alphaModFix/>
          </a:blip>
          <a:stretch>
            <a:fillRect/>
          </a:stretch>
        </p:blipFill>
        <p:spPr>
          <a:xfrm>
            <a:off x="2428875" y="1845515"/>
            <a:ext cx="4286249" cy="1452469"/>
          </a:xfrm>
          <a:prstGeom prst="rect">
            <a:avLst/>
          </a:prstGeom>
          <a:noFill/>
          <a:ln>
            <a:noFill/>
          </a:ln>
        </p:spPr>
      </p:pic>
    </p:spTree>
  </p:cSld>
  <p:clrMapOvr>
    <a:masterClrMapping/>
  </p:clrMapOvr>
</p:sld>
</file>

<file path=ppt/theme/theme1.xml><?xml version="1.0" encoding="utf-8"?>
<a:theme xmlns:a="http://schemas.openxmlformats.org/drawingml/2006/main" xmlns:r="http://schemas.openxmlformats.org/officeDocument/2006/relationships"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