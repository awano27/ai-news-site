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A1628"/>
          </a:solidFill>
          <a:ln w="12700">
            <a:solidFill>
              <a:srgbClr val="0A162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B6EF3"/>
          </a:solidFill>
          <a:ln w="12700">
            <a:solidFill>
              <a:srgbClr val="1B6EF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50292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A3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2026.07.07–08  ·  Meta Superintelligence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02920" y="1051560"/>
            <a:ext cx="8046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 Muse Image</a:t>
            </a:r>
            <a:endParaRPr lang="en-US" sz="4000" dirty="0"/>
          </a:p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正式ロールアウト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502920" y="2606040"/>
            <a:ext cx="7772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5D4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MSL初の画像生成モデルが Meta AI / Instagram / WhatsApp に展開。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C5D4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エージェント型生成・ソーシャル文脈・広告クリエイティブの三層で、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C5D4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Metaは「画像の内製化」へ舵を切った。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4160520"/>
            <a:ext cx="1828800" cy="384048"/>
          </a:xfrm>
          <a:prstGeom prst="roundRect">
            <a:avLst>
              <a:gd name="adj" fmla="val 19048"/>
            </a:avLst>
          </a:prstGeom>
          <a:solidFill>
            <a:srgbClr val="13253F"/>
          </a:solidFill>
          <a:ln w="15240">
            <a:solidFill>
              <a:srgbClr val="1B6EF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" y="416052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6E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Arena #2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468880" y="4160520"/>
            <a:ext cx="1828800" cy="384048"/>
          </a:xfrm>
          <a:prstGeom prst="roundRect">
            <a:avLst>
              <a:gd name="adj" fmla="val 19048"/>
            </a:avLst>
          </a:prstGeom>
          <a:solidFill>
            <a:srgbClr val="13253F"/>
          </a:solidFill>
          <a:ln w="15240">
            <a:solidFill>
              <a:srgbClr val="0E9F8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468880" y="416052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9F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30+ IG Effects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434840" y="4160520"/>
            <a:ext cx="1828800" cy="384048"/>
          </a:xfrm>
          <a:prstGeom prst="roundRect">
            <a:avLst>
              <a:gd name="adj" fmla="val 19048"/>
            </a:avLst>
          </a:prstGeom>
          <a:solidFill>
            <a:srgbClr val="13253F"/>
          </a:solidFill>
          <a:ln w="15240">
            <a:solidFill>
              <a:srgbClr val="F06A2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34840" y="416052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06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Advantage+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00800" y="4160520"/>
            <a:ext cx="1828800" cy="384048"/>
          </a:xfrm>
          <a:prstGeom prst="roundRect">
            <a:avLst>
              <a:gd name="adj" fmla="val 19048"/>
            </a:avLst>
          </a:prstGeom>
          <a:solidFill>
            <a:srgbClr val="13253F"/>
          </a:solidFill>
          <a:ln w="15240">
            <a:solidFill>
              <a:srgbClr val="6B4D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0" y="416052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B4D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 Seal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5603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A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本日の流れ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57200" y="512064"/>
            <a:ext cx="384048" cy="45720"/>
          </a:xfrm>
          <a:prstGeom prst="rect">
            <a:avLst/>
          </a:prstGeom>
          <a:solidFill>
            <a:srgbClr val="F06A2A"/>
          </a:solidFill>
          <a:ln w="12700">
            <a:solidFill>
              <a:srgbClr val="F06A2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658368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0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Muse Imageは「作るAI」から「考える画像エンジン」へ。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457200" y="1600200"/>
            <a:ext cx="8229600" cy="438912"/>
          </a:xfrm>
          <a:prstGeom prst="roundRect">
            <a:avLst>
              <a:gd name="adj" fmla="val 16667"/>
            </a:avLst>
          </a:prstGeom>
          <a:solidFill>
            <a:srgbClr val="F7F9FC"/>
          </a:solidFill>
          <a:ln w="12700">
            <a:solidFill>
              <a:srgbClr val="E6EBF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673352"/>
            <a:ext cx="502920" cy="292608"/>
          </a:xfrm>
          <a:prstGeom prst="roundRect">
            <a:avLst>
              <a:gd name="adj" fmla="val 15625"/>
            </a:avLst>
          </a:prstGeom>
          <a:solidFill>
            <a:srgbClr val="1B6EF3"/>
          </a:solidFill>
          <a:ln w="12700">
            <a:solidFill>
              <a:srgbClr val="1B6EF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66928" y="1673352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234440" y="1600200"/>
            <a:ext cx="7223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何が発表されたか — 7/7公式ロールアウトの全体像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57200" y="2103120"/>
            <a:ext cx="8229600" cy="438912"/>
          </a:xfrm>
          <a:prstGeom prst="roundRect">
            <a:avLst>
              <a:gd name="adj" fmla="val 16667"/>
            </a:avLst>
          </a:prstGeom>
          <a:solidFill>
            <a:srgbClr val="F7F9FC"/>
          </a:solidFill>
          <a:ln w="12700">
            <a:solidFill>
              <a:srgbClr val="E6EBF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66928" y="2176272"/>
            <a:ext cx="502920" cy="292608"/>
          </a:xfrm>
          <a:prstGeom prst="roundRect">
            <a:avLst>
              <a:gd name="adj" fmla="val 15625"/>
            </a:avLst>
          </a:prstGeom>
          <a:solidFill>
            <a:srgbClr val="0E9F8A"/>
          </a:solidFill>
          <a:ln w="12700">
            <a:solidFill>
              <a:srgbClr val="0E9F8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6928" y="2176272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234440" y="2103120"/>
            <a:ext cx="7223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エージェント型生成 — Tool Use / Self-Refine / TTC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57200" y="2606040"/>
            <a:ext cx="8229600" cy="438912"/>
          </a:xfrm>
          <a:prstGeom prst="roundRect">
            <a:avLst>
              <a:gd name="adj" fmla="val 16667"/>
            </a:avLst>
          </a:prstGeom>
          <a:solidFill>
            <a:srgbClr val="F7F9FC"/>
          </a:solidFill>
          <a:ln w="12700">
            <a:solidFill>
              <a:srgbClr val="E6EBF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66928" y="2679192"/>
            <a:ext cx="502920" cy="292608"/>
          </a:xfrm>
          <a:prstGeom prst="roundRect">
            <a:avLst>
              <a:gd name="adj" fmla="val 15625"/>
            </a:avLst>
          </a:prstGeom>
          <a:solidFill>
            <a:srgbClr val="F06A2A"/>
          </a:solidFill>
          <a:ln w="12700">
            <a:solidFill>
              <a:srgbClr val="F06A2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66928" y="2679192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234440" y="2606040"/>
            <a:ext cx="7223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製品面への展開 — Meta AI・IG・WhatsApp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457200" y="3108960"/>
            <a:ext cx="8229600" cy="438912"/>
          </a:xfrm>
          <a:prstGeom prst="roundRect">
            <a:avLst>
              <a:gd name="adj" fmla="val 16667"/>
            </a:avLst>
          </a:prstGeom>
          <a:solidFill>
            <a:srgbClr val="F7F9FC"/>
          </a:solidFill>
          <a:ln w="12700">
            <a:solidFill>
              <a:srgbClr val="E6EBF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66928" y="3182112"/>
            <a:ext cx="502920" cy="292608"/>
          </a:xfrm>
          <a:prstGeom prst="roundRect">
            <a:avLst>
              <a:gd name="adj" fmla="val 15625"/>
            </a:avLst>
          </a:prstGeom>
          <a:solidFill>
            <a:srgbClr val="6B4DE6"/>
          </a:solidFill>
          <a:ln w="12700">
            <a:solidFill>
              <a:srgbClr val="6B4DE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66928" y="3182112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1234440" y="3108960"/>
            <a:ext cx="7223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ベンチマークと競合位置 — Arena #2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457200" y="3611880"/>
            <a:ext cx="8229600" cy="438912"/>
          </a:xfrm>
          <a:prstGeom prst="roundRect">
            <a:avLst>
              <a:gd name="adj" fmla="val 16667"/>
            </a:avLst>
          </a:prstGeom>
          <a:solidFill>
            <a:srgbClr val="F7F9FC"/>
          </a:solidFill>
          <a:ln w="12700">
            <a:solidFill>
              <a:srgbClr val="E6EBF2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66928" y="3685032"/>
            <a:ext cx="502920" cy="292608"/>
          </a:xfrm>
          <a:prstGeom prst="roundRect">
            <a:avLst>
              <a:gd name="adj" fmla="val 15625"/>
            </a:avLst>
          </a:prstGeom>
          <a:solidFill>
            <a:srgbClr val="1B6EF3"/>
          </a:solidFill>
          <a:ln w="12700">
            <a:solidFill>
              <a:srgbClr val="1B6EF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66928" y="3685032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234440" y="3611880"/>
            <a:ext cx="7223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広告・ビジネス面 — Advantage+ と収益化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457200" y="4114800"/>
            <a:ext cx="8229600" cy="438912"/>
          </a:xfrm>
          <a:prstGeom prst="roundRect">
            <a:avLst>
              <a:gd name="adj" fmla="val 16667"/>
            </a:avLst>
          </a:prstGeom>
          <a:solidFill>
            <a:srgbClr val="F7F9FC"/>
          </a:solidFill>
          <a:ln w="12700">
            <a:solidFill>
              <a:srgbClr val="E6EBF2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66928" y="4187952"/>
            <a:ext cx="502920" cy="292608"/>
          </a:xfrm>
          <a:prstGeom prst="roundRect">
            <a:avLst>
              <a:gd name="adj" fmla="val 15625"/>
            </a:avLst>
          </a:prstGeom>
          <a:solidFill>
            <a:srgbClr val="0E9F8A"/>
          </a:solidFill>
          <a:ln w="12700">
            <a:solidFill>
              <a:srgbClr val="0E9F8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66928" y="4187952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1234440" y="4114800"/>
            <a:ext cx="7223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 Seal と Muse Video の次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5603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A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30秒で結論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57200" y="512064"/>
            <a:ext cx="384048" cy="45720"/>
          </a:xfrm>
          <a:prstGeom prst="rect">
            <a:avLst/>
          </a:prstGeom>
          <a:solidFill>
            <a:srgbClr val="F06A2A"/>
          </a:solidFill>
          <a:ln w="12700">
            <a:solidFill>
              <a:srgbClr val="F06A2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658368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0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Muse Imageは、Metaが画像生成を外注から内製へ切り替える転換点。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457200" y="1691640"/>
            <a:ext cx="2606040" cy="2148840"/>
          </a:xfrm>
          <a:prstGeom prst="roundRect">
            <a:avLst>
              <a:gd name="adj" fmla="val 4255"/>
            </a:avLst>
          </a:prstGeom>
          <a:solidFill>
            <a:srgbClr val="E8F0FE"/>
          </a:solidFill>
          <a:ln w="12700">
            <a:solidFill>
              <a:srgbClr val="1B6EF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691640"/>
            <a:ext cx="2606040" cy="73152"/>
          </a:xfrm>
          <a:prstGeom prst="rect">
            <a:avLst/>
          </a:prstGeom>
          <a:solidFill>
            <a:srgbClr val="1B6EF3"/>
          </a:solidFill>
          <a:ln w="12700">
            <a:solidFill>
              <a:srgbClr val="1B6EF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21792" y="19659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6E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製品への埋め込み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21792" y="2468880"/>
            <a:ext cx="2286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 AI・IG Stories・WhatsAppに同日展開。ソーシャル文脈を前提にした生成。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200400" y="1691640"/>
            <a:ext cx="2606040" cy="2148840"/>
          </a:xfrm>
          <a:prstGeom prst="roundRect">
            <a:avLst>
              <a:gd name="adj" fmla="val 4255"/>
            </a:avLst>
          </a:prstGeom>
          <a:solidFill>
            <a:srgbClr val="FFF1E8"/>
          </a:solidFill>
          <a:ln w="12700">
            <a:solidFill>
              <a:srgbClr val="F06A2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200400" y="1691640"/>
            <a:ext cx="2606040" cy="73152"/>
          </a:xfrm>
          <a:prstGeom prst="rect">
            <a:avLst/>
          </a:prstGeom>
          <a:solidFill>
            <a:srgbClr val="F06A2A"/>
          </a:solidFill>
          <a:ln w="12700">
            <a:solidFill>
              <a:srgbClr val="F06A2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364992" y="19659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06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エージェント化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3364992" y="2468880"/>
            <a:ext cx="2286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検索・コード実行・自己改善を推論時に回す。BoNより reasoning が効く。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943600" y="1691640"/>
            <a:ext cx="2606040" cy="2148840"/>
          </a:xfrm>
          <a:prstGeom prst="roundRect">
            <a:avLst>
              <a:gd name="adj" fmla="val 4255"/>
            </a:avLst>
          </a:prstGeom>
          <a:solidFill>
            <a:srgbClr val="E6F7F3"/>
          </a:solidFill>
          <a:ln w="12700">
            <a:solidFill>
              <a:srgbClr val="0E9F8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943600" y="1691640"/>
            <a:ext cx="2606040" cy="73152"/>
          </a:xfrm>
          <a:prstGeom prst="rect">
            <a:avLst/>
          </a:prstGeom>
          <a:solidFill>
            <a:srgbClr val="0E9F8A"/>
          </a:solidFill>
          <a:ln w="12700">
            <a:solidFill>
              <a:srgbClr val="0E9F8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108192" y="19659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9F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収益との接続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108192" y="2468880"/>
            <a:ext cx="2286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Advantage+クリエイティブとサブスクで、AI投資を広告・課金に回収。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57200" y="4023360"/>
            <a:ext cx="8229600" cy="777240"/>
          </a:xfrm>
          <a:prstGeom prst="roundRect">
            <a:avLst>
              <a:gd name="adj" fmla="val 11765"/>
            </a:avLst>
          </a:prstGeom>
          <a:solidFill>
            <a:srgbClr val="F0ECFF"/>
          </a:solidFill>
          <a:ln w="12700">
            <a:solidFill>
              <a:srgbClr val="6B4DE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0080" y="4023360"/>
            <a:ext cx="7863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問いが「きれいな画像を出せるか」から「あなたの世界を知ったうえで編集できるか」へ移った。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5603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A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発表の全体像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57200" y="512064"/>
            <a:ext cx="384048" cy="45720"/>
          </a:xfrm>
          <a:prstGeom prst="rect">
            <a:avLst/>
          </a:prstGeom>
          <a:solidFill>
            <a:srgbClr val="F06A2A"/>
          </a:solidFill>
          <a:ln w="12700">
            <a:solidFill>
              <a:srgbClr val="F06A2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658368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0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2026年7月7日、MSL初の画像生成モデルが正式ロールアウト。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457200" y="1600200"/>
            <a:ext cx="8229600" cy="1051560"/>
          </a:xfrm>
          <a:prstGeom prst="roundRect">
            <a:avLst>
              <a:gd name="adj" fmla="val 8696"/>
            </a:avLst>
          </a:prstGeom>
          <a:solidFill>
            <a:srgbClr val="F7F9FC"/>
          </a:solidFill>
          <a:ln w="12700">
            <a:solidFill>
              <a:srgbClr val="E6EBF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234440" y="1755648"/>
            <a:ext cx="201168" cy="201168"/>
          </a:xfrm>
          <a:prstGeom prst="ellipse">
            <a:avLst/>
          </a:prstGeom>
          <a:solidFill>
            <a:srgbClr val="1B6EF3"/>
          </a:solidFill>
          <a:ln w="12700">
            <a:solidFill>
              <a:srgbClr val="1B6EF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63040" y="1828800"/>
            <a:ext cx="1737360" cy="45720"/>
          </a:xfrm>
          <a:prstGeom prst="rect">
            <a:avLst/>
          </a:prstGeom>
          <a:solidFill>
            <a:srgbClr val="E6EBF2"/>
          </a:solidFill>
          <a:ln w="12700">
            <a:solidFill>
              <a:srgbClr val="E6EBF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011680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6E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2026.04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31520" y="221284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Muse Spark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0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 公開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246120" y="1755648"/>
            <a:ext cx="201168" cy="201168"/>
          </a:xfrm>
          <a:prstGeom prst="ellipse">
            <a:avLst/>
          </a:prstGeom>
          <a:solidFill>
            <a:srgbClr val="0E9F8A"/>
          </a:solidFill>
          <a:ln w="12700">
            <a:solidFill>
              <a:srgbClr val="0E9F8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474720" y="1828800"/>
            <a:ext cx="1737360" cy="45720"/>
          </a:xfrm>
          <a:prstGeom prst="rect">
            <a:avLst/>
          </a:prstGeom>
          <a:solidFill>
            <a:srgbClr val="E6EBF2"/>
          </a:solidFill>
          <a:ln w="12700">
            <a:solidFill>
              <a:srgbClr val="E6EBF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743200" y="2011680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E9F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2026.05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2743200" y="221284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 サブスク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0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プラン試験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257800" y="1755648"/>
            <a:ext cx="201168" cy="201168"/>
          </a:xfrm>
          <a:prstGeom prst="ellipse">
            <a:avLst/>
          </a:prstGeom>
          <a:solidFill>
            <a:srgbClr val="F06A2A"/>
          </a:solidFill>
          <a:ln w="12700">
            <a:solidFill>
              <a:srgbClr val="F06A2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0" y="1828800"/>
            <a:ext cx="1737360" cy="45720"/>
          </a:xfrm>
          <a:prstGeom prst="rect">
            <a:avLst/>
          </a:prstGeom>
          <a:solidFill>
            <a:srgbClr val="E6EBF2"/>
          </a:solidFill>
          <a:ln w="12700">
            <a:solidFill>
              <a:srgbClr val="E6EBF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754880" y="2011680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06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2026.07.07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754880" y="221284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Muse Image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0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正式公開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7269480" y="1755648"/>
            <a:ext cx="201168" cy="201168"/>
          </a:xfrm>
          <a:prstGeom prst="ellipse">
            <a:avLst/>
          </a:prstGeom>
          <a:solidFill>
            <a:srgbClr val="6B4DE6"/>
          </a:solidFill>
          <a:ln w="12700">
            <a:solidFill>
              <a:srgbClr val="6B4DE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766560" y="2011680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B4D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近日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766560" y="221284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Muse Video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0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 FB展開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57200" y="2926080"/>
            <a:ext cx="1965960" cy="1691640"/>
          </a:xfrm>
          <a:prstGeom prst="roundRect">
            <a:avLst>
              <a:gd name="adj" fmla="val 5405"/>
            </a:avLst>
          </a:prstGeom>
          <a:solidFill>
            <a:srgbClr val="F7F9FC"/>
          </a:solidFill>
          <a:ln w="12700">
            <a:solidFill>
              <a:srgbClr val="E6EBF2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66928" y="306324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A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旧コードネーム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66928" y="3429000"/>
            <a:ext cx="1737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Mango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560320" y="2926080"/>
            <a:ext cx="1965960" cy="1691640"/>
          </a:xfrm>
          <a:prstGeom prst="roundRect">
            <a:avLst>
              <a:gd name="adj" fmla="val 5405"/>
            </a:avLst>
          </a:prstGeom>
          <a:solidFill>
            <a:srgbClr val="F7F9FC"/>
          </a:solidFill>
          <a:ln w="12700">
            <a:solidFill>
              <a:srgbClr val="E6EBF2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70048" y="306324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A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開発主体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2670048" y="3429000"/>
            <a:ext cx="1737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 Superintelligence Labs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0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(Alexandr Wang 主導)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2926080"/>
            <a:ext cx="1965960" cy="1691640"/>
          </a:xfrm>
          <a:prstGeom prst="roundRect">
            <a:avLst>
              <a:gd name="adj" fmla="val 5405"/>
            </a:avLst>
          </a:prstGeom>
          <a:solidFill>
            <a:srgbClr val="F7F9FC"/>
          </a:solidFill>
          <a:ln w="12700">
            <a:solidFill>
              <a:srgbClr val="E6EBF2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773168" y="306324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A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前世代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4773168" y="3429000"/>
            <a:ext cx="1737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Midjourney / Black Forest Labs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0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など外部モデル依存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6766560" y="2926080"/>
            <a:ext cx="1965960" cy="1691640"/>
          </a:xfrm>
          <a:prstGeom prst="roundRect">
            <a:avLst>
              <a:gd name="adj" fmla="val 5405"/>
            </a:avLst>
          </a:prstGeom>
          <a:solidFill>
            <a:srgbClr val="F7F9FC"/>
          </a:solidFill>
          <a:ln w="12700">
            <a:solidFill>
              <a:srgbClr val="E6EBF2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876288" y="306324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A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位置づけ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6876288" y="3429000"/>
            <a:ext cx="1737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Muse Spark に続く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0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MSL第2弾の大型リリース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5603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A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アーキテクチャ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57200" y="512064"/>
            <a:ext cx="384048" cy="45720"/>
          </a:xfrm>
          <a:prstGeom prst="rect">
            <a:avLst/>
          </a:prstGeom>
          <a:solidFill>
            <a:srgbClr val="F06A2A"/>
          </a:solidFill>
          <a:ln w="12700">
            <a:solidFill>
              <a:srgbClr val="F06A2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658368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0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プロンプト→画像の直結ではなく、エージェントとして動く。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411480" y="1691640"/>
            <a:ext cx="2011680" cy="2286000"/>
          </a:xfrm>
          <a:prstGeom prst="roundRect">
            <a:avLst>
              <a:gd name="adj" fmla="val 4545"/>
            </a:avLst>
          </a:prstGeom>
          <a:solidFill>
            <a:srgbClr val="F7F9FC"/>
          </a:solidFill>
          <a:ln w="12700">
            <a:solidFill>
              <a:srgbClr val="1B6EF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43000" y="1920240"/>
            <a:ext cx="502920" cy="502920"/>
          </a:xfrm>
          <a:prstGeom prst="ellipse">
            <a:avLst/>
          </a:prstGeom>
          <a:solidFill>
            <a:srgbClr val="1B6EF3"/>
          </a:solidFill>
          <a:ln w="12700">
            <a:solidFill>
              <a:srgbClr val="1B6EF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43000" y="19202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521208" y="260604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6E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521208" y="3063240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Muse Spark と連携し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0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構成・意図を分解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2286000" y="2606040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5A6A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2606040" y="1691640"/>
            <a:ext cx="2011680" cy="2286000"/>
          </a:xfrm>
          <a:prstGeom prst="roundRect">
            <a:avLst>
              <a:gd name="adj" fmla="val 4545"/>
            </a:avLst>
          </a:prstGeom>
          <a:solidFill>
            <a:srgbClr val="F7F9FC"/>
          </a:solidFill>
          <a:ln w="12700">
            <a:solidFill>
              <a:srgbClr val="0E9F8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337560" y="1920240"/>
            <a:ext cx="502920" cy="502920"/>
          </a:xfrm>
          <a:prstGeom prst="ellipse">
            <a:avLst/>
          </a:prstGeom>
          <a:solidFill>
            <a:srgbClr val="0E9F8A"/>
          </a:solidFill>
          <a:ln w="12700">
            <a:solidFill>
              <a:srgbClr val="0E9F8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337560" y="19202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2715768" y="260604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E9F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 Use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2715768" y="3063240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検索 / コード実行で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0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事実と精度を補強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480560" y="2606040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5A6A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4800600" y="1691640"/>
            <a:ext cx="2011680" cy="2286000"/>
          </a:xfrm>
          <a:prstGeom prst="roundRect">
            <a:avLst>
              <a:gd name="adj" fmla="val 4545"/>
            </a:avLst>
          </a:prstGeom>
          <a:solidFill>
            <a:srgbClr val="F7F9FC"/>
          </a:solidFill>
          <a:ln w="12700">
            <a:solidFill>
              <a:srgbClr val="F06A2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532120" y="1920240"/>
            <a:ext cx="502920" cy="502920"/>
          </a:xfrm>
          <a:prstGeom prst="ellipse">
            <a:avLst/>
          </a:prstGeom>
          <a:solidFill>
            <a:srgbClr val="F06A2A"/>
          </a:solidFill>
          <a:ln w="12700">
            <a:solidFill>
              <a:srgbClr val="F06A2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532120" y="19202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4910328" y="260604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06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Generate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4910328" y="3063240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複数参照を合成し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0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画像を生成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675120" y="2606040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5A6A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6995160" y="1691640"/>
            <a:ext cx="2011680" cy="2286000"/>
          </a:xfrm>
          <a:prstGeom prst="roundRect">
            <a:avLst>
              <a:gd name="adj" fmla="val 4545"/>
            </a:avLst>
          </a:prstGeom>
          <a:solidFill>
            <a:srgbClr val="F7F9FC"/>
          </a:solidFill>
          <a:ln w="12700">
            <a:solidFill>
              <a:srgbClr val="6B4DE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726680" y="1920240"/>
            <a:ext cx="502920" cy="502920"/>
          </a:xfrm>
          <a:prstGeom prst="ellipse">
            <a:avLst/>
          </a:prstGeom>
          <a:solidFill>
            <a:srgbClr val="6B4DE6"/>
          </a:solidFill>
          <a:ln w="12700">
            <a:solidFill>
              <a:srgbClr val="6B4DE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26680" y="19202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7104888" y="260604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B4D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Self-Refine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7104888" y="3063240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自己評価→局所編集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0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または再生成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457200" y="425196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A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RL で自己改善行動が創発。Test-time compute を増やすほど Elo が log-linear に改善。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5603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A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 Use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57200" y="512064"/>
            <a:ext cx="384048" cy="45720"/>
          </a:xfrm>
          <a:prstGeom prst="rect">
            <a:avLst/>
          </a:prstGeom>
          <a:solidFill>
            <a:srgbClr val="F06A2A"/>
          </a:solidFill>
          <a:ln w="12700">
            <a:solidFill>
              <a:srgbClr val="F06A2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658368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0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コードと検索で、「知らないこと」と「精密さ」を埋める。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457200" y="1645920"/>
            <a:ext cx="4023360" cy="3017520"/>
          </a:xfrm>
          <a:prstGeom prst="roundRect">
            <a:avLst>
              <a:gd name="adj" fmla="val 3030"/>
            </a:avLst>
          </a:prstGeom>
          <a:solidFill>
            <a:srgbClr val="E8F0FE"/>
          </a:solidFill>
          <a:ln w="12700">
            <a:solidFill>
              <a:srgbClr val="1B6EF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187452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6E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Coding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85800" y="2377440"/>
            <a:ext cx="35661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0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正確なプロット・QRコード生成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0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レンダ結果を条件に再生成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0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Muse Spark 連携で GIF / サイト /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0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インタラクティブな視覚ゲーム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663440" y="1645920"/>
            <a:ext cx="4023360" cy="3017520"/>
          </a:xfrm>
          <a:prstGeom prst="roundRect">
            <a:avLst>
              <a:gd name="adj" fmla="val 3030"/>
            </a:avLst>
          </a:prstGeom>
          <a:solidFill>
            <a:srgbClr val="E6F7F3"/>
          </a:solidFill>
          <a:ln w="12700">
            <a:solidFill>
              <a:srgbClr val="0E9F8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892040" y="187452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9F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Search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4892040" y="2377440"/>
            <a:ext cx="35661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0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リアルタイムの事実・参照画像を取得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0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時事・実世界知識のプロンプトで精度向上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0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内部 ablation で win rate 改善を確認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0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「知っている範囲」を超えた生成へ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5603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A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品質のスケーリング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57200" y="512064"/>
            <a:ext cx="384048" cy="45720"/>
          </a:xfrm>
          <a:prstGeom prst="rect">
            <a:avLst/>
          </a:prstGeom>
          <a:solidFill>
            <a:srgbClr val="F06A2A"/>
          </a:solidFill>
          <a:ln w="12700">
            <a:solidFill>
              <a:srgbClr val="F06A2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658368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0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考えさせるほど良くなる。BoN より reasoning が勝つ。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457200" y="1645920"/>
            <a:ext cx="8229600" cy="841248"/>
          </a:xfrm>
          <a:prstGeom prst="roundRect">
            <a:avLst>
              <a:gd name="adj" fmla="val 10870"/>
            </a:avLst>
          </a:prstGeom>
          <a:solidFill>
            <a:srgbClr val="F7F9FC"/>
          </a:solidFill>
          <a:ln w="12700">
            <a:solidFill>
              <a:srgbClr val="F06A2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645920"/>
            <a:ext cx="109728" cy="841248"/>
          </a:xfrm>
          <a:prstGeom prst="rect">
            <a:avLst/>
          </a:prstGeom>
          <a:solidFill>
            <a:srgbClr val="F06A2A"/>
          </a:solidFill>
          <a:ln w="12700">
            <a:solidFill>
              <a:srgbClr val="F06A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7240" y="1755648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06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Self-Refinement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77240" y="2057400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局所編集 / 全再生成 / 別ツール切替を CoT 内で選択。設計ではなく RL 報酬から創発。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2606040"/>
            <a:ext cx="8229600" cy="841248"/>
          </a:xfrm>
          <a:prstGeom prst="roundRect">
            <a:avLst>
              <a:gd name="adj" fmla="val 10870"/>
            </a:avLst>
          </a:prstGeom>
          <a:solidFill>
            <a:srgbClr val="F7F9FC"/>
          </a:solidFill>
          <a:ln w="12700">
            <a:solidFill>
              <a:srgbClr val="1B6E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57200" y="2606040"/>
            <a:ext cx="109728" cy="841248"/>
          </a:xfrm>
          <a:prstGeom prst="rect">
            <a:avLst/>
          </a:prstGeom>
          <a:solidFill>
            <a:srgbClr val="1B6EF3"/>
          </a:solidFill>
          <a:ln w="12700">
            <a:solidFill>
              <a:srgbClr val="1B6EF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7240" y="2715768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6E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Test-Time Compute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777240" y="3017520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推論強度↑で tool call と refine が増え、人間嗜好 Elo が log-linear に改善。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57200" y="3566160"/>
            <a:ext cx="8229600" cy="841248"/>
          </a:xfrm>
          <a:prstGeom prst="roundRect">
            <a:avLst>
              <a:gd name="adj" fmla="val 10870"/>
            </a:avLst>
          </a:prstGeom>
          <a:solidFill>
            <a:srgbClr val="F7F9FC"/>
          </a:solidFill>
          <a:ln w="12700">
            <a:solidFill>
              <a:srgbClr val="6B4DE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57200" y="3566160"/>
            <a:ext cx="109728" cy="841248"/>
          </a:xfrm>
          <a:prstGeom prst="rect">
            <a:avLst/>
          </a:prstGeom>
          <a:solidFill>
            <a:srgbClr val="6B4DE6"/>
          </a:solidFill>
          <a:ln w="12700">
            <a:solidFill>
              <a:srgbClr val="6B4DE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77240" y="3675888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B4D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Reasoning &gt; Best-of-N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777240" y="3977640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複数枚出して選ぶ BoN は早期飽和。同じ計算予算を意図的推論に使う方が効く。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5603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A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製品への展開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57200" y="512064"/>
            <a:ext cx="384048" cy="45720"/>
          </a:xfrm>
          <a:prstGeom prst="rect">
            <a:avLst/>
          </a:prstGeom>
          <a:solidFill>
            <a:srgbClr val="F06A2A"/>
          </a:solidFill>
          <a:ln w="12700">
            <a:solidFill>
              <a:srgbClr val="F06A2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658368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0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生成は「別アプリ」ではなく、既にいる場所に埋め込まれる。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411480" y="1691640"/>
            <a:ext cx="2011680" cy="2468880"/>
          </a:xfrm>
          <a:prstGeom prst="roundRect">
            <a:avLst>
              <a:gd name="adj" fmla="val 4545"/>
            </a:avLst>
          </a:prstGeom>
          <a:solidFill>
            <a:srgbClr val="F7F9FC"/>
          </a:solidFill>
          <a:ln w="12700">
            <a:solidFill>
              <a:srgbClr val="1B6EF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965960"/>
            <a:ext cx="1371600" cy="411480"/>
          </a:xfrm>
          <a:prstGeom prst="roundRect">
            <a:avLst>
              <a:gd name="adj" fmla="val 17778"/>
            </a:avLst>
          </a:prstGeom>
          <a:solidFill>
            <a:srgbClr val="1B6EF3"/>
          </a:solidFill>
          <a:ln w="12700">
            <a:solidFill>
              <a:srgbClr val="1B6EF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196596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 AI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48640" y="2651760"/>
            <a:ext cx="1737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アプリ / meta.ai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0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無料利用＋サブスク上限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2606040" y="1691640"/>
            <a:ext cx="2011680" cy="2468880"/>
          </a:xfrm>
          <a:prstGeom prst="roundRect">
            <a:avLst>
              <a:gd name="adj" fmla="val 4545"/>
            </a:avLst>
          </a:prstGeom>
          <a:solidFill>
            <a:srgbClr val="F7F9FC"/>
          </a:solidFill>
          <a:ln w="12700">
            <a:solidFill>
              <a:srgbClr val="F06A2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926080" y="1965960"/>
            <a:ext cx="1371600" cy="411480"/>
          </a:xfrm>
          <a:prstGeom prst="roundRect">
            <a:avLst>
              <a:gd name="adj" fmla="val 17778"/>
            </a:avLst>
          </a:prstGeom>
          <a:solidFill>
            <a:srgbClr val="F06A2A"/>
          </a:solidFill>
          <a:ln w="12700">
            <a:solidFill>
              <a:srgbClr val="F06A2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926080" y="196596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Instagram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743200" y="2651760"/>
            <a:ext cx="1737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Stories に30+の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0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新AIエフェクト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800600" y="1691640"/>
            <a:ext cx="2011680" cy="2468880"/>
          </a:xfrm>
          <a:prstGeom prst="roundRect">
            <a:avLst>
              <a:gd name="adj" fmla="val 4545"/>
            </a:avLst>
          </a:prstGeom>
          <a:solidFill>
            <a:srgbClr val="F7F9FC"/>
          </a:solidFill>
          <a:ln w="12700">
            <a:solidFill>
              <a:srgbClr val="0E9F8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120640" y="1965960"/>
            <a:ext cx="1371600" cy="411480"/>
          </a:xfrm>
          <a:prstGeom prst="roundRect">
            <a:avLst>
              <a:gd name="adj" fmla="val 17778"/>
            </a:avLst>
          </a:prstGeom>
          <a:solidFill>
            <a:srgbClr val="0E9F8A"/>
          </a:solidFill>
          <a:ln w="12700">
            <a:solidFill>
              <a:srgbClr val="0E9F8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120640" y="196596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WhatsApp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937760" y="2651760"/>
            <a:ext cx="1737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 AI 直チャットで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0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画像生成（限定国）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995160" y="1691640"/>
            <a:ext cx="2011680" cy="2468880"/>
          </a:xfrm>
          <a:prstGeom prst="roundRect">
            <a:avLst>
              <a:gd name="adj" fmla="val 4545"/>
            </a:avLst>
          </a:prstGeom>
          <a:solidFill>
            <a:srgbClr val="F7F9FC"/>
          </a:solidFill>
          <a:ln w="12700">
            <a:solidFill>
              <a:srgbClr val="6B4DE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315200" y="1965960"/>
            <a:ext cx="1371600" cy="411480"/>
          </a:xfrm>
          <a:prstGeom prst="roundRect">
            <a:avLst>
              <a:gd name="adj" fmla="val 17778"/>
            </a:avLst>
          </a:prstGeom>
          <a:solidFill>
            <a:srgbClr val="6B4DE6"/>
          </a:solidFill>
          <a:ln w="12700">
            <a:solidFill>
              <a:srgbClr val="6B4DE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315200" y="196596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Coming soon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7132320" y="2651760"/>
            <a:ext cx="1737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Facebook / Messenger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0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追加サーフェス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5603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A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ソーシャル文脈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57200" y="512064"/>
            <a:ext cx="384048" cy="45720"/>
          </a:xfrm>
          <a:prstGeom prst="rect">
            <a:avLst/>
          </a:prstGeom>
          <a:solidFill>
            <a:srgbClr val="F06A2A"/>
          </a:solidFill>
          <a:ln w="12700">
            <a:solidFill>
              <a:srgbClr val="F06A2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658368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0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「あなたの世界を知る」—— Metaならではの画像生成。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457200" y="1645920"/>
            <a:ext cx="4023360" cy="1280160"/>
          </a:xfrm>
          <a:prstGeom prst="roundRect">
            <a:avLst>
              <a:gd name="adj" fmla="val 7143"/>
            </a:avLst>
          </a:prstGeom>
          <a:solidFill>
            <a:srgbClr val="F7F9FC"/>
          </a:solidFill>
          <a:ln w="12700">
            <a:solidFill>
              <a:srgbClr val="1B6EF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182880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6E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@メンション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85800" y="214884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公開 Instagram アカウントをプロンプトに取り込み、共同クリエイティブや招待状を生成。オプトアウト設定あり。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754880" y="1645920"/>
            <a:ext cx="4023360" cy="1280160"/>
          </a:xfrm>
          <a:prstGeom prst="roundRect">
            <a:avLst>
              <a:gd name="adj" fmla="val 7143"/>
            </a:avLst>
          </a:prstGeom>
          <a:solidFill>
            <a:srgbClr val="F7F9FC"/>
          </a:solidFill>
          <a:ln w="12700">
            <a:solidFill>
              <a:srgbClr val="F06A2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983480" y="182880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06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プリセット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983480" y="214884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古い写真の復元、ヘアスタイル試着、クレイメーション化、16-bit ゲーム風などワンタップ提案。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200" y="3108960"/>
            <a:ext cx="4023360" cy="1280160"/>
          </a:xfrm>
          <a:prstGeom prst="roundRect">
            <a:avLst>
              <a:gd name="adj" fmla="val 7143"/>
            </a:avLst>
          </a:prstGeom>
          <a:solidFill>
            <a:srgbClr val="F7F9FC"/>
          </a:solidFill>
          <a:ln w="12700">
            <a:solidFill>
              <a:srgbClr val="0E9F8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85800" y="329184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9F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マークアップ編集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85800" y="361188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生成画像上に円・スケッチで指示。会話文脈を保持したまま反復編集。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754880" y="3108960"/>
            <a:ext cx="4023360" cy="1280160"/>
          </a:xfrm>
          <a:prstGeom prst="roundRect">
            <a:avLst>
              <a:gd name="adj" fmla="val 7143"/>
            </a:avLst>
          </a:prstGeom>
          <a:solidFill>
            <a:srgbClr val="F7F9FC"/>
          </a:solidFill>
          <a:ln w="12700">
            <a:solidFill>
              <a:srgbClr val="6B4DE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983480" y="329184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B4D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部屋リスタイル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4983480" y="361188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実空間写真を Meta AI Shopping 経由で商品カタログ付きに再構成。発見→購入の動線。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5603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A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ベンチマーク（Arena, 2026-07-05時点）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57200" y="512064"/>
            <a:ext cx="384048" cy="45720"/>
          </a:xfrm>
          <a:prstGeom prst="rect">
            <a:avLst/>
          </a:prstGeom>
          <a:solidFill>
            <a:srgbClr val="F06A2A"/>
          </a:solidFill>
          <a:ln w="12700">
            <a:solidFill>
              <a:srgbClr val="F06A2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658368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0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人間嗜好 Elo で Text/Edit 3部門とも No.2。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457200" y="1691640"/>
            <a:ext cx="2651760" cy="1828800"/>
          </a:xfrm>
          <a:prstGeom prst="roundRect">
            <a:avLst>
              <a:gd name="adj" fmla="val 5000"/>
            </a:avLst>
          </a:prstGeom>
          <a:solidFill>
            <a:srgbClr val="F7F9FC"/>
          </a:solidFill>
          <a:ln w="12700">
            <a:solidFill>
              <a:srgbClr val="1B6EF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187452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A6A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Text-to-Image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94360" y="224028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1B6E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#2</a:t>
            </a:r>
            <a:endParaRPr lang="en-US" sz="4200" dirty="0"/>
          </a:p>
        </p:txBody>
      </p:sp>
      <p:sp>
        <p:nvSpPr>
          <p:cNvPr id="9" name="Text 7"/>
          <p:cNvSpPr/>
          <p:nvPr/>
        </p:nvSpPr>
        <p:spPr>
          <a:xfrm>
            <a:off x="594360" y="29718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人間嗜好 Elo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291840" y="1691640"/>
            <a:ext cx="2651760" cy="1828800"/>
          </a:xfrm>
          <a:prstGeom prst="roundRect">
            <a:avLst>
              <a:gd name="adj" fmla="val 5000"/>
            </a:avLst>
          </a:prstGeom>
          <a:solidFill>
            <a:srgbClr val="F7F9FC"/>
          </a:solidFill>
          <a:ln w="12700">
            <a:solidFill>
              <a:srgbClr val="1B6EF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429000" y="187452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A6A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Single-Image Edit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3429000" y="224028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1B6E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#2</a:t>
            </a:r>
            <a:endParaRPr lang="en-US" sz="4200" dirty="0"/>
          </a:p>
        </p:txBody>
      </p:sp>
      <p:sp>
        <p:nvSpPr>
          <p:cNvPr id="13" name="Text 11"/>
          <p:cNvSpPr/>
          <p:nvPr/>
        </p:nvSpPr>
        <p:spPr>
          <a:xfrm>
            <a:off x="3429000" y="29718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精密編集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126480" y="1691640"/>
            <a:ext cx="2651760" cy="1828800"/>
          </a:xfrm>
          <a:prstGeom prst="roundRect">
            <a:avLst>
              <a:gd name="adj" fmla="val 5000"/>
            </a:avLst>
          </a:prstGeom>
          <a:solidFill>
            <a:srgbClr val="F7F9FC"/>
          </a:solidFill>
          <a:ln w="12700">
            <a:solidFill>
              <a:srgbClr val="1B6EF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63640" y="187452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A6A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Multi-Image Edit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263640" y="224028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1B6E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#2</a:t>
            </a:r>
            <a:endParaRPr lang="en-US" sz="4200" dirty="0"/>
          </a:p>
        </p:txBody>
      </p:sp>
      <p:sp>
        <p:nvSpPr>
          <p:cNvPr id="17" name="Text 15"/>
          <p:cNvSpPr/>
          <p:nvPr/>
        </p:nvSpPr>
        <p:spPr>
          <a:xfrm>
            <a:off x="6263640" y="29718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複数参照合成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57200" y="3794760"/>
            <a:ext cx="8229600" cy="960120"/>
          </a:xfrm>
          <a:prstGeom prst="roundRect">
            <a:avLst>
              <a:gd name="adj" fmla="val 9524"/>
            </a:avLst>
          </a:prstGeom>
          <a:solidFill>
            <a:srgbClr val="FFF1E8"/>
          </a:solidFill>
          <a:ln w="12700">
            <a:solidFill>
              <a:srgbClr val="F06A2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0080" y="3886200"/>
            <a:ext cx="7863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社内比較では GPT Image 2 に次ぎ、Google Nano Banana 2 を編集タスクで上回る。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外部依存（Midjourney / BFL）を減らし、品質とコストの両面で内製優位を取りにいく。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5603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A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ビジネスインパクト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57200" y="512064"/>
            <a:ext cx="384048" cy="45720"/>
          </a:xfrm>
          <a:prstGeom prst="rect">
            <a:avLst/>
          </a:prstGeom>
          <a:solidFill>
            <a:srgbClr val="F06A2A"/>
          </a:solidFill>
          <a:ln w="12700">
            <a:solidFill>
              <a:srgbClr val="F06A2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658368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0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8M+ 広告主の gen AI クリエイティブが Muse 世代へ。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457200" y="1600200"/>
            <a:ext cx="8229600" cy="685800"/>
          </a:xfrm>
          <a:prstGeom prst="roundRect">
            <a:avLst>
              <a:gd name="adj" fmla="val 13333"/>
            </a:avLst>
          </a:prstGeom>
          <a:solidFill>
            <a:srgbClr val="F7F9FC"/>
          </a:solidFill>
          <a:ln w="12700">
            <a:solidFill>
              <a:srgbClr val="1B6EF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600200"/>
            <a:ext cx="91440" cy="685800"/>
          </a:xfrm>
          <a:prstGeom prst="rect">
            <a:avLst/>
          </a:prstGeom>
          <a:solidFill>
            <a:srgbClr val="1B6EF3"/>
          </a:solidFill>
          <a:ln w="12700">
            <a:solidFill>
              <a:srgbClr val="1B6EF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7240" y="1673352"/>
            <a:ext cx="7680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6E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Advantage+ creative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77240" y="1929384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背景差し替え・ライフスタイル変種・動画→静止画。Muse の reasoning でブランド整合のバリエーションを少反復で生成。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2377440"/>
            <a:ext cx="8229600" cy="685800"/>
          </a:xfrm>
          <a:prstGeom prst="roundRect">
            <a:avLst>
              <a:gd name="adj" fmla="val 13333"/>
            </a:avLst>
          </a:prstGeom>
          <a:solidFill>
            <a:srgbClr val="F7F9FC"/>
          </a:solidFill>
          <a:ln w="12700">
            <a:solidFill>
              <a:srgbClr val="F06A2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57200" y="2377440"/>
            <a:ext cx="91440" cy="685800"/>
          </a:xfrm>
          <a:prstGeom prst="rect">
            <a:avLst/>
          </a:prstGeom>
          <a:solidFill>
            <a:srgbClr val="F06A2A"/>
          </a:solidFill>
          <a:ln w="12700">
            <a:solidFill>
              <a:srgbClr val="F06A2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7240" y="2450592"/>
            <a:ext cx="7680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06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広告主フィードバック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777240" y="2706624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フォトリアリズム、製品ディテール保持、ブランド一貫性が評価。Origin USA / AG1 / AS Beauty / Tinuiti 等が初期検証。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57200" y="3154680"/>
            <a:ext cx="8229600" cy="685800"/>
          </a:xfrm>
          <a:prstGeom prst="roundRect">
            <a:avLst>
              <a:gd name="adj" fmla="val 13333"/>
            </a:avLst>
          </a:prstGeom>
          <a:solidFill>
            <a:srgbClr val="F7F9FC"/>
          </a:solidFill>
          <a:ln w="12700">
            <a:solidFill>
              <a:srgbClr val="0E9F8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57200" y="3154680"/>
            <a:ext cx="91440" cy="685800"/>
          </a:xfrm>
          <a:prstGeom prst="rect">
            <a:avLst/>
          </a:prstGeom>
          <a:solidFill>
            <a:srgbClr val="0E9F8A"/>
          </a:solidFill>
          <a:ln w="12700">
            <a:solidFill>
              <a:srgbClr val="0E9F8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77240" y="3227832"/>
            <a:ext cx="7680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9F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Room Restyle × Shopping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777240" y="3483864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ユーザー空間にカタログ商品を配置し、発見から購入へ。カタログ品質が競争優位になる。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57200" y="3931920"/>
            <a:ext cx="8229600" cy="685800"/>
          </a:xfrm>
          <a:prstGeom prst="roundRect">
            <a:avLst>
              <a:gd name="adj" fmla="val 13333"/>
            </a:avLst>
          </a:prstGeom>
          <a:solidFill>
            <a:srgbClr val="F7F9FC"/>
          </a:solidFill>
          <a:ln w="12700">
            <a:solidFill>
              <a:srgbClr val="6B4DE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57200" y="3931920"/>
            <a:ext cx="91440" cy="685800"/>
          </a:xfrm>
          <a:prstGeom prst="rect">
            <a:avLst/>
          </a:prstGeom>
          <a:solidFill>
            <a:srgbClr val="6B4DE6"/>
          </a:solidFill>
          <a:ln w="12700">
            <a:solidFill>
              <a:srgbClr val="6B4DE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77240" y="4005072"/>
            <a:ext cx="7680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B4D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収益モデル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777240" y="4261104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日常利用は無料。大量生成・上級機能は Meta サブスク（Meta One 等）。AI投資を広告＋課金で回収。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5603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A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信頼と次の一手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57200" y="512064"/>
            <a:ext cx="384048" cy="45720"/>
          </a:xfrm>
          <a:prstGeom prst="rect">
            <a:avLst/>
          </a:prstGeom>
          <a:solidFill>
            <a:srgbClr val="F06A2A"/>
          </a:solidFill>
          <a:ln w="12700">
            <a:solidFill>
              <a:srgbClr val="F06A2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658368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0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 Seal で出自を残し、Muse Video で動画へ拡張。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457200" y="1645920"/>
            <a:ext cx="4023360" cy="2971800"/>
          </a:xfrm>
          <a:prstGeom prst="roundRect">
            <a:avLst>
              <a:gd name="adj" fmla="val 3077"/>
            </a:avLst>
          </a:prstGeom>
          <a:solidFill>
            <a:srgbClr val="F0ECFF"/>
          </a:solidFill>
          <a:ln w="12700">
            <a:solidFill>
              <a:srgbClr val="6B4D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187452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B4D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 Seal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85800" y="2377440"/>
            <a:ext cx="35661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不可視ウォーターマーク。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0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クロップ・圧縮・リサイズ・スクショ後も残存。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0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meta.ai/identification で検出プレビュー。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0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動画への拡張も計画中。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663440" y="1645920"/>
            <a:ext cx="4023360" cy="2971800"/>
          </a:xfrm>
          <a:prstGeom prst="roundRect">
            <a:avLst>
              <a:gd name="adj" fmla="val 3077"/>
            </a:avLst>
          </a:prstGeom>
          <a:solidFill>
            <a:srgbClr val="E8F0FE"/>
          </a:solidFill>
          <a:ln w="12700">
            <a:solidFill>
              <a:srgbClr val="1B6EF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892040" y="187452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6E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Muse Video（Preview）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4892040" y="2377440"/>
            <a:ext cx="35661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同一 pretrain 基盤。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0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プロンプト忠実度・画質・時間一貫性。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0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Arena text-to-video で No.3。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0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音同期・高速動作は改善中。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0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クリエイター / Meta AI に近日提供予定。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5603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A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まとめ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57200" y="512064"/>
            <a:ext cx="384048" cy="45720"/>
          </a:xfrm>
          <a:prstGeom prst="rect">
            <a:avLst/>
          </a:prstGeom>
          <a:solidFill>
            <a:srgbClr val="F06A2A"/>
          </a:solidFill>
          <a:ln w="12700">
            <a:solidFill>
              <a:srgbClr val="F06A2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658368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0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Muse Imageが示す5つの示唆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457200" y="1554480"/>
            <a:ext cx="640080" cy="502920"/>
          </a:xfrm>
          <a:prstGeom prst="roundRect">
            <a:avLst>
              <a:gd name="adj" fmla="val 14545"/>
            </a:avLst>
          </a:prstGeom>
          <a:solidFill>
            <a:srgbClr val="1B6EF3"/>
          </a:solidFill>
          <a:ln w="12700">
            <a:solidFill>
              <a:srgbClr val="1B6EF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554480"/>
            <a:ext cx="640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280160" y="155448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内製回帰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3291840" y="1554480"/>
            <a:ext cx="5303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A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外部モデル依存を減らし、品質・コスト・安全を自社で握る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2194560"/>
            <a:ext cx="640080" cy="502920"/>
          </a:xfrm>
          <a:prstGeom prst="roundRect">
            <a:avLst>
              <a:gd name="adj" fmla="val 14545"/>
            </a:avLst>
          </a:prstGeom>
          <a:solidFill>
            <a:srgbClr val="F06A2A"/>
          </a:solidFill>
          <a:ln w="12700">
            <a:solidFill>
              <a:srgbClr val="F06A2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2194560"/>
            <a:ext cx="640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280160" y="219456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エージェント画像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3291840" y="2194560"/>
            <a:ext cx="5303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A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生成はツール呼び出しと自己改善を含む推論プロセス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57200" y="2834640"/>
            <a:ext cx="640080" cy="502920"/>
          </a:xfrm>
          <a:prstGeom prst="roundRect">
            <a:avLst>
              <a:gd name="adj" fmla="val 14545"/>
            </a:avLst>
          </a:prstGeom>
          <a:solidFill>
            <a:srgbClr val="1B6EF3"/>
          </a:solidFill>
          <a:ln w="12700">
            <a:solidFill>
              <a:srgbClr val="1B6EF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2834640"/>
            <a:ext cx="640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280160" y="283464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文脈が差別化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3291840" y="2834640"/>
            <a:ext cx="5303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A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Instagram 文脈・@メンションが汎用モデルとの差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57200" y="3474720"/>
            <a:ext cx="640080" cy="502920"/>
          </a:xfrm>
          <a:prstGeom prst="roundRect">
            <a:avLst>
              <a:gd name="adj" fmla="val 14545"/>
            </a:avLst>
          </a:prstGeom>
          <a:solidFill>
            <a:srgbClr val="F06A2A"/>
          </a:solidFill>
          <a:ln w="12700">
            <a:solidFill>
              <a:srgbClr val="F06A2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3474720"/>
            <a:ext cx="640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280160" y="347472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広告が本丸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3291840" y="3474720"/>
            <a:ext cx="5303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A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Advantage+ と Shopping が AI 投資回収の主戦場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457200" y="4114800"/>
            <a:ext cx="640080" cy="502920"/>
          </a:xfrm>
          <a:prstGeom prst="roundRect">
            <a:avLst>
              <a:gd name="adj" fmla="val 14545"/>
            </a:avLst>
          </a:prstGeom>
          <a:solidFill>
            <a:srgbClr val="1B6EF3"/>
          </a:solidFill>
          <a:ln w="12700">
            <a:solidFill>
              <a:srgbClr val="1B6EF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57200" y="4114800"/>
            <a:ext cx="640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1280160" y="41148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出自の可視化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3291840" y="4114800"/>
            <a:ext cx="5303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A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 Seal は信頼インフラの必須レイヤになる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A1628"/>
          </a:solidFill>
          <a:ln w="12700">
            <a:solidFill>
              <a:srgbClr val="0A162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F06A2A"/>
          </a:solidFill>
          <a:ln w="12700">
            <a:solidFill>
              <a:srgbClr val="F06A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100584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A3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02920" y="1554480"/>
            <a:ext cx="8046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きれいな画像を出す時代から、</a:t>
            </a:r>
            <a:endParaRPr lang="en-US" sz="2800" dirty="0"/>
          </a:p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文脈を知って編集する時代へ。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502920" y="3108960"/>
            <a:ext cx="7772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5D4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Muse Imageは Meta の「personal superintelligence」戦略における、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C5D4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最初の本格的なメディア生成レイヤである。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02920" y="443484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A7F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Intelligence Hub  ·  2026-07-09  ·  Sources: about.fb.com / ai.meta.com / CNBC / Reuters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Meta Muse Image 正式ロールアウト</dc:title>
  <dc:subject>2026-07-09 day slide</dc:subject>
  <dc:creator>AI Intelligence Hub</dc:creator>
  <cp:lastModifiedBy>AI Intelligence Hub</cp:lastModifiedBy>
  <cp:revision>1</cp:revision>
  <dcterms:created xsi:type="dcterms:W3CDTF">2026-07-08T23:05:50Z</dcterms:created>
  <dcterms:modified xsi:type="dcterms:W3CDTF">2026-07-08T23:05:50Z</dcterms:modified>
</cp:coreProperties>
</file>